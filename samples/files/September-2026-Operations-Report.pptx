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14C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14C5A"/>
                </a:solidFill>
                <a:latin typeface="Calibri"/>
              </a:rPr>
              <a:t>Orders fulfilled per month, 2026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fulfilled</c:v>
                </c:pt>
              </c:strCache>
            </c:strRef>
          </c:tx>
          <c:spPr>
            <a:solidFill>
              <a:srgbClr val="5BB5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14C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4120</c:v>
                </c:pt>
                <c:pt idx="1">
                  <c:v>4305</c:v>
                </c:pt>
                <c:pt idx="2">
                  <c:v>4190</c:v>
                </c:pt>
                <c:pt idx="3">
                  <c:v>4466</c:v>
                </c:pt>
                <c:pt idx="4">
                  <c:v>4523</c:v>
                </c:pt>
                <c:pt idx="5">
                  <c:v>4812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14C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1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  <c:min val="0"/>
        </c:scaling>
        <c:delete val="0"/>
        <c:axPos val="l"/>
        <c:majorGridlines>
          <c:spPr>
            <a:ln w="6350" cap="flat">
              <a:solidFill>
                <a:srgbClr val="EEF2F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1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14C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14C5A"/>
                </a:solidFill>
                <a:latin typeface="Calibri"/>
              </a:rPr>
              <a:t>Share of September orders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orders</c:v>
                </c:pt>
              </c:strCache>
            </c:strRef>
          </c:tx>
          <c:spPr>
            <a:solidFill>
              <a:srgbClr val="5BB5E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14C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Metro Manila</c:v>
                  </c:pt>
                  <c:pt idx="1">
                    <c:v>Central Luzon</c:v>
                  </c:pt>
                  <c:pt idx="2">
                    <c:v>Visayas</c:v>
                  </c:pt>
                  <c:pt idx="3">
                    <c:v>Mindanao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0.446</c:v>
                </c:pt>
                <c:pt idx="1">
                  <c:v>0.21</c:v>
                </c:pt>
                <c:pt idx="2">
                  <c:v>0.186</c:v>
                </c:pt>
                <c:pt idx="3">
                  <c:v>0.158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414C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14C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14C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14C5A"/>
                </a:solidFill>
                <a:latin typeface="Calibri"/>
              </a:rPr>
              <a:t>1,126 tickets by topic, September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tickets</c:v>
                </c:pt>
              </c:strCache>
            </c:strRef>
          </c:tx>
          <c:spPr>
            <a:solidFill>
              <a:srgbClr val="86B39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14C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Delivery status</c:v>
                  </c:pt>
                  <c:pt idx="1">
                    <c:v>Returns and exchanges</c:v>
                  </c:pt>
                  <c:pt idx="2">
                    <c:v>Billing</c:v>
                  </c:pt>
                  <c:pt idx="3">
                    <c:v>Product questions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0.42</c:v>
                </c:pt>
                <c:pt idx="1">
                  <c:v>0.23</c:v>
                </c:pt>
                <c:pt idx="2">
                  <c:v>0.18</c:v>
                </c:pt>
                <c:pt idx="3">
                  <c:v>0.17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414C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14C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Open with the headline: September was the strongest month of the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numbers. All deltas compare with August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data is in the companion Excel file, Monthly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3291840" cy="3291840"/>
          </a:xfrm>
          <a:prstGeom prst="ellipse">
            <a:avLst/>
          </a:prstGeom>
          <a:solidFill>
            <a:srgbClr val="0A78C2">
              <a:alpha val="30000"/>
            </a:srgbClr>
          </a:solidFill>
          <a:ln w="12700">
            <a:solidFill>
              <a:srgbClr val="0A78C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011680"/>
            <a:ext cx="2377440" cy="2377440"/>
          </a:xfrm>
          <a:prstGeom prst="ellipse">
            <a:avLst/>
          </a:prstGeom>
          <a:solidFill>
            <a:srgbClr val="5BB5EE">
              <a:alpha val="25000"/>
            </a:srgbClr>
          </a:solidFill>
          <a:ln w="12700">
            <a:solidFill>
              <a:srgbClr val="5BB5EE">
                <a:alpha val="2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2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ALDER &amp; FINCH CO.  |  OPERATIONS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2026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Report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 for the Operations Director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Mary Rose Obsuna  |  October 2, 2026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deliverable. The company and all figures are fictional.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4,812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fulfilled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6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was the strongest month of the half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F2F9FF"/>
          </a:solidFill>
          <a:ln w="12700">
            <a:solidFill>
              <a:srgbClr val="F2F9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fulfilled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4,812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283464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FF6F2"/>
          </a:solidFill>
          <a:ln w="12700">
            <a:solidFill>
              <a:srgbClr val="EFF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34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+6.4% vs August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F2F9FF"/>
          </a:solidFill>
          <a:ln w="12700">
            <a:solidFill>
              <a:srgbClr val="F2F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96.0%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2788920" y="283464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FF6F2"/>
          </a:solidFill>
          <a:ln w="12700">
            <a:solidFill>
              <a:srgbClr val="EFF6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88920" y="2834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 pts vs August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F2F9FF"/>
          </a:solidFill>
          <a:ln w="12700">
            <a:solidFill>
              <a:srgbClr val="F2F9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fulfillment time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days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892040" y="283464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FF6F2"/>
          </a:solidFill>
          <a:ln w="12700">
            <a:solidFill>
              <a:srgbClr val="EFF6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834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days faster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F2F9FF"/>
          </a:solidFill>
          <a:ln w="12700">
            <a:solidFill>
              <a:srgbClr val="F2F9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9516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₱18.4M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6995160" y="283464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FF6F2"/>
          </a:solidFill>
          <a:ln w="12700">
            <a:solidFill>
              <a:srgbClr val="EFF6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95160" y="2834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+4.9% vs August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</a:t>
            </a:r>
            <a:pPr indent="0" marL="0">
              <a:buNone/>
            </a:pPr>
            <a:r>
              <a:rPr lang="en-US" sz="1400" dirty="0">
                <a:solidFill>
                  <a:srgbClr val="41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rose for the third month in a row and on-time delivery reached 96.0%, led by Metro Manila. Returns tickets are the one area to watch in October.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Alder &amp; Finch Co.  |  September 2026 Operations Report  |  Sample with fictional data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6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grew for the third month in a row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325880"/>
            <a:ext cx="2743200" cy="932688"/>
          </a:xfrm>
          <a:prstGeom prst="roundRect">
            <a:avLst>
              <a:gd name="adj" fmla="val 11765"/>
            </a:avLst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72200" y="1508760"/>
            <a:ext cx="237744" cy="237744"/>
          </a:xfrm>
          <a:prstGeom prst="ellipse">
            <a:avLst/>
          </a:prstGeom>
          <a:solidFill>
            <a:srgbClr val="0A78C2"/>
          </a:solidFill>
          <a:ln w="12700">
            <a:solidFill>
              <a:srgbClr val="0A78C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37960" y="14538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retail accounts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7465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1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retail clients drove most of the growth.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2404872"/>
            <a:ext cx="2743200" cy="932688"/>
          </a:xfrm>
          <a:prstGeom prst="roundRect">
            <a:avLst>
              <a:gd name="adj" fmla="val 11765"/>
            </a:avLst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72200" y="2587752"/>
            <a:ext cx="237744" cy="237744"/>
          </a:xfrm>
          <a:prstGeom prst="ellipse">
            <a:avLst/>
          </a:prstGeom>
          <a:solidFill>
            <a:srgbClr val="86B39B"/>
          </a:solidFill>
          <a:ln w="12700">
            <a:solidFill>
              <a:srgbClr val="86B39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25328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picking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28254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1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picking schedule cut fulfillment time by 0.3 days.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89320" y="3483864"/>
            <a:ext cx="2743200" cy="932688"/>
          </a:xfrm>
          <a:prstGeom prst="roundRect">
            <a:avLst>
              <a:gd name="adj" fmla="val 11765"/>
            </a:avLst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72200" y="3666744"/>
            <a:ext cx="237744" cy="237744"/>
          </a:xfrm>
          <a:prstGeom prst="ellipse">
            <a:avLst/>
          </a:prstGeom>
          <a:solidFill>
            <a:srgbClr val="D2AE6B"/>
          </a:solidFill>
          <a:ln w="12700">
            <a:solidFill>
              <a:srgbClr val="D2AE6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7960" y="36118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dip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3904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1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dipped after a holiday week, then recovered in July.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Alder &amp; Finch Co.  |  September 2026 Operations Report  |  Sample with fictional data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6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 Manila led, Mindanao trails on delivery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206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6F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6F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6F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6F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Manila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₱8.3M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Luzon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₱3.9M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Visayas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₱3.4M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Mindanao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446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₱18.4M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is weighted by orders. Mindanao is the only region under 95%.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937760" y="1234440"/>
          <a:ext cx="3840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Alder &amp; Finch Co.  |  September 2026 Operations Report  |  Sample with fictional data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6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are the topic to watch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2588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FBF6EC"/>
          </a:solidFill>
          <a:ln w="12700">
            <a:solidFill>
              <a:srgbClr val="FBF6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856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1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tickets were about returns. Most mention sizing.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292608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EFF6F2"/>
          </a:solidFill>
          <a:ln w="12700">
            <a:solidFill>
              <a:srgbClr val="EFF6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3063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D6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3611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1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tickets were answered within 24 hours.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Alder &amp; Finch Co.  |  September 2026 Operations Report  |  Sample with fictional data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2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actions for October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2651760"/>
          </a:xfrm>
          <a:prstGeom prst="roundRect">
            <a:avLst>
              <a:gd name="adj" fmla="val 4912"/>
            </a:avLst>
          </a:prstGeom>
          <a:solidFill>
            <a:srgbClr val="2A3542"/>
          </a:solidFill>
          <a:ln w="12700">
            <a:solidFill>
              <a:srgbClr val="344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5BB5EE"/>
          </a:solidFill>
          <a:ln w="12700">
            <a:solidFill>
              <a:srgbClr val="5BB5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sizing guide to product pages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Marketing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B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Oct 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06040" cy="2651760"/>
          </a:xfrm>
          <a:prstGeom prst="roundRect">
            <a:avLst>
              <a:gd name="adj" fmla="val 4912"/>
            </a:avLst>
          </a:prstGeom>
          <a:solidFill>
            <a:srgbClr val="2A3542"/>
          </a:solidFill>
          <a:ln w="12700">
            <a:solidFill>
              <a:srgbClr val="3441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737360"/>
            <a:ext cx="502920" cy="502920"/>
          </a:xfrm>
          <a:prstGeom prst="ellipse">
            <a:avLst/>
          </a:prstGeom>
          <a:solidFill>
            <a:srgbClr val="D2AE6B"/>
          </a:solidFill>
          <a:ln w="12700">
            <a:solidFill>
              <a:srgbClr val="D2AE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Mindanao courier routes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Logistics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Oct 21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606040" cy="2651760"/>
          </a:xfrm>
          <a:prstGeom prst="roundRect">
            <a:avLst>
              <a:gd name="adj" fmla="val 4912"/>
            </a:avLst>
          </a:prstGeom>
          <a:solidFill>
            <a:srgbClr val="2A3542"/>
          </a:solidFill>
          <a:ln w="12700">
            <a:solidFill>
              <a:srgbClr val="3441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737360"/>
            <a:ext cx="502920" cy="502920"/>
          </a:xfrm>
          <a:prstGeom prst="ellipse">
            <a:avLst/>
          </a:prstGeom>
          <a:solidFill>
            <a:srgbClr val="86B39B"/>
          </a:solidFill>
          <a:ln w="12700">
            <a:solidFill>
              <a:srgbClr val="86B39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this report format with branches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Admin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B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Oct 9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Alder &amp; Finch Co.  |  September 2026 Operations Report  |  Sample with fictional data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September 2026 Operations Report (sample)</dc:title>
  <dc:subject>PptxGenJS Presentation</dc:subject>
  <dc:creator>Mary Rose Obsuna</dc:creator>
  <cp:lastModifiedBy>Mary Rose Obsuna</cp:lastModifiedBy>
  <cp:revision>1</cp:revision>
  <dcterms:created xsi:type="dcterms:W3CDTF">2026-09-29T00:31:32Z</dcterms:created>
  <dcterms:modified xsi:type="dcterms:W3CDTF">2026-09-29T00:31:32Z</dcterms:modified>
</cp:coreProperties>
</file>