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12192000"/>
  <p:embeddedFontLst>
    <p:embeddedFont>
      <p:font typeface="DM Sans" pitchFamily="2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37F66EC-7DD4-4156-ACD3-CA23E1461CC9}">
  <a:tblStyle styleId="{537F66EC-7DD4-4156-ACD3-CA23E1461CC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Welcome. This deck walks through the 16 things remote virtual assistants are most often hired to do. Each area has two slides: first the responsibilities and the tools, then a sample of what the finished work looks like.</a:t>
            </a: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" name="Google Shape;2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the outline panel to jump straight to an area. Every area follows the same pattern, so once you learn one, the rest are easy to scan.</a:t>
            </a:r>
            <a:endParaRPr/>
          </a:p>
        </p:txBody>
      </p:sp>
      <p:sp>
        <p:nvSpPr>
          <p:cNvPr id="29" name="Google Shape;2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a VA knows one tool from each of these six categories well, they can work with almost any client. Clients usually already have a workspace, so match theirs.</a:t>
            </a:r>
            <a:endParaRPr/>
          </a:p>
        </p:txBody>
      </p:sp>
      <p:sp>
        <p:nvSpPr>
          <p:cNvPr id="85" name="Google Shape;8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Times are an example; adjust to the client's time zone. The two blue markers are the fixed habits: open the day with inbox and calendar, close it with a written report.</a:t>
            </a:r>
            <a:endParaRPr/>
          </a:p>
        </p:txBody>
      </p:sp>
      <p:sp>
        <p:nvSpPr>
          <p:cNvPr id="117" name="Google Shape;11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management is the most requested VA skill after email. The key idea: set up the sheet so errors are hard to make. Dropdowns, date formats and required fields do most of the work.</a:t>
            </a:r>
            <a:endParaRPr/>
          </a:p>
        </p:txBody>
      </p:sp>
      <p:sp>
        <p:nvSpPr>
          <p:cNvPr id="146" name="Google Shape;14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through the columns: ID, client, email, status and last updated. The badges under the table are the cleanup log, which clients appreciate because it shows exactly what was fixed.</a:t>
            </a:r>
            <a:endParaRPr/>
          </a:p>
        </p:txBody>
      </p:sp>
      <p:sp>
        <p:nvSpPr>
          <p:cNvPr id="165" name="Google Shape;16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Calendar work is about protecting time, not only filling it. Buffers after calls and blocked focus time are what make an executive's week manageable.</a:t>
            </a:r>
            <a:endParaRPr/>
          </a:p>
        </p:txBody>
      </p:sp>
      <p:sp>
        <p:nvSpPr>
          <p:cNvPr id="189" name="Google Shape;18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Point out that color alone does not carry meaning here: every block also says what it is. The Friday wrap-up is where the VA and executive preview the next week together.</a:t>
            </a:r>
            <a:endParaRPr/>
          </a:p>
        </p:txBody>
      </p:sp>
      <p:sp>
        <p:nvSpPr>
          <p:cNvPr id="208" name="Google Shape;20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 clients hire a VA first for their inbox. Filters do the sorting, templates do the writing, and scheduled check-ins keep the VA focused on other work in between.</a:t>
            </a:r>
            <a:endParaRPr/>
          </a:p>
        </p:txBody>
      </p:sp>
      <p:sp>
        <p:nvSpPr>
          <p:cNvPr id="254" name="Google Shape;25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Filters send mail into these labels automatically. The template is saved in Gmail Templates or Outlook Quick Parts, so a common reply takes seconds and always sounds the same.</a:t>
            </a:r>
            <a:endParaRPr/>
          </a:p>
        </p:txBody>
      </p:sp>
      <p:sp>
        <p:nvSpPr>
          <p:cNvPr id="273" name="Google Shape;273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good operations report answers three questions in under a minute: how did we do, what went wrong, and what happens next. AI can draft the summary, but the VA must check every number against the source.</a:t>
            </a:r>
            <a:endParaRPr/>
          </a:p>
        </p:txBody>
      </p:sp>
      <p:sp>
        <p:nvSpPr>
          <p:cNvPr id="306" name="Google Shape;306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numbers, each with a comparison and a plain-language status, then wins, issues and next steps. A manager can read this in under a minute.</a:t>
            </a:r>
            <a:endParaRPr/>
          </a:p>
        </p:txBody>
      </p:sp>
      <p:sp>
        <p:nvSpPr>
          <p:cNvPr id="325" name="Google Shape;325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7" name="Google Shape;35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Small businesses often start in a spreadsheet and move to Zoho Inventory or Sortly once they have more items or locations. Tool picks based on NerdWallet's 2026 inventory software review.</a:t>
            </a:r>
            <a:endParaRPr/>
          </a:p>
        </p:txBody>
      </p:sp>
      <p:sp>
        <p:nvSpPr>
          <p:cNvPr id="358" name="Google Shape;358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status formula is simple: if on hand is below the reorder point, show Reorder. The VA's job is to act on it: draft the purchase order and get approval.</a:t>
            </a:r>
            <a:endParaRPr/>
          </a:p>
        </p:txBody>
      </p:sp>
      <p:sp>
        <p:nvSpPr>
          <p:cNvPr id="377" name="Google Shape;37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" name="Google Shape;39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Good travel support means the traveler never searches their email mid-trip. One itinerary, one tracker, every confirmation in both.</a:t>
            </a:r>
            <a:endParaRPr/>
          </a:p>
        </p:txBody>
      </p:sp>
      <p:sp>
        <p:nvSpPr>
          <p:cNvPr id="393" name="Google Shape;393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1" name="Google Shape;41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Confirmation codes are shown as placeholders in brackets. In real work, paste the actual code so the traveler can show it at the counter.</a:t>
            </a:r>
            <a:endParaRPr/>
          </a:p>
        </p:txBody>
      </p:sp>
      <p:sp>
        <p:nvSpPr>
          <p:cNvPr id="412" name="Google Shape;412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8" name="Google Shape;43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Booking tools send reminders automatically, so the VA's work shifts to exceptions: reschedules, no-shows and special requests.</a:t>
            </a:r>
            <a:endParaRPr/>
          </a:p>
        </p:txBody>
      </p:sp>
      <p:sp>
        <p:nvSpPr>
          <p:cNvPr id="439" name="Google Shape;439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7" name="Google Shape;45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log is the VA's end-of-day proof: every appointment accounted for, every exception handled.</a:t>
            </a:r>
            <a:endParaRPr/>
          </a:p>
        </p:txBody>
      </p:sp>
      <p:sp>
        <p:nvSpPr>
          <p:cNvPr id="458" name="Google Shape;45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3" name="Google Shape;47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Documentation is what makes a VA scalable. Scribe and Tango record the clicks and turn them into a guide with screenshots, so writing an SOP takes minutes.</a:t>
            </a:r>
            <a:endParaRPr/>
          </a:p>
        </p:txBody>
      </p:sp>
      <p:sp>
        <p:nvSpPr>
          <p:cNvPr id="474" name="Google Shape;474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good SOP lets someone new do the task correctly on the first try. Keep steps to one action each and name exact folders and files.</a:t>
            </a:r>
            <a:endParaRPr/>
          </a:p>
        </p:txBody>
      </p:sp>
      <p:sp>
        <p:nvSpPr>
          <p:cNvPr id="493" name="Google Shape;493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0" name="Google Shape;51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 tools like Gamma can draft a deck in minutes, but the VA adds the value: the right story, correct numbers, and a clean brand look.</a:t>
            </a:r>
            <a:endParaRPr/>
          </a:p>
        </p:txBody>
      </p:sp>
      <p:sp>
        <p:nvSpPr>
          <p:cNvPr id="511" name="Google Shape;51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9" name="Google Shape;529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five-slide structure works for almost any monthly or quarterly review. Keep it short; detail goes in an appendix or the attached spreadsheet.</a:t>
            </a:r>
            <a:endParaRPr/>
          </a:p>
        </p:txBody>
      </p:sp>
      <p:sp>
        <p:nvSpPr>
          <p:cNvPr id="530" name="Google Shape;530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6" name="Google Shape;566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folder system should be no more than three or four levels deep. Past that, people stop using it and start saving to the desktop.</a:t>
            </a:r>
            <a:endParaRPr/>
          </a:p>
        </p:txBody>
      </p:sp>
      <p:sp>
        <p:nvSpPr>
          <p:cNvPr id="567" name="Google Shape;567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5" name="Google Shape;585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naming rule matters more than the folders. With dates first and consistent client names, search finds anything even when a file lands in the wrong folder.</a:t>
            </a:r>
            <a:endParaRPr/>
          </a:p>
        </p:txBody>
      </p:sp>
      <p:sp>
        <p:nvSpPr>
          <p:cNvPr id="586" name="Google Shape;586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0" name="Google Shape;61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tool matters less than the habit: one place for every task. Use whatever the client already uses; Asana, ClickUp and Trello all work the same way at the core.</a:t>
            </a:r>
            <a:endParaRPr/>
          </a:p>
        </p:txBody>
      </p:sp>
      <p:sp>
        <p:nvSpPr>
          <p:cNvPr id="611" name="Google Shape;611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9" name="Google Shape;629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columns cover almost every small team: To do, In progress, Waiting on someone else, and Done. The Waiting column is what stops tasks from quietly stalling.</a:t>
            </a:r>
            <a:endParaRPr/>
          </a:p>
        </p:txBody>
      </p:sp>
      <p:sp>
        <p:nvSpPr>
          <p:cNvPr id="630" name="Google Shape;630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1" name="Google Shape;671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 management is now a skill clients ask for by name. The VA's value is judgment: choosing the right tool, writing a clear prompt, and checking facts and numbers before anything is sent.</a:t>
            </a:r>
            <a:endParaRPr/>
          </a:p>
        </p:txBody>
      </p:sp>
      <p:sp>
        <p:nvSpPr>
          <p:cNvPr id="672" name="Google Shape;672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0" name="Google Shape;690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Role, task, context, format, check. Once a prompt works well, save it in a shared prompt library so the whole team gets the same quality.</a:t>
            </a:r>
            <a:endParaRPr/>
          </a:p>
        </p:txBody>
      </p:sp>
      <p:sp>
        <p:nvSpPr>
          <p:cNvPr id="691" name="Google Shape;691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5" name="Google Shape;715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Consistency beats talent in content work. A brand kit and a content calendar make a VA's design work look professional and on-schedule.</a:t>
            </a:r>
            <a:endParaRPr/>
          </a:p>
        </p:txBody>
      </p:sp>
      <p:sp>
        <p:nvSpPr>
          <p:cNvPr id="716" name="Google Shape;716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4" name="Google Shape;73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Only post customer reviews and stories the customer has approved. The Status column tells the client at a glance what is ready and what still needs their input.</a:t>
            </a:r>
            <a:endParaRPr/>
          </a:p>
        </p:txBody>
      </p:sp>
      <p:sp>
        <p:nvSpPr>
          <p:cNvPr id="735" name="Google Shape;735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9" name="Google Shape;749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Search Console, Analytics and Tag Manager are free and cover most of what a VA needs. Semrush or Ahrefs add keyword and competitor data, and both now track how brands appear in AI answers.</a:t>
            </a:r>
            <a:endParaRPr/>
          </a:p>
        </p:txBody>
      </p:sp>
      <p:sp>
        <p:nvSpPr>
          <p:cNvPr id="750" name="Google Shape;750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8" name="Google Shape;768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Average position going from 16.9 to 14.2 is an improvement, because a lower number means closer to the top. Always explain that to the client in plain words.</a:t>
            </a:r>
            <a:endParaRPr/>
          </a:p>
        </p:txBody>
      </p:sp>
      <p:sp>
        <p:nvSpPr>
          <p:cNvPr id="769" name="Google Shape;769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9" name="Google Shape;799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 research tools cut hours of searching down to minutes, but the VA is responsible for accuracy. Every fact in a brief should have a source the client can click.</a:t>
            </a:r>
            <a:endParaRPr/>
          </a:p>
        </p:txBody>
      </p:sp>
      <p:sp>
        <p:nvSpPr>
          <p:cNvPr id="800" name="Google Shape;800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8" name="Google Shape;818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Prices are left as placeholders on purpose; in a real brief, copy them from each vendor's pricing page and note the date you checked.</a:t>
            </a:r>
            <a:endParaRPr/>
          </a:p>
        </p:txBody>
      </p:sp>
      <p:sp>
        <p:nvSpPr>
          <p:cNvPr id="819" name="Google Shape;819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4" name="Google Shape;834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Remote teams run on written updates. A two-minute Loom video often replaces a thirty-minute meeting.</a:t>
            </a:r>
            <a:endParaRPr/>
          </a:p>
        </p:txBody>
      </p:sp>
      <p:sp>
        <p:nvSpPr>
          <p:cNvPr id="835" name="Google Shape;835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3" name="Google Shape;853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Done, in progress, blocked, tomorrow. A client who gets this every day never has to ask what their VA is working on.</a:t>
            </a:r>
            <a:endParaRPr/>
          </a:p>
        </p:txBody>
      </p:sp>
      <p:sp>
        <p:nvSpPr>
          <p:cNvPr id="854" name="Google Shape;854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4" name="Google Shape;874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Tool lists change every year, but these four rules do not. Clients care far more about reliable results than about which app produced them.</a:t>
            </a:r>
            <a:endParaRPr/>
          </a:p>
        </p:txBody>
      </p:sp>
      <p:sp>
        <p:nvSpPr>
          <p:cNvPr id="875" name="Google Shape;875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8" name="Google Shape;898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with the action: start with the three areas every client needs, then grow into reporting, SEO, content and AI management.</a:t>
            </a:r>
            <a:endParaRPr/>
          </a:p>
        </p:txBody>
      </p:sp>
      <p:sp>
        <p:nvSpPr>
          <p:cNvPr id="899" name="Google Shape;899;p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7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A8F0"/>
              </a:buClr>
              <a:buSzPts val="1400"/>
              <a:buFont typeface="DM Sans"/>
              <a:buNone/>
            </a:pPr>
            <a:r>
              <a:rPr lang="en-US" sz="1400" b="1" i="0" u="none" strike="noStrike" cap="none">
                <a:solidFill>
                  <a:srgbClr val="7FA8F0"/>
                </a:solidFill>
                <a:latin typeface="DM Sans"/>
                <a:ea typeface="DM Sans"/>
                <a:cs typeface="DM Sans"/>
                <a:sym typeface="DM Sans"/>
              </a:rPr>
              <a:t>A PRACTICAL GUIDE FOR REMOTE PROFESSIONALS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812800" y="1264920"/>
            <a:ext cx="915670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5F6F8"/>
              </a:buClr>
              <a:buSzPts val="6000"/>
              <a:buFont typeface="DM Sans"/>
              <a:buNone/>
            </a:pPr>
            <a:r>
              <a:rPr lang="en-US" sz="6000" b="1" i="0" u="none" strike="noStrike" cap="none">
                <a:solidFill>
                  <a:srgbClr val="F5F6F8"/>
                </a:solidFill>
                <a:latin typeface="DM Sans"/>
                <a:ea typeface="DM Sans"/>
                <a:cs typeface="DM Sans"/>
                <a:sym typeface="DM Sans"/>
              </a:rPr>
              <a:t>The Remote VA Toolkit</a:t>
            </a:r>
            <a:endParaRPr sz="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12800" y="2268220"/>
            <a:ext cx="8502650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9AFB8"/>
              </a:buClr>
              <a:buSzPts val="2000"/>
              <a:buFont typeface="DM Sans"/>
              <a:buNone/>
            </a:pPr>
            <a:r>
              <a:rPr lang="en-US" sz="2000" b="0" i="0" u="none" strike="noStrike" cap="none" dirty="0">
                <a:solidFill>
                  <a:srgbClr val="A9AFB8"/>
                </a:solidFill>
                <a:latin typeface="DM Sans"/>
                <a:ea typeface="DM Sans"/>
                <a:cs typeface="DM Sans"/>
                <a:sym typeface="DM Sans"/>
              </a:rPr>
              <a:t>16 core responsibilities, the modern tools virtual assistants use for each one, and a real-world sample of the work.</a:t>
            </a:r>
            <a:endParaRPr lang="en-US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12800" y="5194300"/>
            <a:ext cx="1538049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A8F0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7FA8F0"/>
                </a:solidFill>
                <a:latin typeface="DM Sans"/>
                <a:ea typeface="DM Sans"/>
                <a:cs typeface="DM Sans"/>
                <a:sym typeface="DM Sans"/>
              </a:rPr>
              <a:t>16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12800" y="5814060"/>
            <a:ext cx="1538049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AFB8"/>
              </a:buClr>
              <a:buSzPts val="1300"/>
              <a:buFont typeface="DM Sans"/>
              <a:buNone/>
            </a:pPr>
            <a:r>
              <a:rPr lang="en-US" sz="1300" b="0" i="0" u="none" strike="noStrike" cap="none" dirty="0">
                <a:solidFill>
                  <a:srgbClr val="A9AFB8"/>
                </a:solidFill>
                <a:latin typeface="DM Sans"/>
                <a:ea typeface="DM Sans"/>
                <a:cs typeface="DM Sans"/>
                <a:sym typeface="DM Sans"/>
              </a:rPr>
              <a:t>Responsibility areas</a:t>
            </a:r>
            <a:endParaRPr lang="en-US"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2604849" y="5194300"/>
            <a:ext cx="1731883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A8F0"/>
              </a:buClr>
              <a:buSzPts val="3200"/>
              <a:buFont typeface="DM Sans"/>
              <a:buNone/>
            </a:pPr>
            <a:r>
              <a:rPr lang="en-US" sz="3200" b="1" i="0" u="none" strike="noStrike" cap="none" dirty="0">
                <a:solidFill>
                  <a:srgbClr val="7FA8F0"/>
                </a:solidFill>
                <a:latin typeface="DM Sans"/>
                <a:ea typeface="DM Sans"/>
                <a:cs typeface="DM Sans"/>
                <a:sym typeface="DM Sans"/>
              </a:rPr>
              <a:t>90+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2604849" y="5814060"/>
            <a:ext cx="1731883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AFB8"/>
              </a:buClr>
              <a:buSzPts val="1300"/>
              <a:buFont typeface="DM Sans"/>
              <a:buNone/>
            </a:pPr>
            <a:r>
              <a:rPr lang="en-US" sz="1300" b="0" i="0" u="none" strike="noStrike" cap="none" dirty="0">
                <a:solidFill>
                  <a:srgbClr val="A9AFB8"/>
                </a:solidFill>
                <a:latin typeface="DM Sans"/>
                <a:ea typeface="DM Sans"/>
                <a:cs typeface="DM Sans"/>
                <a:sym typeface="DM Sans"/>
              </a:rPr>
              <a:t>Tool picks, by purpose</a:t>
            </a:r>
            <a:endParaRPr lang="en-US"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90733" y="5194300"/>
            <a:ext cx="1096407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A8F0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7FA8F0"/>
                </a:solidFill>
                <a:latin typeface="DM Sans"/>
                <a:ea typeface="DM Sans"/>
                <a:cs typeface="DM Sans"/>
                <a:sym typeface="DM Sans"/>
              </a:rPr>
              <a:t>16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590733" y="5814060"/>
            <a:ext cx="1096407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AFB8"/>
              </a:buClr>
              <a:buSzPts val="1300"/>
              <a:buFont typeface="DM Sans"/>
              <a:buNone/>
            </a:pPr>
            <a:r>
              <a:rPr lang="en-US" sz="1300" b="0" i="0" u="none" strike="noStrike" cap="none" dirty="0">
                <a:solidFill>
                  <a:srgbClr val="A9AFB8"/>
                </a:solidFill>
                <a:latin typeface="DM Sans"/>
                <a:ea typeface="DM Sans"/>
                <a:cs typeface="DM Sans"/>
                <a:sym typeface="DM Sans"/>
              </a:rPr>
              <a:t>Work samples</a:t>
            </a:r>
            <a:endParaRPr lang="en-US"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9103519" y="5831840"/>
            <a:ext cx="234395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838E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7C838E"/>
                </a:solidFill>
                <a:latin typeface="DM Sans"/>
                <a:ea typeface="DM Sans"/>
                <a:cs typeface="DM Sans"/>
                <a:sym typeface="DM Sans"/>
              </a:rPr>
              <a:t>Tools reviewed September 2026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812800" y="609600"/>
            <a:ext cx="10883392" cy="23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159"/>
              <a:buFont typeface="DM Sans"/>
              <a:buNone/>
            </a:pPr>
            <a:r>
              <a:rPr lang="en-US" sz="1159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HOW TO USE THIS DECK</a:t>
            </a:r>
            <a:endParaRPr sz="115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812800" y="891461"/>
            <a:ext cx="10883392" cy="456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3110"/>
              <a:buFont typeface="DM Sans"/>
              <a:buNone/>
            </a:pPr>
            <a:r>
              <a:rPr lang="en-US" sz="3110" b="1" i="0" u="none" strike="noStrike" cap="none" dirty="0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16 areas, two slides each: tools, then a sample</a:t>
            </a:r>
            <a:endParaRPr sz="311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815975" y="1579642"/>
            <a:ext cx="2540000" cy="788670"/>
          </a:xfrm>
          <a:prstGeom prst="roundRect">
            <a:avLst>
              <a:gd name="adj" fmla="val 12480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995680" y="1733947"/>
            <a:ext cx="2246008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01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995680" y="1985407"/>
            <a:ext cx="2246008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500"/>
              <a:buFont typeface="DM Sans"/>
              <a:buNone/>
            </a:pPr>
            <a:r>
              <a:rPr lang="en-US" sz="15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Data Management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3489325" y="1579642"/>
            <a:ext cx="2540000" cy="788670"/>
          </a:xfrm>
          <a:prstGeom prst="roundRect">
            <a:avLst>
              <a:gd name="adj" fmla="val 12480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669030" y="1733947"/>
            <a:ext cx="2246008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669030" y="1985407"/>
            <a:ext cx="2246008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500"/>
              <a:buFont typeface="DM Sans"/>
              <a:buNone/>
            </a:pPr>
            <a:r>
              <a:rPr lang="en-US" sz="15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Calendar Management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162675" y="1579642"/>
            <a:ext cx="2540000" cy="788670"/>
          </a:xfrm>
          <a:prstGeom prst="roundRect">
            <a:avLst>
              <a:gd name="adj" fmla="val 12480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6342380" y="1733947"/>
            <a:ext cx="2246008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342380" y="1985407"/>
            <a:ext cx="2246008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500"/>
              <a:buFont typeface="DM Sans"/>
              <a:buNone/>
            </a:pPr>
            <a:r>
              <a:rPr lang="en-US" sz="15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Email Management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8836025" y="1579642"/>
            <a:ext cx="2540000" cy="788670"/>
          </a:xfrm>
          <a:prstGeom prst="roundRect">
            <a:avLst>
              <a:gd name="adj" fmla="val 12480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9015730" y="1733947"/>
            <a:ext cx="2246008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04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9015730" y="1985407"/>
            <a:ext cx="2246008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500"/>
              <a:buFont typeface="DM Sans"/>
              <a:buNone/>
            </a:pPr>
            <a:r>
              <a:rPr lang="en-US" sz="15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Operations Reports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815975" y="2501662"/>
            <a:ext cx="2540000" cy="971550"/>
          </a:xfrm>
          <a:prstGeom prst="roundRect">
            <a:avLst>
              <a:gd name="adj" fmla="val 10131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995680" y="2655967"/>
            <a:ext cx="2246008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05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995680" y="2907427"/>
            <a:ext cx="2246008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500"/>
              <a:buFont typeface="DM Sans"/>
              <a:buNone/>
            </a:pPr>
            <a:r>
              <a:rPr lang="en-US" sz="15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Inventory Management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489325" y="2501662"/>
            <a:ext cx="2540000" cy="971550"/>
          </a:xfrm>
          <a:prstGeom prst="roundRect">
            <a:avLst>
              <a:gd name="adj" fmla="val 10131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3669030" y="2655967"/>
            <a:ext cx="2246008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06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3669030" y="2907427"/>
            <a:ext cx="2246008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500"/>
              <a:buFont typeface="DM Sans"/>
              <a:buNone/>
            </a:pPr>
            <a:r>
              <a:rPr lang="en-US" sz="15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Travel Arrangements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162675" y="2501662"/>
            <a:ext cx="2540000" cy="971550"/>
          </a:xfrm>
          <a:prstGeom prst="roundRect">
            <a:avLst>
              <a:gd name="adj" fmla="val 10131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6342380" y="2655967"/>
            <a:ext cx="2246008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07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342380" y="2907427"/>
            <a:ext cx="2246008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500"/>
              <a:buFont typeface="DM Sans"/>
              <a:buNone/>
            </a:pPr>
            <a:r>
              <a:rPr lang="en-US" sz="15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Booking Management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8836025" y="2501662"/>
            <a:ext cx="2540000" cy="971550"/>
          </a:xfrm>
          <a:prstGeom prst="roundRect">
            <a:avLst>
              <a:gd name="adj" fmla="val 10131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9015730" y="2655967"/>
            <a:ext cx="2246008" cy="224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53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121"/>
              <a:buFont typeface="DM Sans"/>
              <a:buNone/>
            </a:pPr>
            <a:r>
              <a:rPr lang="en-US" sz="1121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08</a:t>
            </a:r>
            <a:endParaRPr sz="11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9015730" y="2892902"/>
            <a:ext cx="2246008" cy="451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971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402"/>
              <a:buFont typeface="DM Sans"/>
              <a:buNone/>
            </a:pPr>
            <a:r>
              <a:rPr lang="en-US" sz="1402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Records and Documentation</a:t>
            </a:r>
            <a:endParaRPr sz="14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815975" y="3606562"/>
            <a:ext cx="2540000" cy="971629"/>
          </a:xfrm>
          <a:prstGeom prst="roundRect">
            <a:avLst>
              <a:gd name="adj" fmla="val 10130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995680" y="3760867"/>
            <a:ext cx="2246008" cy="224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53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121"/>
              <a:buFont typeface="DM Sans"/>
              <a:buNone/>
            </a:pPr>
            <a:r>
              <a:rPr lang="en-US" sz="1121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09</a:t>
            </a:r>
            <a:endParaRPr sz="11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995680" y="3997802"/>
            <a:ext cx="2246008" cy="451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971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402"/>
              <a:buFont typeface="DM Sans"/>
              <a:buNone/>
            </a:pPr>
            <a:r>
              <a:rPr lang="en-US" sz="1402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Reports and Presentations</a:t>
            </a:r>
            <a:endParaRPr sz="14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489325" y="3606562"/>
            <a:ext cx="2540000" cy="971629"/>
          </a:xfrm>
          <a:prstGeom prst="roundRect">
            <a:avLst>
              <a:gd name="adj" fmla="val 10130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3669030" y="3760867"/>
            <a:ext cx="2246008" cy="224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53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121"/>
              <a:buFont typeface="DM Sans"/>
              <a:buNone/>
            </a:pPr>
            <a:r>
              <a:rPr lang="en-US" sz="1121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  <a:endParaRPr sz="11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3669030" y="3997802"/>
            <a:ext cx="2246008" cy="451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416"/>
              <a:buFont typeface="DM Sans"/>
              <a:buNone/>
            </a:pPr>
            <a:r>
              <a:rPr lang="en-US" sz="1416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Digital Files Organization</a:t>
            </a:r>
            <a:endParaRPr sz="141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6162675" y="3606562"/>
            <a:ext cx="2540000" cy="971629"/>
          </a:xfrm>
          <a:prstGeom prst="roundRect">
            <a:avLst>
              <a:gd name="adj" fmla="val 10130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6342380" y="3760867"/>
            <a:ext cx="2246008" cy="224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53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121"/>
              <a:buFont typeface="DM Sans"/>
              <a:buNone/>
            </a:pPr>
            <a:r>
              <a:rPr lang="en-US" sz="1121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11</a:t>
            </a:r>
            <a:endParaRPr sz="11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6342380" y="3997802"/>
            <a:ext cx="2246008" cy="451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971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402"/>
              <a:buFont typeface="DM Sans"/>
              <a:buNone/>
            </a:pPr>
            <a:r>
              <a:rPr lang="en-US" sz="1402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Task and Project Management</a:t>
            </a:r>
            <a:endParaRPr sz="14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8836025" y="3606562"/>
            <a:ext cx="2540000" cy="971629"/>
          </a:xfrm>
          <a:prstGeom prst="roundRect">
            <a:avLst>
              <a:gd name="adj" fmla="val 10130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9015730" y="3760867"/>
            <a:ext cx="2246008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12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9015730" y="4012327"/>
            <a:ext cx="2246008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500"/>
              <a:buFont typeface="DM Sans"/>
              <a:buNone/>
            </a:pPr>
            <a:r>
              <a:rPr lang="en-US" sz="15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AI Management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815975" y="4711541"/>
            <a:ext cx="2540000" cy="971629"/>
          </a:xfrm>
          <a:prstGeom prst="roundRect">
            <a:avLst>
              <a:gd name="adj" fmla="val 10130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995680" y="4865846"/>
            <a:ext cx="2246008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13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995680" y="5117306"/>
            <a:ext cx="2246008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500"/>
              <a:buFont typeface="DM Sans"/>
              <a:buNone/>
            </a:pPr>
            <a:r>
              <a:rPr lang="en-US" sz="15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Content and Design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489325" y="4711541"/>
            <a:ext cx="2540000" cy="971629"/>
          </a:xfrm>
          <a:prstGeom prst="roundRect">
            <a:avLst>
              <a:gd name="adj" fmla="val 10130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669030" y="4865846"/>
            <a:ext cx="2246008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14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3669030" y="5117306"/>
            <a:ext cx="2246008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500"/>
              <a:buFont typeface="DM Sans"/>
              <a:buNone/>
            </a:pPr>
            <a:r>
              <a:rPr lang="en-US" sz="15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SEO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6162675" y="4711541"/>
            <a:ext cx="2540000" cy="971629"/>
          </a:xfrm>
          <a:prstGeom prst="roundRect">
            <a:avLst>
              <a:gd name="adj" fmla="val 10130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6342380" y="4865846"/>
            <a:ext cx="2246008" cy="224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53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121"/>
              <a:buFont typeface="DM Sans"/>
              <a:buNone/>
            </a:pPr>
            <a:r>
              <a:rPr lang="en-US" sz="1121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15</a:t>
            </a:r>
            <a:endParaRPr sz="11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6342380" y="5102781"/>
            <a:ext cx="2246008" cy="451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971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402"/>
              <a:buFont typeface="DM Sans"/>
              <a:buNone/>
            </a:pPr>
            <a:r>
              <a:rPr lang="en-US" sz="1402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Research and Info Gathering</a:t>
            </a:r>
            <a:endParaRPr sz="14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8836025" y="4711541"/>
            <a:ext cx="2540000" cy="971629"/>
          </a:xfrm>
          <a:prstGeom prst="roundRect">
            <a:avLst>
              <a:gd name="adj" fmla="val 10130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9015730" y="4865846"/>
            <a:ext cx="2246008" cy="224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53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121"/>
              <a:buFont typeface="DM Sans"/>
              <a:buNone/>
            </a:pPr>
            <a:r>
              <a:rPr lang="en-US" sz="1121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16</a:t>
            </a:r>
            <a:endParaRPr sz="112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9015730" y="5102781"/>
            <a:ext cx="2246008" cy="451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9971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402"/>
              <a:buFont typeface="DM Sans"/>
              <a:buNone/>
            </a:pPr>
            <a:r>
              <a:rPr lang="en-US" sz="1402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Remote Team Communication</a:t>
            </a:r>
            <a:endParaRPr sz="14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812800" y="5940346"/>
            <a:ext cx="10883392" cy="23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196"/>
              <a:buFont typeface="DM Sans"/>
              <a:buNone/>
            </a:pPr>
            <a:r>
              <a:rPr lang="en-US" sz="1196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Jump to any area from the outline panel. Each area opens with its tools, followed by a sample of the finished work.</a:t>
            </a:r>
            <a:endParaRPr sz="119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THE CORE STACK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812800" y="1000761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Six tool categories every remote VA uses daily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815975" y="1755775"/>
            <a:ext cx="3414157" cy="1794510"/>
          </a:xfrm>
          <a:prstGeom prst="roundRect">
            <a:avLst>
              <a:gd name="adj" fmla="val 6900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0" name="Google Shape;90;p5" descr="Clou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1080" y="1960880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"/>
          <p:cNvSpPr/>
          <p:nvPr/>
        </p:nvSpPr>
        <p:spPr>
          <a:xfrm>
            <a:off x="1021080" y="2316480"/>
            <a:ext cx="3094065" cy="28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700"/>
              <a:buFont typeface="DM Sans"/>
              <a:buNone/>
            </a:pPr>
            <a:r>
              <a:rPr lang="en-US" sz="17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Workspace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1021080" y="2651761"/>
            <a:ext cx="3094065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Google Workspace or Microsoft 365: email, calendar, docs, sheets, slides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388882" y="1755775"/>
            <a:ext cx="3414157" cy="1794510"/>
          </a:xfrm>
          <a:prstGeom prst="roundRect">
            <a:avLst>
              <a:gd name="adj" fmla="val 6900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4" name="Google Shape;94;p5" descr="Cha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93987" y="1960880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5"/>
          <p:cNvSpPr/>
          <p:nvPr/>
        </p:nvSpPr>
        <p:spPr>
          <a:xfrm>
            <a:off x="4593987" y="2316480"/>
            <a:ext cx="3094065" cy="28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700"/>
              <a:buFont typeface="DM Sans"/>
              <a:buNone/>
            </a:pPr>
            <a:r>
              <a:rPr lang="en-US" sz="17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Communication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593987" y="2651761"/>
            <a:ext cx="3094065" cy="718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Slack or Microsoft Teams for chat, Zoom or Google Meet for calls, Loom for video updates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7961789" y="1755775"/>
            <a:ext cx="3414157" cy="1794510"/>
          </a:xfrm>
          <a:prstGeom prst="roundRect">
            <a:avLst>
              <a:gd name="adj" fmla="val 6900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8" name="Google Shape;98;p5" descr="CheckCircl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66894" y="1960880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5"/>
          <p:cNvSpPr/>
          <p:nvPr/>
        </p:nvSpPr>
        <p:spPr>
          <a:xfrm>
            <a:off x="8166894" y="2316480"/>
            <a:ext cx="3094065" cy="28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700"/>
              <a:buFont typeface="DM Sans"/>
              <a:buNone/>
            </a:pPr>
            <a:r>
              <a:rPr lang="en-US" sz="17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Tasks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8166894" y="2651761"/>
            <a:ext cx="3094065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Asana, ClickUp, Trello, Monday.com or Notion to track every request to done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815975" y="3709036"/>
            <a:ext cx="3414157" cy="1794510"/>
          </a:xfrm>
          <a:prstGeom prst="roundRect">
            <a:avLst>
              <a:gd name="adj" fmla="val 6900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" name="Google Shape;102;p5" descr="Databas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1080" y="3914141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5"/>
          <p:cNvSpPr/>
          <p:nvPr/>
        </p:nvSpPr>
        <p:spPr>
          <a:xfrm>
            <a:off x="1021080" y="4269741"/>
            <a:ext cx="3094065" cy="28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700"/>
              <a:buFont typeface="DM Sans"/>
              <a:buNone/>
            </a:pPr>
            <a:r>
              <a:rPr lang="en-US" sz="17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Files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1021080" y="4605020"/>
            <a:ext cx="3094065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Google Drive, OneDrive or Dropbox with a clear folder and naming system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388882" y="3709036"/>
            <a:ext cx="3414157" cy="1794510"/>
          </a:xfrm>
          <a:prstGeom prst="roundRect">
            <a:avLst>
              <a:gd name="adj" fmla="val 6900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6" name="Google Shape;106;p5" descr="Lightbulb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93987" y="3914141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5"/>
          <p:cNvSpPr/>
          <p:nvPr/>
        </p:nvSpPr>
        <p:spPr>
          <a:xfrm>
            <a:off x="4593987" y="4269741"/>
            <a:ext cx="3094065" cy="28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700"/>
              <a:buFont typeface="DM Sans"/>
              <a:buNone/>
            </a:pPr>
            <a:r>
              <a:rPr lang="en-US" sz="17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AI assistants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4593987" y="4605020"/>
            <a:ext cx="3094065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ChatGPT, Claude, Gemini or Copilot to draft, summarize and research faster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7961789" y="3709036"/>
            <a:ext cx="3414157" cy="1794510"/>
          </a:xfrm>
          <a:prstGeom prst="roundRect">
            <a:avLst>
              <a:gd name="adj" fmla="val 6900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0" name="Google Shape;110;p5" descr="Loc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66894" y="3914141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"/>
          <p:cNvSpPr/>
          <p:nvPr/>
        </p:nvSpPr>
        <p:spPr>
          <a:xfrm>
            <a:off x="8166894" y="4269741"/>
            <a:ext cx="3094065" cy="28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700"/>
              <a:buFont typeface="DM Sans"/>
              <a:buNone/>
            </a:pPr>
            <a:r>
              <a:rPr lang="en-US" sz="17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Security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8166894" y="4605020"/>
            <a:ext cx="3094065" cy="718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1Password or Bitwarden to share logins safely, plus two-step verification on every account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838E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7C838E"/>
                </a:solidFill>
                <a:latin typeface="DM Sans"/>
                <a:ea typeface="DM Sans"/>
                <a:cs typeface="DM Sans"/>
                <a:sym typeface="DM Sans"/>
              </a:rPr>
              <a:t>Remote VA Toolkit · Start here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7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A8F0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7FA8F0"/>
                </a:solidFill>
                <a:latin typeface="DM Sans"/>
                <a:ea typeface="DM Sans"/>
                <a:cs typeface="DM Sans"/>
                <a:sym typeface="DM Sans"/>
              </a:rPr>
              <a:t>A TYPICAL DAY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812800" y="1000761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5F6F8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F5F6F8"/>
                </a:solidFill>
                <a:latin typeface="DM Sans"/>
                <a:ea typeface="DM Sans"/>
                <a:cs typeface="DM Sans"/>
                <a:sym typeface="DM Sans"/>
              </a:rPr>
              <a:t>How the 16 areas fit into one working day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6"/>
          <p:cNvCxnSpPr/>
          <p:nvPr/>
        </p:nvCxnSpPr>
        <p:spPr>
          <a:xfrm>
            <a:off x="812800" y="1816100"/>
            <a:ext cx="2011680" cy="0"/>
          </a:xfrm>
          <a:prstGeom prst="straightConnector1">
            <a:avLst/>
          </a:prstGeom>
          <a:noFill/>
          <a:ln w="25400" cap="flat" cmpd="sng">
            <a:solidFill>
              <a:srgbClr val="1D5FD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2" name="Google Shape;122;p6"/>
          <p:cNvSpPr/>
          <p:nvPr/>
        </p:nvSpPr>
        <p:spPr>
          <a:xfrm>
            <a:off x="812800" y="1981200"/>
            <a:ext cx="2019707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A8F0"/>
              </a:buClr>
              <a:buSzPts val="1500"/>
              <a:buFont typeface="DM Sans"/>
              <a:buNone/>
            </a:pPr>
            <a:r>
              <a:rPr lang="en-US" sz="1500" b="1" i="0" u="none" strike="noStrike" cap="none">
                <a:solidFill>
                  <a:srgbClr val="7FA8F0"/>
                </a:solidFill>
                <a:latin typeface="DM Sans"/>
                <a:ea typeface="DM Sans"/>
                <a:cs typeface="DM Sans"/>
                <a:sym typeface="DM Sans"/>
              </a:rPr>
              <a:t>8:00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812800" y="2336800"/>
            <a:ext cx="2019707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F6F8"/>
              </a:buClr>
              <a:buSzPts val="1600"/>
              <a:buFont typeface="DM Sans"/>
              <a:buNone/>
            </a:pPr>
            <a:r>
              <a:rPr lang="en-US" sz="1600" b="1" i="0" u="none" strike="noStrike" cap="none">
                <a:solidFill>
                  <a:srgbClr val="F5F6F8"/>
                </a:solidFill>
                <a:latin typeface="DM Sans"/>
                <a:ea typeface="DM Sans"/>
                <a:cs typeface="DM Sans"/>
                <a:sym typeface="DM Sans"/>
              </a:rPr>
              <a:t>Inbox and calendar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812800" y="2669541"/>
            <a:ext cx="2019707" cy="718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AFB8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A9AFB8"/>
                </a:solidFill>
                <a:latin typeface="DM Sans"/>
                <a:ea typeface="DM Sans"/>
                <a:cs typeface="DM Sans"/>
                <a:sym typeface="DM Sans"/>
              </a:rPr>
              <a:t>Triage email, confirm today’s meetings, flag urgent items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6"/>
          <p:cNvCxnSpPr/>
          <p:nvPr/>
        </p:nvCxnSpPr>
        <p:spPr>
          <a:xfrm>
            <a:off x="2951480" y="1816100"/>
            <a:ext cx="2011680" cy="0"/>
          </a:xfrm>
          <a:prstGeom prst="straightConnector1">
            <a:avLst/>
          </a:prstGeom>
          <a:noFill/>
          <a:ln w="25400" cap="flat" cmpd="sng">
            <a:solidFill>
              <a:srgbClr val="3B44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6" name="Google Shape;126;p6"/>
          <p:cNvSpPr/>
          <p:nvPr/>
        </p:nvSpPr>
        <p:spPr>
          <a:xfrm>
            <a:off x="2951480" y="1981200"/>
            <a:ext cx="2019707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A8F0"/>
              </a:buClr>
              <a:buSzPts val="1500"/>
              <a:buFont typeface="DM Sans"/>
              <a:buNone/>
            </a:pPr>
            <a:r>
              <a:rPr lang="en-US" sz="1500" b="1" i="0" u="none" strike="noStrike" cap="none">
                <a:solidFill>
                  <a:srgbClr val="7FA8F0"/>
                </a:solidFill>
                <a:latin typeface="DM Sans"/>
                <a:ea typeface="DM Sans"/>
                <a:cs typeface="DM Sans"/>
                <a:sym typeface="DM Sans"/>
              </a:rPr>
              <a:t>9:30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2951480" y="2336800"/>
            <a:ext cx="2019707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F6F8"/>
              </a:buClr>
              <a:buSzPts val="1600"/>
              <a:buFont typeface="DM Sans"/>
              <a:buNone/>
            </a:pPr>
            <a:r>
              <a:rPr lang="en-US" sz="1600" b="1" i="0" u="none" strike="noStrike" cap="none">
                <a:solidFill>
                  <a:srgbClr val="F5F6F8"/>
                </a:solidFill>
                <a:latin typeface="DM Sans"/>
                <a:ea typeface="DM Sans"/>
                <a:cs typeface="DM Sans"/>
                <a:sym typeface="DM Sans"/>
              </a:rPr>
              <a:t>Team check-in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2951480" y="2669541"/>
            <a:ext cx="2019707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AFB8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A9AFB8"/>
                </a:solidFill>
                <a:latin typeface="DM Sans"/>
                <a:ea typeface="DM Sans"/>
                <a:cs typeface="DM Sans"/>
                <a:sym typeface="DM Sans"/>
              </a:rPr>
              <a:t>Post priorities in Slack, update the task board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6"/>
          <p:cNvCxnSpPr/>
          <p:nvPr/>
        </p:nvCxnSpPr>
        <p:spPr>
          <a:xfrm>
            <a:off x="5090160" y="1816100"/>
            <a:ext cx="2011680" cy="0"/>
          </a:xfrm>
          <a:prstGeom prst="straightConnector1">
            <a:avLst/>
          </a:prstGeom>
          <a:noFill/>
          <a:ln w="25400" cap="flat" cmpd="sng">
            <a:solidFill>
              <a:srgbClr val="3B44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0" name="Google Shape;130;p6"/>
          <p:cNvSpPr/>
          <p:nvPr/>
        </p:nvSpPr>
        <p:spPr>
          <a:xfrm>
            <a:off x="5090160" y="1981200"/>
            <a:ext cx="2019707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A8F0"/>
              </a:buClr>
              <a:buSzPts val="1500"/>
              <a:buFont typeface="DM Sans"/>
              <a:buNone/>
            </a:pPr>
            <a:r>
              <a:rPr lang="en-US" sz="1500" b="1" i="0" u="none" strike="noStrike" cap="none">
                <a:solidFill>
                  <a:srgbClr val="7FA8F0"/>
                </a:solidFill>
                <a:latin typeface="DM Sans"/>
                <a:ea typeface="DM Sans"/>
                <a:cs typeface="DM Sans"/>
                <a:sym typeface="DM Sans"/>
              </a:rPr>
              <a:t>10:00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5090160" y="2336800"/>
            <a:ext cx="2019707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F6F8"/>
              </a:buClr>
              <a:buSzPts val="1600"/>
              <a:buFont typeface="DM Sans"/>
              <a:buNone/>
            </a:pPr>
            <a:r>
              <a:rPr lang="en-US" sz="1600" b="1" i="0" u="none" strike="noStrike" cap="none">
                <a:solidFill>
                  <a:srgbClr val="F5F6F8"/>
                </a:solidFill>
                <a:latin typeface="DM Sans"/>
                <a:ea typeface="DM Sans"/>
                <a:cs typeface="DM Sans"/>
                <a:sym typeface="DM Sans"/>
              </a:rPr>
              <a:t>Deep work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090160" y="2669541"/>
            <a:ext cx="2019707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AFB8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A9AFB8"/>
                </a:solidFill>
                <a:latin typeface="DM Sans"/>
                <a:ea typeface="DM Sans"/>
                <a:cs typeface="DM Sans"/>
                <a:sym typeface="DM Sans"/>
              </a:rPr>
              <a:t>Data entry, bookings, travel, research, content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6"/>
          <p:cNvCxnSpPr/>
          <p:nvPr/>
        </p:nvCxnSpPr>
        <p:spPr>
          <a:xfrm>
            <a:off x="7228840" y="1816100"/>
            <a:ext cx="2011680" cy="0"/>
          </a:xfrm>
          <a:prstGeom prst="straightConnector1">
            <a:avLst/>
          </a:prstGeom>
          <a:noFill/>
          <a:ln w="25400" cap="flat" cmpd="sng">
            <a:solidFill>
              <a:srgbClr val="3B44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4" name="Google Shape;134;p6"/>
          <p:cNvSpPr/>
          <p:nvPr/>
        </p:nvSpPr>
        <p:spPr>
          <a:xfrm>
            <a:off x="7228840" y="1981200"/>
            <a:ext cx="2019707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A8F0"/>
              </a:buClr>
              <a:buSzPts val="1500"/>
              <a:buFont typeface="DM Sans"/>
              <a:buNone/>
            </a:pPr>
            <a:r>
              <a:rPr lang="en-US" sz="1500" b="1" i="0" u="none" strike="noStrike" cap="none">
                <a:solidFill>
                  <a:srgbClr val="7FA8F0"/>
                </a:solidFill>
                <a:latin typeface="DM Sans"/>
                <a:ea typeface="DM Sans"/>
                <a:cs typeface="DM Sans"/>
                <a:sym typeface="DM Sans"/>
              </a:rPr>
              <a:t>2:00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7228840" y="2336800"/>
            <a:ext cx="2019707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F6F8"/>
              </a:buClr>
              <a:buSzPts val="1600"/>
              <a:buFont typeface="DM Sans"/>
              <a:buNone/>
            </a:pPr>
            <a:r>
              <a:rPr lang="en-US" sz="1600" b="1" i="0" u="none" strike="noStrike" cap="none">
                <a:solidFill>
                  <a:srgbClr val="F5F6F8"/>
                </a:solidFill>
                <a:latin typeface="DM Sans"/>
                <a:ea typeface="DM Sans"/>
                <a:cs typeface="DM Sans"/>
                <a:sym typeface="DM Sans"/>
              </a:rPr>
              <a:t>Reports and files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7228840" y="2669541"/>
            <a:ext cx="2019707" cy="718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AFB8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A9AFB8"/>
                </a:solidFill>
                <a:latin typeface="DM Sans"/>
                <a:ea typeface="DM Sans"/>
                <a:cs typeface="DM Sans"/>
                <a:sym typeface="DM Sans"/>
              </a:rPr>
              <a:t>Update trackers, file documents, prepare reports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6"/>
          <p:cNvCxnSpPr/>
          <p:nvPr/>
        </p:nvCxnSpPr>
        <p:spPr>
          <a:xfrm>
            <a:off x="9367520" y="1816100"/>
            <a:ext cx="2011680" cy="0"/>
          </a:xfrm>
          <a:prstGeom prst="straightConnector1">
            <a:avLst/>
          </a:prstGeom>
          <a:noFill/>
          <a:ln w="25400" cap="flat" cmpd="sng">
            <a:solidFill>
              <a:srgbClr val="1D5FD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8" name="Google Shape;138;p6"/>
          <p:cNvSpPr/>
          <p:nvPr/>
        </p:nvSpPr>
        <p:spPr>
          <a:xfrm>
            <a:off x="9367520" y="1981200"/>
            <a:ext cx="2019707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A8F0"/>
              </a:buClr>
              <a:buSzPts val="1500"/>
              <a:buFont typeface="DM Sans"/>
              <a:buNone/>
            </a:pPr>
            <a:r>
              <a:rPr lang="en-US" sz="1500" b="1" i="0" u="none" strike="noStrike" cap="none">
                <a:solidFill>
                  <a:srgbClr val="7FA8F0"/>
                </a:solidFill>
                <a:latin typeface="DM Sans"/>
                <a:ea typeface="DM Sans"/>
                <a:cs typeface="DM Sans"/>
                <a:sym typeface="DM Sans"/>
              </a:rPr>
              <a:t>4:30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9367520" y="2336800"/>
            <a:ext cx="2019707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5F6F8"/>
              </a:buClr>
              <a:buSzPts val="1600"/>
              <a:buFont typeface="DM Sans"/>
              <a:buNone/>
            </a:pPr>
            <a:r>
              <a:rPr lang="en-US" sz="1600" b="1" i="0" u="none" strike="noStrike" cap="none">
                <a:solidFill>
                  <a:srgbClr val="F5F6F8"/>
                </a:solidFill>
                <a:latin typeface="DM Sans"/>
                <a:ea typeface="DM Sans"/>
                <a:cs typeface="DM Sans"/>
                <a:sym typeface="DM Sans"/>
              </a:rPr>
              <a:t>End-of-day report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9367520" y="2669541"/>
            <a:ext cx="2019707" cy="718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AFB8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A9AFB8"/>
                </a:solidFill>
                <a:latin typeface="DM Sans"/>
                <a:ea typeface="DM Sans"/>
                <a:cs typeface="DM Sans"/>
                <a:sym typeface="DM Sans"/>
              </a:rPr>
              <a:t>Done, in progress, blockers, plan for tomorrow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812800" y="3718561"/>
            <a:ext cx="9810750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9DF"/>
              </a:buClr>
              <a:buSzPts val="1500"/>
              <a:buFont typeface="DM Sans"/>
              <a:buNone/>
            </a:pPr>
            <a:r>
              <a:rPr lang="en-US" sz="1500" b="0" i="0" u="none" strike="noStrike" cap="none">
                <a:solidFill>
                  <a:srgbClr val="D5D9DF"/>
                </a:solidFill>
                <a:latin typeface="DM Sans"/>
                <a:ea typeface="DM Sans"/>
                <a:cs typeface="DM Sans"/>
                <a:sym typeface="DM Sans"/>
              </a:rPr>
              <a:t>The pattern: </a:t>
            </a:r>
            <a:r>
              <a:rPr lang="en-US" sz="1500" b="1" i="0" u="none" strike="noStrike" cap="none">
                <a:solidFill>
                  <a:srgbClr val="D5D9DF"/>
                </a:solidFill>
                <a:latin typeface="DM Sans"/>
                <a:ea typeface="DM Sans"/>
                <a:cs typeface="DM Sans"/>
                <a:sym typeface="DM Sans"/>
              </a:rPr>
              <a:t>communicate first, focus in the middle, report at the end.</a:t>
            </a:r>
            <a:r>
              <a:rPr lang="en-US" sz="1500" b="0" i="0" u="none" strike="noStrike" cap="none">
                <a:solidFill>
                  <a:srgbClr val="D5D9DF"/>
                </a:solidFill>
                <a:latin typeface="DM Sans"/>
                <a:ea typeface="DM Sans"/>
                <a:cs typeface="DM Sans"/>
                <a:sym typeface="DM Sans"/>
              </a:rPr>
              <a:t> Clients trust a VA they never have to chase.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838E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7C838E"/>
                </a:solidFill>
                <a:latin typeface="DM Sans"/>
                <a:ea typeface="DM Sans"/>
                <a:cs typeface="DM Sans"/>
                <a:sym typeface="DM Sans"/>
              </a:rPr>
              <a:t>Remote VA Toolkit · Start here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/>
          <p:nvPr/>
        </p:nvSpPr>
        <p:spPr>
          <a:xfrm>
            <a:off x="812800" y="6604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01 / 16 · RESPONSIBILITIES AND TOOLS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812800" y="937261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Data Management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812800" y="1447800"/>
            <a:ext cx="10883392" cy="28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DM Sans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Keeping client data accurate, organized and easy to find.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812800" y="1933575"/>
            <a:ext cx="39243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WHAT YOU DO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812800" y="2235836"/>
            <a:ext cx="3924300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Enter data from forms, emails and invoices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Clean duplicates, typos and mixed formats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Keep the CRM and contact lists current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Build trackers with dropdowns and checks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Protect sensitive data and keep backups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978400" y="1933575"/>
            <a:ext cx="65928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MODERN TOOLS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4978400" y="2235836"/>
            <a:ext cx="6400800" cy="2326640"/>
          </a:xfrm>
          <a:prstGeom prst="roundRect">
            <a:avLst>
              <a:gd name="adj" fmla="val 43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4978400" y="2235836"/>
            <a:ext cx="6400800" cy="2326640"/>
          </a:xfrm>
          <a:custGeom>
            <a:avLst/>
            <a:gdLst/>
            <a:ahLst/>
            <a:cxnLst/>
            <a:rect l="l" t="t" r="r" b="b"/>
            <a:pathLst>
              <a:path w="6400800" h="2326640" extrusionOk="0">
                <a:moveTo>
                  <a:pt x="6299200" y="0"/>
                </a:moveTo>
                <a:lnTo>
                  <a:pt x="6299200" y="0"/>
                </a:lnTo>
                <a:cubicBezTo>
                  <a:pt x="6326146" y="0"/>
                  <a:pt x="6351988" y="10704"/>
                  <a:pt x="6371042" y="29758"/>
                </a:cubicBezTo>
                <a:cubicBezTo>
                  <a:pt x="6390096" y="48812"/>
                  <a:pt x="6400800" y="74654"/>
                  <a:pt x="6400800" y="101600"/>
                </a:cubicBezTo>
                <a:lnTo>
                  <a:pt x="6400800" y="2225040"/>
                </a:lnTo>
                <a:cubicBezTo>
                  <a:pt x="6400800" y="2281152"/>
                  <a:pt x="6355312" y="2326640"/>
                  <a:pt x="6299200" y="2326640"/>
                </a:cubicBezTo>
                <a:lnTo>
                  <a:pt x="101600" y="2326640"/>
                </a:lnTo>
                <a:cubicBezTo>
                  <a:pt x="45488" y="2326640"/>
                  <a:pt x="0" y="2281152"/>
                  <a:pt x="0" y="2225040"/>
                </a:cubicBezTo>
                <a:lnTo>
                  <a:pt x="0" y="2225040"/>
                </a:lnTo>
                <a:cubicBezTo>
                  <a:pt x="0" y="2277645"/>
                  <a:pt x="45488" y="2320290"/>
                  <a:pt x="101600" y="2320290"/>
                </a:cubicBezTo>
                <a:lnTo>
                  <a:pt x="6299200" y="2320290"/>
                </a:lnTo>
                <a:cubicBezTo>
                  <a:pt x="6351805" y="2320290"/>
                  <a:pt x="6394450" y="2277645"/>
                  <a:pt x="6394450" y="2225040"/>
                </a:cubicBezTo>
                <a:lnTo>
                  <a:pt x="6394450" y="101600"/>
                </a:lnTo>
                <a:cubicBezTo>
                  <a:pt x="6394450" y="45488"/>
                  <a:pt x="6351805" y="0"/>
                  <a:pt x="6299200" y="0"/>
                </a:cubicBezTo>
                <a:close/>
              </a:path>
            </a:pathLst>
          </a:custGeom>
          <a:solidFill>
            <a:srgbClr val="DDE1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4978400" y="2235836"/>
            <a:ext cx="6400800" cy="2326640"/>
          </a:xfrm>
          <a:custGeom>
            <a:avLst/>
            <a:gdLst/>
            <a:ahLst/>
            <a:cxnLst/>
            <a:rect l="l" t="t" r="r" b="b"/>
            <a:pathLst>
              <a:path w="6400800" h="2326640" extrusionOk="0">
                <a:moveTo>
                  <a:pt x="101600" y="2326640"/>
                </a:moveTo>
                <a:lnTo>
                  <a:pt x="101600" y="2326640"/>
                </a:lnTo>
                <a:cubicBezTo>
                  <a:pt x="45488" y="2326640"/>
                  <a:pt x="0" y="2281152"/>
                  <a:pt x="0" y="2225040"/>
                </a:cubicBezTo>
                <a:lnTo>
                  <a:pt x="0" y="101600"/>
                </a:lnTo>
                <a:cubicBezTo>
                  <a:pt x="0" y="45488"/>
                  <a:pt x="45488" y="0"/>
                  <a:pt x="101600" y="0"/>
                </a:cubicBezTo>
                <a:lnTo>
                  <a:pt x="6299200" y="0"/>
                </a:lnTo>
                <a:cubicBezTo>
                  <a:pt x="6326146" y="0"/>
                  <a:pt x="6351988" y="10704"/>
                  <a:pt x="6371042" y="29758"/>
                </a:cubicBezTo>
                <a:cubicBezTo>
                  <a:pt x="6390096" y="48812"/>
                  <a:pt x="6400800" y="74654"/>
                  <a:pt x="6400800" y="101600"/>
                </a:cubicBezTo>
                <a:lnTo>
                  <a:pt x="6400800" y="101600"/>
                </a:lnTo>
                <a:cubicBezTo>
                  <a:pt x="6400800" y="51099"/>
                  <a:pt x="6355312" y="10160"/>
                  <a:pt x="6299200" y="10160"/>
                </a:cubicBezTo>
                <a:lnTo>
                  <a:pt x="101600" y="10160"/>
                </a:lnTo>
                <a:cubicBezTo>
                  <a:pt x="51099" y="10160"/>
                  <a:pt x="10160" y="51099"/>
                  <a:pt x="10160" y="101600"/>
                </a:cubicBezTo>
                <a:lnTo>
                  <a:pt x="10160" y="2225040"/>
                </a:lnTo>
                <a:cubicBezTo>
                  <a:pt x="10160" y="2281152"/>
                  <a:pt x="51099" y="2326640"/>
                  <a:pt x="101600" y="2326640"/>
                </a:cubicBezTo>
                <a:close/>
              </a:path>
            </a:pathLst>
          </a:custGeom>
          <a:solidFill>
            <a:srgbClr val="141413">
              <a:alpha val="2196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4988560" y="2245996"/>
            <a:ext cx="6385560" cy="330200"/>
          </a:xfrm>
          <a:custGeom>
            <a:avLst/>
            <a:gdLst/>
            <a:ahLst/>
            <a:cxnLst/>
            <a:rect l="l" t="t" r="r" b="b"/>
            <a:pathLst>
              <a:path w="6385560" h="330200" extrusionOk="0">
                <a:moveTo>
                  <a:pt x="0" y="91440"/>
                </a:moveTo>
                <a:cubicBezTo>
                  <a:pt x="0" y="40939"/>
                  <a:pt x="40939" y="0"/>
                  <a:pt x="91440" y="0"/>
                </a:cubicBezTo>
                <a:lnTo>
                  <a:pt x="6289040" y="0"/>
                </a:lnTo>
                <a:cubicBezTo>
                  <a:pt x="6314639" y="0"/>
                  <a:pt x="6339189" y="10169"/>
                  <a:pt x="6357290" y="28270"/>
                </a:cubicBezTo>
                <a:cubicBezTo>
                  <a:pt x="6375391" y="46371"/>
                  <a:pt x="6385560" y="70921"/>
                  <a:pt x="6385560" y="96520"/>
                </a:cubicBezTo>
                <a:lnTo>
                  <a:pt x="6385560" y="330200"/>
                </a:lnTo>
                <a:lnTo>
                  <a:pt x="0" y="330200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58" name="Google Shape;158;p7"/>
          <p:cNvGraphicFramePr/>
          <p:nvPr/>
        </p:nvGraphicFramePr>
        <p:xfrm>
          <a:off x="4988560" y="2245996"/>
          <a:ext cx="6385550" cy="2395995"/>
        </p:xfrm>
        <a:graphic>
          <a:graphicData uri="http://schemas.openxmlformats.org/drawingml/2006/table">
            <a:tbl>
              <a:tblPr>
                <a:noFill/>
                <a:tableStyleId>{537F66EC-7DD4-4156-ACD3-CA23E1461CC9}</a:tableStyleId>
              </a:tblPr>
              <a:tblGrid>
                <a:gridCol w="204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673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5F667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Tool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673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5F667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Use it for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Google Sheets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Shared sheets, formulas, Gemini help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Microsoft Excel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Power Query cleanup, Copilot analysis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Airtable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Spreadsheet-database with forms and views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HubSpot CRM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Free CRM for contacts, deals, follow-ups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Zapier / Make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Move data between apps automatically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Google Forms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Collect clean data at the source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9" name="Google Shape;159;p7"/>
          <p:cNvSpPr/>
          <p:nvPr/>
        </p:nvSpPr>
        <p:spPr>
          <a:xfrm>
            <a:off x="812800" y="4791075"/>
            <a:ext cx="10566400" cy="485140"/>
          </a:xfrm>
          <a:prstGeom prst="roundRect">
            <a:avLst>
              <a:gd name="adj" fmla="val 20942"/>
            </a:avLst>
          </a:prstGeom>
          <a:solidFill>
            <a:srgbClr val="E7EE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990600" y="4918075"/>
            <a:ext cx="10517124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3F8C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63F8C"/>
                </a:solidFill>
                <a:latin typeface="DM Sans"/>
                <a:ea typeface="DM Sans"/>
                <a:cs typeface="DM Sans"/>
                <a:sym typeface="DM Sans"/>
              </a:rPr>
              <a:t>Pro tip:</a:t>
            </a:r>
            <a:r>
              <a:rPr lang="en-US" sz="1300" b="0" i="0" u="none" strike="noStrike" cap="none">
                <a:solidFill>
                  <a:srgbClr val="163F8C"/>
                </a:solidFill>
                <a:latin typeface="DM Sans"/>
                <a:ea typeface="DM Sans"/>
                <a:cs typeface="DM Sans"/>
                <a:sym typeface="DM Sans"/>
              </a:rPr>
              <a:t> use dropdowns and data validation so bad data never gets in, instead of fixing it later.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838E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7C838E"/>
                </a:solidFill>
                <a:latin typeface="DM Sans"/>
                <a:ea typeface="DM Sans"/>
                <a:cs typeface="DM Sans"/>
                <a:sym typeface="DM Sans"/>
              </a:rPr>
              <a:t>Remote VA Toolkit · 01 Data Management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/>
          <p:nvPr/>
        </p:nvSpPr>
        <p:spPr>
          <a:xfrm>
            <a:off x="812800" y="6604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01 / 16 · SAMPLE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812800" y="937261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A client database after cleanup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815975" y="1616075"/>
            <a:ext cx="7156450" cy="3234690"/>
          </a:xfrm>
          <a:prstGeom prst="roundRect">
            <a:avLst>
              <a:gd name="adj" fmla="val 3828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5400000" algn="bl" rotWithShape="0">
              <a:srgbClr val="121417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1021080" y="1846582"/>
            <a:ext cx="578485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Clients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1624965" y="1846582"/>
            <a:ext cx="1904103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· Google Sheets · 248 rows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6695996" y="1821182"/>
            <a:ext cx="1071324" cy="264160"/>
          </a:xfrm>
          <a:prstGeom prst="roundRect">
            <a:avLst>
              <a:gd name="adj" fmla="val 50000"/>
            </a:avLst>
          </a:prstGeom>
          <a:solidFill>
            <a:srgbClr val="E7EE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6797596" y="1846582"/>
            <a:ext cx="9189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3F8C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163F8C"/>
                </a:solidFill>
                <a:latin typeface="DM Sans"/>
                <a:ea typeface="DM Sans"/>
                <a:cs typeface="DM Sans"/>
                <a:sym typeface="DM Sans"/>
              </a:rPr>
              <a:t>Filter: Active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4" name="Google Shape;174;p8"/>
          <p:cNvGraphicFramePr/>
          <p:nvPr/>
        </p:nvGraphicFramePr>
        <p:xfrm>
          <a:off x="1031240" y="2222499"/>
          <a:ext cx="6736075" cy="2053710"/>
        </p:xfrm>
        <a:graphic>
          <a:graphicData uri="http://schemas.openxmlformats.org/drawingml/2006/table">
            <a:tbl>
              <a:tblPr>
                <a:noFill/>
                <a:tableStyleId>{537F66EC-7DD4-4156-ACD3-CA23E1461CC9}</a:tableStyleId>
              </a:tblPr>
              <a:tblGrid>
                <a:gridCol w="80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7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7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ID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Client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Email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Updated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C-1042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Lopez Dental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ana@lopezdental.co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Active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09/22/26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C-1043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North Bay Realty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ops@northbay.co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Active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09/24/26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C-1044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Grace Bakery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hello@gracebakes.co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Paused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09/18/26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C-1045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Summit HVAC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info@summithvac.co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Active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09/26/26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C-1046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Blue Pine Legal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Missing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Check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09/27/26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5" name="Google Shape;175;p8"/>
          <p:cNvSpPr/>
          <p:nvPr/>
        </p:nvSpPr>
        <p:spPr>
          <a:xfrm>
            <a:off x="1021080" y="4330700"/>
            <a:ext cx="1702991" cy="314960"/>
          </a:xfrm>
          <a:prstGeom prst="roundRect">
            <a:avLst>
              <a:gd name="adj" fmla="val 20161"/>
            </a:avLst>
          </a:prstGeom>
          <a:solidFill>
            <a:srgbClr val="F0F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1122680" y="4381500"/>
            <a:ext cx="1550591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18 duplicates merged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2825671" y="4330700"/>
            <a:ext cx="1925241" cy="314960"/>
          </a:xfrm>
          <a:prstGeom prst="roundRect">
            <a:avLst>
              <a:gd name="adj" fmla="val 20161"/>
            </a:avLst>
          </a:prstGeom>
          <a:solidFill>
            <a:srgbClr val="F0F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2927271" y="4381500"/>
            <a:ext cx="177370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6 missing emails flagged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4852511" y="4330700"/>
            <a:ext cx="1129348" cy="314960"/>
          </a:xfrm>
          <a:prstGeom prst="roundRect">
            <a:avLst>
              <a:gd name="adj" fmla="val 20161"/>
            </a:avLst>
          </a:prstGeom>
          <a:solidFill>
            <a:srgbClr val="F0F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4954111" y="4381500"/>
            <a:ext cx="976948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Dates unified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8331200" y="1612900"/>
            <a:ext cx="313944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WHY IT WORKS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8331200" y="1927861"/>
            <a:ext cx="3139440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Every record has a unique ID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Status comes from a dropdown, never typed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Gaps are flagged, not guessed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A cleanup log shows what changed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8331200" y="3469639"/>
            <a:ext cx="313944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 dirty="0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BUILT WITH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8331200" y="3782060"/>
            <a:ext cx="3139440" cy="718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DM Sans"/>
              <a:buNone/>
            </a:pPr>
            <a:r>
              <a:rPr lang="en-US" sz="1300" b="0" i="0" u="none" strike="noStrike" cap="none" dirty="0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Google Sheets, data validation, conditional formatting, remove duplicates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838E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7C838E"/>
                </a:solidFill>
                <a:latin typeface="DM Sans"/>
                <a:ea typeface="DM Sans"/>
                <a:cs typeface="DM Sans"/>
                <a:sym typeface="DM Sans"/>
              </a:rPr>
              <a:t>Remote VA Toolkit · 01 Data Management · Sample data is fictional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/>
          <p:nvPr/>
        </p:nvSpPr>
        <p:spPr>
          <a:xfrm>
            <a:off x="812800" y="6604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02 / 16 · RESPONSIBILITIES AND TOOLS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812800" y="937261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Calendar Management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812800" y="1447800"/>
            <a:ext cx="10883392" cy="28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DM Sans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Guarding the client’s time so the right meetings happen at the right hours.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812800" y="1933575"/>
            <a:ext cx="39243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WHAT YOU DO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812800" y="2235836"/>
            <a:ext cx="3924300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Schedule meetings across time zones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Protect focus time and add buffers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Send invites with agenda and link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Handle reschedules and conflicts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Share a weekly calendar preview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4978400" y="1933575"/>
            <a:ext cx="65928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MODERN TOOLS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4978400" y="2235836"/>
            <a:ext cx="6400800" cy="2326640"/>
          </a:xfrm>
          <a:prstGeom prst="roundRect">
            <a:avLst>
              <a:gd name="adj" fmla="val 43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4978400" y="2235836"/>
            <a:ext cx="6400800" cy="2326640"/>
          </a:xfrm>
          <a:custGeom>
            <a:avLst/>
            <a:gdLst/>
            <a:ahLst/>
            <a:cxnLst/>
            <a:rect l="l" t="t" r="r" b="b"/>
            <a:pathLst>
              <a:path w="6400800" h="2326640" extrusionOk="0">
                <a:moveTo>
                  <a:pt x="6299200" y="0"/>
                </a:moveTo>
                <a:lnTo>
                  <a:pt x="6299200" y="0"/>
                </a:lnTo>
                <a:cubicBezTo>
                  <a:pt x="6326146" y="0"/>
                  <a:pt x="6351988" y="10704"/>
                  <a:pt x="6371042" y="29758"/>
                </a:cubicBezTo>
                <a:cubicBezTo>
                  <a:pt x="6390096" y="48812"/>
                  <a:pt x="6400800" y="74654"/>
                  <a:pt x="6400800" y="101600"/>
                </a:cubicBezTo>
                <a:lnTo>
                  <a:pt x="6400800" y="2225040"/>
                </a:lnTo>
                <a:cubicBezTo>
                  <a:pt x="6400800" y="2281152"/>
                  <a:pt x="6355312" y="2326640"/>
                  <a:pt x="6299200" y="2326640"/>
                </a:cubicBezTo>
                <a:lnTo>
                  <a:pt x="101600" y="2326640"/>
                </a:lnTo>
                <a:cubicBezTo>
                  <a:pt x="45488" y="2326640"/>
                  <a:pt x="0" y="2281152"/>
                  <a:pt x="0" y="2225040"/>
                </a:cubicBezTo>
                <a:lnTo>
                  <a:pt x="0" y="2225040"/>
                </a:lnTo>
                <a:cubicBezTo>
                  <a:pt x="0" y="2277645"/>
                  <a:pt x="45488" y="2320290"/>
                  <a:pt x="101600" y="2320290"/>
                </a:cubicBezTo>
                <a:lnTo>
                  <a:pt x="6299200" y="2320290"/>
                </a:lnTo>
                <a:cubicBezTo>
                  <a:pt x="6351805" y="2320290"/>
                  <a:pt x="6394450" y="2277645"/>
                  <a:pt x="6394450" y="2225040"/>
                </a:cubicBezTo>
                <a:lnTo>
                  <a:pt x="6394450" y="101600"/>
                </a:lnTo>
                <a:cubicBezTo>
                  <a:pt x="6394450" y="45488"/>
                  <a:pt x="6351805" y="0"/>
                  <a:pt x="6299200" y="0"/>
                </a:cubicBezTo>
                <a:close/>
              </a:path>
            </a:pathLst>
          </a:custGeom>
          <a:solidFill>
            <a:srgbClr val="DDE1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4978400" y="2235836"/>
            <a:ext cx="6400800" cy="2326640"/>
          </a:xfrm>
          <a:custGeom>
            <a:avLst/>
            <a:gdLst/>
            <a:ahLst/>
            <a:cxnLst/>
            <a:rect l="l" t="t" r="r" b="b"/>
            <a:pathLst>
              <a:path w="6400800" h="2326640" extrusionOk="0">
                <a:moveTo>
                  <a:pt x="101600" y="2326640"/>
                </a:moveTo>
                <a:lnTo>
                  <a:pt x="101600" y="2326640"/>
                </a:lnTo>
                <a:cubicBezTo>
                  <a:pt x="45488" y="2326640"/>
                  <a:pt x="0" y="2281152"/>
                  <a:pt x="0" y="2225040"/>
                </a:cubicBezTo>
                <a:lnTo>
                  <a:pt x="0" y="101600"/>
                </a:lnTo>
                <a:cubicBezTo>
                  <a:pt x="0" y="45488"/>
                  <a:pt x="45488" y="0"/>
                  <a:pt x="101600" y="0"/>
                </a:cubicBezTo>
                <a:lnTo>
                  <a:pt x="6299200" y="0"/>
                </a:lnTo>
                <a:cubicBezTo>
                  <a:pt x="6326146" y="0"/>
                  <a:pt x="6351988" y="10704"/>
                  <a:pt x="6371042" y="29758"/>
                </a:cubicBezTo>
                <a:cubicBezTo>
                  <a:pt x="6390096" y="48812"/>
                  <a:pt x="6400800" y="74654"/>
                  <a:pt x="6400800" y="101600"/>
                </a:cubicBezTo>
                <a:lnTo>
                  <a:pt x="6400800" y="101600"/>
                </a:lnTo>
                <a:cubicBezTo>
                  <a:pt x="6400800" y="51099"/>
                  <a:pt x="6355312" y="10160"/>
                  <a:pt x="6299200" y="10160"/>
                </a:cubicBezTo>
                <a:lnTo>
                  <a:pt x="101600" y="10160"/>
                </a:lnTo>
                <a:cubicBezTo>
                  <a:pt x="51099" y="10160"/>
                  <a:pt x="10160" y="51099"/>
                  <a:pt x="10160" y="101600"/>
                </a:cubicBezTo>
                <a:lnTo>
                  <a:pt x="10160" y="2225040"/>
                </a:lnTo>
                <a:cubicBezTo>
                  <a:pt x="10160" y="2281152"/>
                  <a:pt x="51099" y="2326640"/>
                  <a:pt x="101600" y="2326640"/>
                </a:cubicBezTo>
                <a:close/>
              </a:path>
            </a:pathLst>
          </a:custGeom>
          <a:solidFill>
            <a:srgbClr val="141413">
              <a:alpha val="2196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4988560" y="2245996"/>
            <a:ext cx="6385560" cy="330200"/>
          </a:xfrm>
          <a:custGeom>
            <a:avLst/>
            <a:gdLst/>
            <a:ahLst/>
            <a:cxnLst/>
            <a:rect l="l" t="t" r="r" b="b"/>
            <a:pathLst>
              <a:path w="6385560" h="330200" extrusionOk="0">
                <a:moveTo>
                  <a:pt x="0" y="91440"/>
                </a:moveTo>
                <a:cubicBezTo>
                  <a:pt x="0" y="40939"/>
                  <a:pt x="40939" y="0"/>
                  <a:pt x="91440" y="0"/>
                </a:cubicBezTo>
                <a:lnTo>
                  <a:pt x="6289040" y="0"/>
                </a:lnTo>
                <a:cubicBezTo>
                  <a:pt x="6314639" y="0"/>
                  <a:pt x="6339189" y="10169"/>
                  <a:pt x="6357290" y="28270"/>
                </a:cubicBezTo>
                <a:cubicBezTo>
                  <a:pt x="6375391" y="46371"/>
                  <a:pt x="6385560" y="70921"/>
                  <a:pt x="6385560" y="96520"/>
                </a:cubicBezTo>
                <a:lnTo>
                  <a:pt x="6385560" y="330200"/>
                </a:lnTo>
                <a:lnTo>
                  <a:pt x="0" y="330200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01" name="Google Shape;201;p9"/>
          <p:cNvGraphicFramePr/>
          <p:nvPr/>
        </p:nvGraphicFramePr>
        <p:xfrm>
          <a:off x="4988560" y="2245996"/>
          <a:ext cx="6385550" cy="2395995"/>
        </p:xfrm>
        <a:graphic>
          <a:graphicData uri="http://schemas.openxmlformats.org/drawingml/2006/table">
            <a:tbl>
              <a:tblPr>
                <a:noFill/>
                <a:tableStyleId>{537F66EC-7DD4-4156-ACD3-CA23E1461CC9}</a:tableStyleId>
              </a:tblPr>
              <a:tblGrid>
                <a:gridCol w="204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673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5F667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Tool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673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5F667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Use it for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Google Calendar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Shared calendars, booking pages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Outlook Calendar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Microsoft 365 teams, Scheduling Assistant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Calendly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Booking links with rules and reminders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Reclaim.ai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time blocking that protects focus time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Motion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that plans tasks into the calendar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World Time Buddy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Compare time zones at a glance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2" name="Google Shape;202;p9"/>
          <p:cNvSpPr/>
          <p:nvPr/>
        </p:nvSpPr>
        <p:spPr>
          <a:xfrm>
            <a:off x="812800" y="4791075"/>
            <a:ext cx="10566400" cy="485140"/>
          </a:xfrm>
          <a:prstGeom prst="roundRect">
            <a:avLst>
              <a:gd name="adj" fmla="val 20942"/>
            </a:avLst>
          </a:prstGeom>
          <a:solidFill>
            <a:srgbClr val="E7EE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990600" y="4918075"/>
            <a:ext cx="10517124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3F8C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63F8C"/>
                </a:solidFill>
                <a:latin typeface="DM Sans"/>
                <a:ea typeface="DM Sans"/>
                <a:cs typeface="DM Sans"/>
                <a:sym typeface="DM Sans"/>
              </a:rPr>
              <a:t>Pro tip:</a:t>
            </a:r>
            <a:r>
              <a:rPr lang="en-US" sz="1300" b="0" i="0" u="none" strike="noStrike" cap="none">
                <a:solidFill>
                  <a:srgbClr val="163F8C"/>
                </a:solidFill>
                <a:latin typeface="DM Sans"/>
                <a:ea typeface="DM Sans"/>
                <a:cs typeface="DM Sans"/>
                <a:sym typeface="DM Sans"/>
              </a:rPr>
              <a:t> always write the time zone in every invite and message, for example 9:00 AM EST / 10:00 PM PHT.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838E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7C838E"/>
                </a:solidFill>
                <a:latin typeface="DM Sans"/>
                <a:ea typeface="DM Sans"/>
                <a:cs typeface="DM Sans"/>
                <a:sym typeface="DM Sans"/>
              </a:rPr>
              <a:t>Remote VA Toolkit · 02 Calendar Management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/>
          <p:nvPr/>
        </p:nvSpPr>
        <p:spPr>
          <a:xfrm>
            <a:off x="812800" y="6604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02 / 16 · SAMPLE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812800" y="937261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A protected executive week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815975" y="1616075"/>
            <a:ext cx="7156450" cy="2343150"/>
          </a:xfrm>
          <a:prstGeom prst="roundRect">
            <a:avLst>
              <a:gd name="adj" fmla="val 5285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5400000" algn="bl" rotWithShape="0">
              <a:srgbClr val="121417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995680" y="1795782"/>
            <a:ext cx="1349216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Mon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995680" y="2059939"/>
            <a:ext cx="1298416" cy="325120"/>
          </a:xfrm>
          <a:prstGeom prst="roundRect">
            <a:avLst>
              <a:gd name="adj" fmla="val 19531"/>
            </a:avLst>
          </a:prstGeom>
          <a:solidFill>
            <a:srgbClr val="1D5FD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1059180" y="2123439"/>
            <a:ext cx="1222216" cy="22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9:00 Team sync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1002030" y="2442211"/>
            <a:ext cx="1285716" cy="281940"/>
          </a:xfrm>
          <a:prstGeom prst="roundRect">
            <a:avLst>
              <a:gd name="adj" fmla="val 20270"/>
            </a:avLst>
          </a:prstGeom>
          <a:noFill/>
          <a:ln w="12700" cap="flat" cmpd="sng">
            <a:solidFill>
              <a:srgbClr val="C3C8CF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1069340" y="2484121"/>
            <a:ext cx="1201896" cy="22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Buffer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995680" y="2781300"/>
            <a:ext cx="1298416" cy="523240"/>
          </a:xfrm>
          <a:prstGeom prst="roundRect">
            <a:avLst>
              <a:gd name="adj" fmla="val 12136"/>
            </a:avLst>
          </a:prstGeom>
          <a:solidFill>
            <a:srgbClr val="DCE3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1059180" y="2844800"/>
            <a:ext cx="1222216" cy="42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10:30 Focus: budget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995680" y="3355339"/>
            <a:ext cx="1298416" cy="325120"/>
          </a:xfrm>
          <a:prstGeom prst="roundRect">
            <a:avLst>
              <a:gd name="adj" fmla="val 19531"/>
            </a:avLst>
          </a:prstGeom>
          <a:solidFill>
            <a:srgbClr val="1D5FD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1059180" y="3418839"/>
            <a:ext cx="1222216" cy="22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2:00 Client call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2370296" y="1795782"/>
            <a:ext cx="1349216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Tue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2370296" y="2059939"/>
            <a:ext cx="1298416" cy="523240"/>
          </a:xfrm>
          <a:prstGeom prst="roundRect">
            <a:avLst>
              <a:gd name="adj" fmla="val 12136"/>
            </a:avLst>
          </a:prstGeom>
          <a:solidFill>
            <a:srgbClr val="DCE3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2433796" y="2123439"/>
            <a:ext cx="1222216" cy="42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9:00 Focus: proposal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2370296" y="2633982"/>
            <a:ext cx="1298416" cy="523240"/>
          </a:xfrm>
          <a:prstGeom prst="roundRect">
            <a:avLst>
              <a:gd name="adj" fmla="val 12136"/>
            </a:avLst>
          </a:prstGeom>
          <a:solidFill>
            <a:srgbClr val="1D5FD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2433796" y="2697482"/>
            <a:ext cx="1222216" cy="42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1:00 Vendor meeting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2376646" y="3214371"/>
            <a:ext cx="1285716" cy="281940"/>
          </a:xfrm>
          <a:prstGeom prst="roundRect">
            <a:avLst>
              <a:gd name="adj" fmla="val 20270"/>
            </a:avLst>
          </a:prstGeom>
          <a:noFill/>
          <a:ln w="12700" cap="flat" cmpd="sng">
            <a:solidFill>
              <a:srgbClr val="C3C8CF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2443956" y="3256281"/>
            <a:ext cx="1201896" cy="22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Buffer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3744912" y="1795782"/>
            <a:ext cx="1349296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Wed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3744912" y="2059939"/>
            <a:ext cx="1298496" cy="325120"/>
          </a:xfrm>
          <a:prstGeom prst="roundRect">
            <a:avLst>
              <a:gd name="adj" fmla="val 19531"/>
            </a:avLst>
          </a:prstGeom>
          <a:solidFill>
            <a:srgbClr val="1214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3808413" y="2123439"/>
            <a:ext cx="1222296" cy="22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7:40 Flight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3744912" y="2435861"/>
            <a:ext cx="1298496" cy="325120"/>
          </a:xfrm>
          <a:prstGeom prst="roundRect">
            <a:avLst>
              <a:gd name="adj" fmla="val 19531"/>
            </a:avLst>
          </a:prstGeom>
          <a:solidFill>
            <a:srgbClr val="1D5FD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3808413" y="2499361"/>
            <a:ext cx="1222296" cy="22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11:00 Site visit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5119608" y="1795782"/>
            <a:ext cx="1349216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Thu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5119608" y="2059939"/>
            <a:ext cx="1298416" cy="325120"/>
          </a:xfrm>
          <a:prstGeom prst="roundRect">
            <a:avLst>
              <a:gd name="adj" fmla="val 19531"/>
            </a:avLst>
          </a:prstGeom>
          <a:solidFill>
            <a:srgbClr val="1D5FD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5183108" y="2123439"/>
            <a:ext cx="1222216" cy="22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9:00 Team sync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5119608" y="2435861"/>
            <a:ext cx="1298416" cy="523240"/>
          </a:xfrm>
          <a:prstGeom prst="roundRect">
            <a:avLst>
              <a:gd name="adj" fmla="val 12136"/>
            </a:avLst>
          </a:prstGeom>
          <a:solidFill>
            <a:srgbClr val="DCE3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5183108" y="2499361"/>
            <a:ext cx="1222216" cy="42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10:00 Focus: report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5119608" y="3009900"/>
            <a:ext cx="1298416" cy="325120"/>
          </a:xfrm>
          <a:prstGeom prst="roundRect">
            <a:avLst>
              <a:gd name="adj" fmla="val 19531"/>
            </a:avLst>
          </a:prstGeom>
          <a:solidFill>
            <a:srgbClr val="1D5FD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5183108" y="3073400"/>
            <a:ext cx="1222216" cy="22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3:00 Sign-offs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6494225" y="1795782"/>
            <a:ext cx="1349296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Fri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6494225" y="2059939"/>
            <a:ext cx="1298496" cy="325120"/>
          </a:xfrm>
          <a:prstGeom prst="roundRect">
            <a:avLst>
              <a:gd name="adj" fmla="val 19531"/>
            </a:avLst>
          </a:prstGeom>
          <a:solidFill>
            <a:srgbClr val="1D5FD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6557725" y="2123439"/>
            <a:ext cx="1222296" cy="22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9:00 Metrics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6494225" y="2435861"/>
            <a:ext cx="1298496" cy="523240"/>
          </a:xfrm>
          <a:prstGeom prst="roundRect">
            <a:avLst>
              <a:gd name="adj" fmla="val 12136"/>
            </a:avLst>
          </a:prstGeom>
          <a:solidFill>
            <a:srgbClr val="DCE3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6557725" y="2499361"/>
            <a:ext cx="1222296" cy="42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3:00 Week wrap-up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8331200" y="1612900"/>
            <a:ext cx="313944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LEGEND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8331200" y="1927861"/>
            <a:ext cx="3139440" cy="9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98120" marR="0" lvl="0" indent="-162306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Char char="•"/>
            </a:pPr>
            <a:r>
              <a:rPr lang="en-US" sz="13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Blue</a:t>
            </a:r>
            <a:r>
              <a:rPr lang="en-US" sz="13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: meetings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8120" marR="0" lvl="0" indent="-162306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Char char="•"/>
            </a:pPr>
            <a:r>
              <a:rPr lang="en-US" sz="13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Gray</a:t>
            </a:r>
            <a:r>
              <a:rPr lang="en-US" sz="13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: protected focus time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8120" marR="0" lvl="0" indent="-162306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Char char="•"/>
            </a:pPr>
            <a:r>
              <a:rPr lang="en-US" sz="13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Black</a:t>
            </a:r>
            <a:r>
              <a:rPr lang="en-US" sz="13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: travel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8120" marR="0" lvl="0" indent="-162306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Char char="•"/>
            </a:pPr>
            <a:r>
              <a:rPr lang="en-US" sz="13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Dashed: 15-minute buffer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8331200" y="3096260"/>
            <a:ext cx="313944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 dirty="0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WHY IT WORKS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8331200" y="3429000"/>
            <a:ext cx="3139440" cy="718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DM Sans"/>
              <a:buNone/>
            </a:pPr>
            <a:r>
              <a:rPr lang="en-US" sz="1300" b="0" i="0" u="none" strike="noStrike" cap="none" dirty="0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Focus time is booked like a meeting, calls never run back to back, and Friday previews next week.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838E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7C838E"/>
                </a:solidFill>
                <a:latin typeface="DM Sans"/>
                <a:ea typeface="DM Sans"/>
                <a:cs typeface="DM Sans"/>
                <a:sym typeface="DM Sans"/>
              </a:rPr>
              <a:t>Remote VA Toolkit · 02 Calendar Management · Sample data is fictional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"/>
          <p:cNvSpPr/>
          <p:nvPr/>
        </p:nvSpPr>
        <p:spPr>
          <a:xfrm>
            <a:off x="812800" y="6604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03 / 16 · RESPONSIBILITIES AND TOOLS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812800" y="937264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Email Management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812800" y="1447800"/>
            <a:ext cx="10883392" cy="28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DM Sans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A clear, answered inbox where nothing important slips through.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812800" y="1933575"/>
            <a:ext cx="39243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WHAT YOU DO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812800" y="2235839"/>
            <a:ext cx="3924300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Sort mail with labels, folders and filters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Reply fast using saved templates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Flag urgent items and track follow-ups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Unsubscribe and archive the clutter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Send the client a daily inbox summary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4978400" y="1933575"/>
            <a:ext cx="65928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MODERN TOOLS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4978400" y="2235839"/>
            <a:ext cx="6400800" cy="2326640"/>
          </a:xfrm>
          <a:prstGeom prst="roundRect">
            <a:avLst>
              <a:gd name="adj" fmla="val 43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4978400" y="2235839"/>
            <a:ext cx="6400800" cy="2326640"/>
          </a:xfrm>
          <a:custGeom>
            <a:avLst/>
            <a:gdLst/>
            <a:ahLst/>
            <a:cxnLst/>
            <a:rect l="l" t="t" r="r" b="b"/>
            <a:pathLst>
              <a:path w="6400800" h="2326640" extrusionOk="0">
                <a:moveTo>
                  <a:pt x="6299200" y="0"/>
                </a:moveTo>
                <a:lnTo>
                  <a:pt x="6299200" y="0"/>
                </a:lnTo>
                <a:cubicBezTo>
                  <a:pt x="6326146" y="0"/>
                  <a:pt x="6351988" y="10704"/>
                  <a:pt x="6371042" y="29758"/>
                </a:cubicBezTo>
                <a:cubicBezTo>
                  <a:pt x="6390096" y="48812"/>
                  <a:pt x="6400800" y="74654"/>
                  <a:pt x="6400800" y="101600"/>
                </a:cubicBezTo>
                <a:lnTo>
                  <a:pt x="6400800" y="2225040"/>
                </a:lnTo>
                <a:cubicBezTo>
                  <a:pt x="6400800" y="2281152"/>
                  <a:pt x="6355312" y="2326640"/>
                  <a:pt x="6299200" y="2326640"/>
                </a:cubicBezTo>
                <a:lnTo>
                  <a:pt x="101600" y="2326640"/>
                </a:lnTo>
                <a:cubicBezTo>
                  <a:pt x="45488" y="2326640"/>
                  <a:pt x="0" y="2281152"/>
                  <a:pt x="0" y="2225040"/>
                </a:cubicBezTo>
                <a:lnTo>
                  <a:pt x="0" y="2225040"/>
                </a:lnTo>
                <a:cubicBezTo>
                  <a:pt x="0" y="2277645"/>
                  <a:pt x="45488" y="2320290"/>
                  <a:pt x="101600" y="2320290"/>
                </a:cubicBezTo>
                <a:lnTo>
                  <a:pt x="6299200" y="2320290"/>
                </a:lnTo>
                <a:cubicBezTo>
                  <a:pt x="6351805" y="2320290"/>
                  <a:pt x="6394450" y="2277645"/>
                  <a:pt x="6394450" y="2225040"/>
                </a:cubicBezTo>
                <a:lnTo>
                  <a:pt x="6394450" y="101600"/>
                </a:lnTo>
                <a:cubicBezTo>
                  <a:pt x="6394450" y="45488"/>
                  <a:pt x="6351805" y="0"/>
                  <a:pt x="6299200" y="0"/>
                </a:cubicBezTo>
                <a:close/>
              </a:path>
            </a:pathLst>
          </a:custGeom>
          <a:solidFill>
            <a:srgbClr val="DDE1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4978400" y="2235839"/>
            <a:ext cx="6400800" cy="2326640"/>
          </a:xfrm>
          <a:custGeom>
            <a:avLst/>
            <a:gdLst/>
            <a:ahLst/>
            <a:cxnLst/>
            <a:rect l="l" t="t" r="r" b="b"/>
            <a:pathLst>
              <a:path w="6400800" h="2326640" extrusionOk="0">
                <a:moveTo>
                  <a:pt x="101600" y="2326640"/>
                </a:moveTo>
                <a:lnTo>
                  <a:pt x="101600" y="2326640"/>
                </a:lnTo>
                <a:cubicBezTo>
                  <a:pt x="45488" y="2326640"/>
                  <a:pt x="0" y="2281152"/>
                  <a:pt x="0" y="2225040"/>
                </a:cubicBezTo>
                <a:lnTo>
                  <a:pt x="0" y="101600"/>
                </a:lnTo>
                <a:cubicBezTo>
                  <a:pt x="0" y="45488"/>
                  <a:pt x="45488" y="0"/>
                  <a:pt x="101600" y="0"/>
                </a:cubicBezTo>
                <a:lnTo>
                  <a:pt x="6299200" y="0"/>
                </a:lnTo>
                <a:cubicBezTo>
                  <a:pt x="6326146" y="0"/>
                  <a:pt x="6351988" y="10704"/>
                  <a:pt x="6371042" y="29758"/>
                </a:cubicBezTo>
                <a:cubicBezTo>
                  <a:pt x="6390096" y="48812"/>
                  <a:pt x="6400800" y="74654"/>
                  <a:pt x="6400800" y="101600"/>
                </a:cubicBezTo>
                <a:lnTo>
                  <a:pt x="6400800" y="101600"/>
                </a:lnTo>
                <a:cubicBezTo>
                  <a:pt x="6400800" y="51099"/>
                  <a:pt x="6355312" y="10160"/>
                  <a:pt x="6299200" y="10160"/>
                </a:cubicBezTo>
                <a:lnTo>
                  <a:pt x="101600" y="10160"/>
                </a:lnTo>
                <a:cubicBezTo>
                  <a:pt x="51099" y="10160"/>
                  <a:pt x="10160" y="51099"/>
                  <a:pt x="10160" y="101600"/>
                </a:cubicBezTo>
                <a:lnTo>
                  <a:pt x="10160" y="2225040"/>
                </a:lnTo>
                <a:cubicBezTo>
                  <a:pt x="10160" y="2281152"/>
                  <a:pt x="51099" y="2326640"/>
                  <a:pt x="101600" y="2326640"/>
                </a:cubicBezTo>
                <a:close/>
              </a:path>
            </a:pathLst>
          </a:custGeom>
          <a:solidFill>
            <a:srgbClr val="141413">
              <a:alpha val="2196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4988560" y="2245999"/>
            <a:ext cx="6385560" cy="330200"/>
          </a:xfrm>
          <a:custGeom>
            <a:avLst/>
            <a:gdLst/>
            <a:ahLst/>
            <a:cxnLst/>
            <a:rect l="l" t="t" r="r" b="b"/>
            <a:pathLst>
              <a:path w="6385560" h="330200" extrusionOk="0">
                <a:moveTo>
                  <a:pt x="0" y="91440"/>
                </a:moveTo>
                <a:cubicBezTo>
                  <a:pt x="0" y="40939"/>
                  <a:pt x="40939" y="0"/>
                  <a:pt x="91440" y="0"/>
                </a:cubicBezTo>
                <a:lnTo>
                  <a:pt x="6289040" y="0"/>
                </a:lnTo>
                <a:cubicBezTo>
                  <a:pt x="6314639" y="0"/>
                  <a:pt x="6339189" y="10169"/>
                  <a:pt x="6357290" y="28270"/>
                </a:cubicBezTo>
                <a:cubicBezTo>
                  <a:pt x="6375391" y="46371"/>
                  <a:pt x="6385560" y="70921"/>
                  <a:pt x="6385560" y="96520"/>
                </a:cubicBezTo>
                <a:lnTo>
                  <a:pt x="6385560" y="330200"/>
                </a:lnTo>
                <a:lnTo>
                  <a:pt x="0" y="330200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66" name="Google Shape;266;p11"/>
          <p:cNvGraphicFramePr/>
          <p:nvPr/>
        </p:nvGraphicFramePr>
        <p:xfrm>
          <a:off x="4988560" y="2245999"/>
          <a:ext cx="6385550" cy="2395995"/>
        </p:xfrm>
        <a:graphic>
          <a:graphicData uri="http://schemas.openxmlformats.org/drawingml/2006/table">
            <a:tbl>
              <a:tblPr>
                <a:noFill/>
                <a:tableStyleId>{537F66EC-7DD4-4156-ACD3-CA23E1461CC9}</a:tableStyleId>
              </a:tblPr>
              <a:tblGrid>
                <a:gridCol w="204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673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5F667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Tool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673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5F667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Use it for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Gmail + Gemini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Labels, templates, AI summaries and drafts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Outlook + Copilot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Rules, Focused Inbox, AI drafting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Superhuman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Fast AI inbox for heavy email users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SaneBox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Moves low-priority mail out of the way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Front / Help Scout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Shared team inboxes with assignments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Grammarly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Tone, clarity and grammar checks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7" name="Google Shape;267;p11"/>
          <p:cNvSpPr/>
          <p:nvPr/>
        </p:nvSpPr>
        <p:spPr>
          <a:xfrm>
            <a:off x="812800" y="4791075"/>
            <a:ext cx="10566400" cy="485140"/>
          </a:xfrm>
          <a:prstGeom prst="roundRect">
            <a:avLst>
              <a:gd name="adj" fmla="val 20942"/>
            </a:avLst>
          </a:prstGeom>
          <a:solidFill>
            <a:srgbClr val="E7EE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990600" y="4918075"/>
            <a:ext cx="10517124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3F8C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63F8C"/>
                </a:solidFill>
                <a:latin typeface="DM Sans"/>
                <a:ea typeface="DM Sans"/>
                <a:cs typeface="DM Sans"/>
                <a:sym typeface="DM Sans"/>
              </a:rPr>
              <a:t>Pro tip:</a:t>
            </a:r>
            <a:r>
              <a:rPr lang="en-US" sz="1300" b="0" i="0" u="none" strike="noStrike" cap="none">
                <a:solidFill>
                  <a:srgbClr val="163F8C"/>
                </a:solidFill>
                <a:latin typeface="DM Sans"/>
                <a:ea typeface="DM Sans"/>
                <a:cs typeface="DM Sans"/>
                <a:sym typeface="DM Sans"/>
              </a:rPr>
              <a:t> check email at set times, such as 8:30, 12:30 and 4:30, instead of all day. Replies get faster, not slower.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838E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7C838E"/>
                </a:solidFill>
                <a:latin typeface="DM Sans"/>
                <a:ea typeface="DM Sans"/>
                <a:cs typeface="DM Sans"/>
                <a:sym typeface="DM Sans"/>
              </a:rPr>
              <a:t>Remote VA Toolkit · 03 Email Management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"/>
          <p:cNvSpPr/>
          <p:nvPr/>
        </p:nvSpPr>
        <p:spPr>
          <a:xfrm>
            <a:off x="812800" y="6604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03 / 16 · SAMPLE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812800" y="937264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A label system and a reply template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815975" y="1616075"/>
            <a:ext cx="3549650" cy="3161030"/>
          </a:xfrm>
          <a:prstGeom prst="roundRect">
            <a:avLst>
              <a:gd name="adj" fmla="val 3917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5400000" algn="bl" rotWithShape="0">
              <a:srgbClr val="121417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2"/>
          <p:cNvSpPr/>
          <p:nvPr/>
        </p:nvSpPr>
        <p:spPr>
          <a:xfrm>
            <a:off x="1021080" y="1821179"/>
            <a:ext cx="3233623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LABELS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1021080" y="2123442"/>
            <a:ext cx="3139440" cy="358140"/>
          </a:xfrm>
          <a:prstGeom prst="roundRect">
            <a:avLst>
              <a:gd name="adj" fmla="val 17730"/>
            </a:avLst>
          </a:prstGeom>
          <a:solidFill>
            <a:srgbClr val="E7EE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1122680" y="2186942"/>
            <a:ext cx="797957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3F8C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63F8C"/>
                </a:solidFill>
                <a:latin typeface="DM Sans"/>
                <a:ea typeface="DM Sans"/>
                <a:cs typeface="DM Sans"/>
                <a:sym typeface="DM Sans"/>
              </a:rPr>
              <a:t>01 Action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3222784" y="2186942"/>
            <a:ext cx="886936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3F8C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163F8C"/>
                </a:solidFill>
                <a:latin typeface="DM Sans"/>
                <a:ea typeface="DM Sans"/>
                <a:cs typeface="DM Sans"/>
                <a:sym typeface="DM Sans"/>
              </a:rPr>
              <a:t>Reply today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1021080" y="2570479"/>
            <a:ext cx="3139440" cy="358140"/>
          </a:xfrm>
          <a:prstGeom prst="roundRect">
            <a:avLst>
              <a:gd name="adj" fmla="val 17730"/>
            </a:avLst>
          </a:prstGeom>
          <a:solidFill>
            <a:srgbClr val="F0F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2"/>
          <p:cNvSpPr/>
          <p:nvPr/>
        </p:nvSpPr>
        <p:spPr>
          <a:xfrm>
            <a:off x="1122680" y="2633979"/>
            <a:ext cx="917893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02 Waiting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2682558" y="2633979"/>
            <a:ext cx="1427163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Sent, awaiting reply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1021080" y="3017521"/>
            <a:ext cx="3139440" cy="358140"/>
          </a:xfrm>
          <a:prstGeom prst="roundRect">
            <a:avLst>
              <a:gd name="adj" fmla="val 17730"/>
            </a:avLst>
          </a:prstGeom>
          <a:solidFill>
            <a:srgbClr val="F0F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1122680" y="3081021"/>
            <a:ext cx="1124029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03 Read later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3222546" y="3081021"/>
            <a:ext cx="887174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Newsletters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1021080" y="3464564"/>
            <a:ext cx="3139440" cy="358140"/>
          </a:xfrm>
          <a:prstGeom prst="roundRect">
            <a:avLst>
              <a:gd name="adj" fmla="val 17730"/>
            </a:avLst>
          </a:prstGeom>
          <a:solidFill>
            <a:srgbClr val="F0F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1122680" y="3528064"/>
            <a:ext cx="1136253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04 Reference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2977594" y="3528064"/>
            <a:ext cx="1132126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Keep, no action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1021080" y="3911600"/>
            <a:ext cx="3139440" cy="358140"/>
          </a:xfrm>
          <a:prstGeom prst="roundRect">
            <a:avLst>
              <a:gd name="adj" fmla="val 17730"/>
            </a:avLst>
          </a:prstGeom>
          <a:solidFill>
            <a:srgbClr val="F0F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2"/>
          <p:cNvSpPr/>
          <p:nvPr/>
        </p:nvSpPr>
        <p:spPr>
          <a:xfrm>
            <a:off x="1122680" y="3975100"/>
            <a:ext cx="1015682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05 Receipts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2776776" y="3975100"/>
            <a:ext cx="1332944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Invoices, bookings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1021080" y="4358642"/>
            <a:ext cx="3233623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Numbers keep labels in priority order.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4575175" y="1616075"/>
            <a:ext cx="6800850" cy="3161030"/>
          </a:xfrm>
          <a:prstGeom prst="roundRect">
            <a:avLst>
              <a:gd name="adj" fmla="val 3917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5400000" algn="bl" rotWithShape="0">
              <a:srgbClr val="121417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2"/>
          <p:cNvSpPr/>
          <p:nvPr/>
        </p:nvSpPr>
        <p:spPr>
          <a:xfrm>
            <a:off x="4780280" y="1821179"/>
            <a:ext cx="6582359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TEMPLATE: MEETING REQUEST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4780280" y="2123442"/>
            <a:ext cx="6582359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Subject: </a:t>
            </a:r>
            <a:r>
              <a:rPr lang="en-US" sz="13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Re: Meeting with [Name]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8" name="Google Shape;298;p12" descr="line"/>
          <p:cNvPicPr preferRelativeResize="0"/>
          <p:nvPr/>
        </p:nvPicPr>
        <p:blipFill rotWithShape="1">
          <a:blip r:embed="rId3">
            <a:alphaModFix/>
          </a:blip>
          <a:srcRect l="-12525" r="-12525"/>
          <a:stretch/>
        </p:blipFill>
        <p:spPr>
          <a:xfrm>
            <a:off x="4780280" y="2443479"/>
            <a:ext cx="6390640" cy="1016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2"/>
          <p:cNvSpPr/>
          <p:nvPr/>
        </p:nvSpPr>
        <p:spPr>
          <a:xfrm>
            <a:off x="4780280" y="2542542"/>
            <a:ext cx="6582359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Hi [Name],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4780280" y="2879092"/>
            <a:ext cx="6582359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Thank you for reaching out. [Client] is available on </a:t>
            </a:r>
            <a:r>
              <a:rPr lang="en-US" sz="1300" b="0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[Tue, Oct 6 at 10:00 AM EST]</a:t>
            </a:r>
            <a:r>
              <a:rPr lang="en-US" sz="13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 or </a:t>
            </a:r>
            <a:r>
              <a:rPr lang="en-US" sz="1300" b="0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[Wed, Oct 7 at 2:00 PM EST]</a:t>
            </a:r>
            <a:r>
              <a:rPr lang="en-US" sz="13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. Which works best for you? I will send the invite once you confirm.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4780280" y="3710942"/>
            <a:ext cx="6582359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Best regards,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[Your name], Assistant to [Client]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838E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7C838E"/>
                </a:solidFill>
                <a:latin typeface="DM Sans"/>
                <a:ea typeface="DM Sans"/>
                <a:cs typeface="DM Sans"/>
                <a:sym typeface="DM Sans"/>
              </a:rPr>
              <a:t>Remote VA Toolkit · 03 Email Management · Built with Gmail labels, filters and templates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3"/>
          <p:cNvSpPr/>
          <p:nvPr/>
        </p:nvSpPr>
        <p:spPr>
          <a:xfrm>
            <a:off x="812800" y="6604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04 / 16 · RESPONSIBILITIES AND TOOLS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812800" y="937264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Operations Reports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812800" y="1447800"/>
            <a:ext cx="10883392" cy="28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DM Sans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Turning daily activity into numbers a manager can act on.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812800" y="1933575"/>
            <a:ext cx="39243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WHAT YOU DO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812800" y="2235839"/>
            <a:ext cx="3924300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Pull data from sales, support and orders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Track KPIs against weekly targets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Keep a live dashboard up to date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Summarize wins, issues and next steps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Send reports on a fixed schedule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4978400" y="1933575"/>
            <a:ext cx="65928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MODERN TOOLS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4978400" y="2235839"/>
            <a:ext cx="6400800" cy="2326640"/>
          </a:xfrm>
          <a:prstGeom prst="roundRect">
            <a:avLst>
              <a:gd name="adj" fmla="val 43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3"/>
          <p:cNvSpPr/>
          <p:nvPr/>
        </p:nvSpPr>
        <p:spPr>
          <a:xfrm>
            <a:off x="4978400" y="2235839"/>
            <a:ext cx="6400800" cy="2326640"/>
          </a:xfrm>
          <a:custGeom>
            <a:avLst/>
            <a:gdLst/>
            <a:ahLst/>
            <a:cxnLst/>
            <a:rect l="l" t="t" r="r" b="b"/>
            <a:pathLst>
              <a:path w="6400800" h="2326640" extrusionOk="0">
                <a:moveTo>
                  <a:pt x="6299200" y="0"/>
                </a:moveTo>
                <a:lnTo>
                  <a:pt x="6299200" y="0"/>
                </a:lnTo>
                <a:cubicBezTo>
                  <a:pt x="6326146" y="0"/>
                  <a:pt x="6351988" y="10704"/>
                  <a:pt x="6371042" y="29758"/>
                </a:cubicBezTo>
                <a:cubicBezTo>
                  <a:pt x="6390096" y="48812"/>
                  <a:pt x="6400800" y="74654"/>
                  <a:pt x="6400800" y="101600"/>
                </a:cubicBezTo>
                <a:lnTo>
                  <a:pt x="6400800" y="2225040"/>
                </a:lnTo>
                <a:cubicBezTo>
                  <a:pt x="6400800" y="2281152"/>
                  <a:pt x="6355312" y="2326640"/>
                  <a:pt x="6299200" y="2326640"/>
                </a:cubicBezTo>
                <a:lnTo>
                  <a:pt x="101600" y="2326640"/>
                </a:lnTo>
                <a:cubicBezTo>
                  <a:pt x="45488" y="2326640"/>
                  <a:pt x="0" y="2281152"/>
                  <a:pt x="0" y="2225040"/>
                </a:cubicBezTo>
                <a:lnTo>
                  <a:pt x="0" y="2225040"/>
                </a:lnTo>
                <a:cubicBezTo>
                  <a:pt x="0" y="2277645"/>
                  <a:pt x="45488" y="2320290"/>
                  <a:pt x="101600" y="2320290"/>
                </a:cubicBezTo>
                <a:lnTo>
                  <a:pt x="6299200" y="2320290"/>
                </a:lnTo>
                <a:cubicBezTo>
                  <a:pt x="6351805" y="2320290"/>
                  <a:pt x="6394450" y="2277645"/>
                  <a:pt x="6394450" y="2225040"/>
                </a:cubicBezTo>
                <a:lnTo>
                  <a:pt x="6394450" y="101600"/>
                </a:lnTo>
                <a:cubicBezTo>
                  <a:pt x="6394450" y="45488"/>
                  <a:pt x="6351805" y="0"/>
                  <a:pt x="6299200" y="0"/>
                </a:cubicBezTo>
                <a:close/>
              </a:path>
            </a:pathLst>
          </a:custGeom>
          <a:solidFill>
            <a:srgbClr val="DDE1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3"/>
          <p:cNvSpPr/>
          <p:nvPr/>
        </p:nvSpPr>
        <p:spPr>
          <a:xfrm>
            <a:off x="4978400" y="2235839"/>
            <a:ext cx="6400800" cy="2326640"/>
          </a:xfrm>
          <a:custGeom>
            <a:avLst/>
            <a:gdLst/>
            <a:ahLst/>
            <a:cxnLst/>
            <a:rect l="l" t="t" r="r" b="b"/>
            <a:pathLst>
              <a:path w="6400800" h="2326640" extrusionOk="0">
                <a:moveTo>
                  <a:pt x="101600" y="2326640"/>
                </a:moveTo>
                <a:lnTo>
                  <a:pt x="101600" y="2326640"/>
                </a:lnTo>
                <a:cubicBezTo>
                  <a:pt x="45488" y="2326640"/>
                  <a:pt x="0" y="2281152"/>
                  <a:pt x="0" y="2225040"/>
                </a:cubicBezTo>
                <a:lnTo>
                  <a:pt x="0" y="101600"/>
                </a:lnTo>
                <a:cubicBezTo>
                  <a:pt x="0" y="45488"/>
                  <a:pt x="45488" y="0"/>
                  <a:pt x="101600" y="0"/>
                </a:cubicBezTo>
                <a:lnTo>
                  <a:pt x="6299200" y="0"/>
                </a:lnTo>
                <a:cubicBezTo>
                  <a:pt x="6326146" y="0"/>
                  <a:pt x="6351988" y="10704"/>
                  <a:pt x="6371042" y="29758"/>
                </a:cubicBezTo>
                <a:cubicBezTo>
                  <a:pt x="6390096" y="48812"/>
                  <a:pt x="6400800" y="74654"/>
                  <a:pt x="6400800" y="101600"/>
                </a:cubicBezTo>
                <a:lnTo>
                  <a:pt x="6400800" y="101600"/>
                </a:lnTo>
                <a:cubicBezTo>
                  <a:pt x="6400800" y="51099"/>
                  <a:pt x="6355312" y="10160"/>
                  <a:pt x="6299200" y="10160"/>
                </a:cubicBezTo>
                <a:lnTo>
                  <a:pt x="101600" y="10160"/>
                </a:lnTo>
                <a:cubicBezTo>
                  <a:pt x="51099" y="10160"/>
                  <a:pt x="10160" y="51099"/>
                  <a:pt x="10160" y="101600"/>
                </a:cubicBezTo>
                <a:lnTo>
                  <a:pt x="10160" y="2225040"/>
                </a:lnTo>
                <a:cubicBezTo>
                  <a:pt x="10160" y="2281152"/>
                  <a:pt x="51099" y="2326640"/>
                  <a:pt x="101600" y="2326640"/>
                </a:cubicBezTo>
                <a:close/>
              </a:path>
            </a:pathLst>
          </a:custGeom>
          <a:solidFill>
            <a:srgbClr val="141413">
              <a:alpha val="2196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3"/>
          <p:cNvSpPr/>
          <p:nvPr/>
        </p:nvSpPr>
        <p:spPr>
          <a:xfrm>
            <a:off x="4988560" y="2245999"/>
            <a:ext cx="6385560" cy="330200"/>
          </a:xfrm>
          <a:custGeom>
            <a:avLst/>
            <a:gdLst/>
            <a:ahLst/>
            <a:cxnLst/>
            <a:rect l="l" t="t" r="r" b="b"/>
            <a:pathLst>
              <a:path w="6385560" h="330200" extrusionOk="0">
                <a:moveTo>
                  <a:pt x="0" y="91440"/>
                </a:moveTo>
                <a:cubicBezTo>
                  <a:pt x="0" y="40939"/>
                  <a:pt x="40939" y="0"/>
                  <a:pt x="91440" y="0"/>
                </a:cubicBezTo>
                <a:lnTo>
                  <a:pt x="6289040" y="0"/>
                </a:lnTo>
                <a:cubicBezTo>
                  <a:pt x="6314639" y="0"/>
                  <a:pt x="6339189" y="10169"/>
                  <a:pt x="6357290" y="28270"/>
                </a:cubicBezTo>
                <a:cubicBezTo>
                  <a:pt x="6375391" y="46371"/>
                  <a:pt x="6385560" y="70921"/>
                  <a:pt x="6385560" y="96520"/>
                </a:cubicBezTo>
                <a:lnTo>
                  <a:pt x="6385560" y="330200"/>
                </a:lnTo>
                <a:lnTo>
                  <a:pt x="0" y="330200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18" name="Google Shape;318;p13"/>
          <p:cNvGraphicFramePr/>
          <p:nvPr/>
        </p:nvGraphicFramePr>
        <p:xfrm>
          <a:off x="4988560" y="2245999"/>
          <a:ext cx="6385550" cy="2395995"/>
        </p:xfrm>
        <a:graphic>
          <a:graphicData uri="http://schemas.openxmlformats.org/drawingml/2006/table">
            <a:tbl>
              <a:tblPr>
                <a:noFill/>
                <a:tableStyleId>{537F66EC-7DD4-4156-ACD3-CA23E1461CC9}</a:tableStyleId>
              </a:tblPr>
              <a:tblGrid>
                <a:gridCol w="204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673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5F667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Tool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673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5F667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Use it for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Sheets / Excel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Source data, formulas, pivot tables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Looker Studio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Free live dashboards from Google data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Power BI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Dashboards for Microsoft-based teams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Zoho Analytics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KPI dashboards across many apps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Databox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Auto-updating KPI scorecards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Claude / ChatGPT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Summarize trends, then check the math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9" name="Google Shape;319;p13"/>
          <p:cNvSpPr/>
          <p:nvPr/>
        </p:nvSpPr>
        <p:spPr>
          <a:xfrm>
            <a:off x="812800" y="4791075"/>
            <a:ext cx="10566400" cy="485140"/>
          </a:xfrm>
          <a:prstGeom prst="roundRect">
            <a:avLst>
              <a:gd name="adj" fmla="val 20942"/>
            </a:avLst>
          </a:prstGeom>
          <a:solidFill>
            <a:srgbClr val="E7EE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3"/>
          <p:cNvSpPr/>
          <p:nvPr/>
        </p:nvSpPr>
        <p:spPr>
          <a:xfrm>
            <a:off x="990600" y="4918075"/>
            <a:ext cx="10517124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3F8C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63F8C"/>
                </a:solidFill>
                <a:latin typeface="DM Sans"/>
                <a:ea typeface="DM Sans"/>
                <a:cs typeface="DM Sans"/>
                <a:sym typeface="DM Sans"/>
              </a:rPr>
              <a:t>Pro tip:</a:t>
            </a:r>
            <a:r>
              <a:rPr lang="en-US" sz="1300" b="0" i="0" u="none" strike="noStrike" cap="none">
                <a:solidFill>
                  <a:srgbClr val="163F8C"/>
                </a:solidFill>
                <a:latin typeface="DM Sans"/>
                <a:ea typeface="DM Sans"/>
                <a:cs typeface="DM Sans"/>
                <a:sym typeface="DM Sans"/>
              </a:rPr>
              <a:t> lead with three headline numbers and one sentence. Put the detailed tables after.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838E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7C838E"/>
                </a:solidFill>
                <a:latin typeface="DM Sans"/>
                <a:ea typeface="DM Sans"/>
                <a:cs typeface="DM Sans"/>
                <a:sym typeface="DM Sans"/>
              </a:rPr>
              <a:t>Remote VA Toolkit · 04 Operations Reports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4"/>
          <p:cNvSpPr/>
          <p:nvPr/>
        </p:nvSpPr>
        <p:spPr>
          <a:xfrm>
            <a:off x="812800" y="6604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04 / 16 · SAMPLE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812800" y="937264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A weekly operations report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815975" y="1616075"/>
            <a:ext cx="10560050" cy="2813050"/>
          </a:xfrm>
          <a:prstGeom prst="roundRect">
            <a:avLst>
              <a:gd name="adj" fmla="val 4402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5400000" algn="bl" rotWithShape="0">
              <a:srgbClr val="121417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4"/>
          <p:cNvSpPr/>
          <p:nvPr/>
        </p:nvSpPr>
        <p:spPr>
          <a:xfrm>
            <a:off x="1021080" y="1821179"/>
            <a:ext cx="35271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400"/>
              <a:buFont typeface="DM Sans"/>
              <a:buNone/>
            </a:pPr>
            <a:r>
              <a:rPr lang="en-US" sz="14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Weekly Operations Report · Sep 21 to 27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9257189" y="1846579"/>
            <a:ext cx="1971143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Prepared Monday, 9:00 AM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1021080" y="2222500"/>
            <a:ext cx="2461260" cy="1122680"/>
          </a:xfrm>
          <a:prstGeom prst="roundRect">
            <a:avLst>
              <a:gd name="adj" fmla="val 7919"/>
            </a:avLst>
          </a:prstGeom>
          <a:solidFill>
            <a:srgbClr val="F5F6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4"/>
          <p:cNvSpPr/>
          <p:nvPr/>
        </p:nvSpPr>
        <p:spPr>
          <a:xfrm>
            <a:off x="1173480" y="2349500"/>
            <a:ext cx="222115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Orders shipped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1173480" y="2588264"/>
            <a:ext cx="2221154" cy="416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2200"/>
              <a:buFont typeface="DM Sans"/>
              <a:buNone/>
            </a:pPr>
            <a:r>
              <a:rPr lang="en-US" sz="2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1,240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1173480" y="3004821"/>
            <a:ext cx="222115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Up 4% vs last week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3583940" y="2222500"/>
            <a:ext cx="2461260" cy="1122680"/>
          </a:xfrm>
          <a:prstGeom prst="roundRect">
            <a:avLst>
              <a:gd name="adj" fmla="val 7919"/>
            </a:avLst>
          </a:prstGeom>
          <a:solidFill>
            <a:srgbClr val="F5F6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4"/>
          <p:cNvSpPr/>
          <p:nvPr/>
        </p:nvSpPr>
        <p:spPr>
          <a:xfrm>
            <a:off x="3736340" y="2349500"/>
            <a:ext cx="222115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On-time delivery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3736340" y="2588264"/>
            <a:ext cx="2221154" cy="416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2200"/>
              <a:buFont typeface="DM Sans"/>
              <a:buNone/>
            </a:pPr>
            <a:r>
              <a:rPr lang="en-US" sz="2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96%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3736340" y="3004821"/>
            <a:ext cx="222115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Target 95%, met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6146800" y="2222500"/>
            <a:ext cx="2461260" cy="1122680"/>
          </a:xfrm>
          <a:prstGeom prst="roundRect">
            <a:avLst>
              <a:gd name="adj" fmla="val 7919"/>
            </a:avLst>
          </a:prstGeom>
          <a:solidFill>
            <a:srgbClr val="F5F6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4"/>
          <p:cNvSpPr/>
          <p:nvPr/>
        </p:nvSpPr>
        <p:spPr>
          <a:xfrm>
            <a:off x="6299200" y="2349500"/>
            <a:ext cx="222115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Tickets resolved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6299200" y="2588264"/>
            <a:ext cx="2221154" cy="416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2200"/>
              <a:buFont typeface="DM Sans"/>
              <a:buNone/>
            </a:pPr>
            <a:r>
              <a:rPr lang="en-US" sz="2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312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6299200" y="3004821"/>
            <a:ext cx="222115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Same as last week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8709660" y="2222500"/>
            <a:ext cx="2461260" cy="1122680"/>
          </a:xfrm>
          <a:prstGeom prst="roundRect">
            <a:avLst>
              <a:gd name="adj" fmla="val 7919"/>
            </a:avLst>
          </a:prstGeom>
          <a:solidFill>
            <a:srgbClr val="F5F6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4"/>
          <p:cNvSpPr/>
          <p:nvPr/>
        </p:nvSpPr>
        <p:spPr>
          <a:xfrm>
            <a:off x="8862060" y="2349500"/>
            <a:ext cx="222115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First reply time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8862060" y="2588264"/>
            <a:ext cx="2221154" cy="416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2200"/>
              <a:buFont typeface="DM Sans"/>
              <a:buNone/>
            </a:pPr>
            <a:r>
              <a:rPr lang="en-US" sz="2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2.1 hrs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8862060" y="3004821"/>
            <a:ext cx="222115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Target 2 hrs, missed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1021080" y="3497579"/>
            <a:ext cx="338013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400"/>
              <a:buFont typeface="DM Sans"/>
              <a:buNone/>
            </a:pPr>
            <a:r>
              <a:rPr lang="en-US" sz="14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Wins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1021080" y="3761742"/>
            <a:ext cx="338013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Record week for orders. New courier cut late deliveries in half.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4455160" y="3497579"/>
            <a:ext cx="338013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400"/>
              <a:buFont typeface="DM Sans"/>
              <a:buNone/>
            </a:pPr>
            <a:r>
              <a:rPr lang="en-US" sz="14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Issues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4455160" y="3761742"/>
            <a:ext cx="338013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Reply time slipped on Friday when two agents were out.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7889240" y="3497579"/>
            <a:ext cx="338013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400"/>
              <a:buFont typeface="DM Sans"/>
              <a:buNone/>
            </a:pPr>
            <a:r>
              <a:rPr lang="en-US" sz="14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Next steps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7889240" y="3761742"/>
            <a:ext cx="338013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Add weekend cover, owner: Support Lead, due Oct 2.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838E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7C838E"/>
                </a:solidFill>
                <a:latin typeface="DM Sans"/>
                <a:ea typeface="DM Sans"/>
                <a:cs typeface="DM Sans"/>
                <a:sym typeface="DM Sans"/>
              </a:rPr>
              <a:t>Remote VA Toolkit · 04 Operations Reports · Fictional data · Google Sheets + Looker Studio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5"/>
          <p:cNvSpPr/>
          <p:nvPr/>
        </p:nvSpPr>
        <p:spPr>
          <a:xfrm>
            <a:off x="812800" y="6604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05 / 16 · RESPONSIBILITIES AND TOOLS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812800" y="937264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Inventory Management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812800" y="1447800"/>
            <a:ext cx="10883392" cy="28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DM Sans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Knowing what is in stock, what is running low, and what to reorder.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812800" y="1933575"/>
            <a:ext cx="39243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WHAT YOU DO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812800" y="2235839"/>
            <a:ext cx="3924300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Track stock levels and locations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Set reorder points and low-stock alerts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Log items in, out and returned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Reconcile physical counts with records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Prepare purchase orders for suppliers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4978400" y="1933575"/>
            <a:ext cx="65928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MODERN TOOLS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4978400" y="2235839"/>
            <a:ext cx="6400800" cy="2326640"/>
          </a:xfrm>
          <a:prstGeom prst="roundRect">
            <a:avLst>
              <a:gd name="adj" fmla="val 43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5"/>
          <p:cNvSpPr/>
          <p:nvPr/>
        </p:nvSpPr>
        <p:spPr>
          <a:xfrm>
            <a:off x="4978400" y="2235839"/>
            <a:ext cx="6400800" cy="2326640"/>
          </a:xfrm>
          <a:custGeom>
            <a:avLst/>
            <a:gdLst/>
            <a:ahLst/>
            <a:cxnLst/>
            <a:rect l="l" t="t" r="r" b="b"/>
            <a:pathLst>
              <a:path w="6400800" h="2326640" extrusionOk="0">
                <a:moveTo>
                  <a:pt x="6299200" y="0"/>
                </a:moveTo>
                <a:lnTo>
                  <a:pt x="6299200" y="0"/>
                </a:lnTo>
                <a:cubicBezTo>
                  <a:pt x="6326146" y="0"/>
                  <a:pt x="6351988" y="10704"/>
                  <a:pt x="6371042" y="29758"/>
                </a:cubicBezTo>
                <a:cubicBezTo>
                  <a:pt x="6390096" y="48812"/>
                  <a:pt x="6400800" y="74654"/>
                  <a:pt x="6400800" y="101600"/>
                </a:cubicBezTo>
                <a:lnTo>
                  <a:pt x="6400800" y="2225040"/>
                </a:lnTo>
                <a:cubicBezTo>
                  <a:pt x="6400800" y="2281152"/>
                  <a:pt x="6355312" y="2326640"/>
                  <a:pt x="6299200" y="2326640"/>
                </a:cubicBezTo>
                <a:lnTo>
                  <a:pt x="101600" y="2326640"/>
                </a:lnTo>
                <a:cubicBezTo>
                  <a:pt x="45488" y="2326640"/>
                  <a:pt x="0" y="2281152"/>
                  <a:pt x="0" y="2225040"/>
                </a:cubicBezTo>
                <a:lnTo>
                  <a:pt x="0" y="2225040"/>
                </a:lnTo>
                <a:cubicBezTo>
                  <a:pt x="0" y="2277645"/>
                  <a:pt x="45488" y="2320290"/>
                  <a:pt x="101600" y="2320290"/>
                </a:cubicBezTo>
                <a:lnTo>
                  <a:pt x="6299200" y="2320290"/>
                </a:lnTo>
                <a:cubicBezTo>
                  <a:pt x="6351805" y="2320290"/>
                  <a:pt x="6394450" y="2277645"/>
                  <a:pt x="6394450" y="2225040"/>
                </a:cubicBezTo>
                <a:lnTo>
                  <a:pt x="6394450" y="101600"/>
                </a:lnTo>
                <a:cubicBezTo>
                  <a:pt x="6394450" y="45488"/>
                  <a:pt x="6351805" y="0"/>
                  <a:pt x="6299200" y="0"/>
                </a:cubicBezTo>
                <a:close/>
              </a:path>
            </a:pathLst>
          </a:custGeom>
          <a:solidFill>
            <a:srgbClr val="DDE1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5"/>
          <p:cNvSpPr/>
          <p:nvPr/>
        </p:nvSpPr>
        <p:spPr>
          <a:xfrm>
            <a:off x="4978400" y="2235839"/>
            <a:ext cx="6400800" cy="2326640"/>
          </a:xfrm>
          <a:custGeom>
            <a:avLst/>
            <a:gdLst/>
            <a:ahLst/>
            <a:cxnLst/>
            <a:rect l="l" t="t" r="r" b="b"/>
            <a:pathLst>
              <a:path w="6400800" h="2326640" extrusionOk="0">
                <a:moveTo>
                  <a:pt x="101600" y="2326640"/>
                </a:moveTo>
                <a:lnTo>
                  <a:pt x="101600" y="2326640"/>
                </a:lnTo>
                <a:cubicBezTo>
                  <a:pt x="45488" y="2326640"/>
                  <a:pt x="0" y="2281152"/>
                  <a:pt x="0" y="2225040"/>
                </a:cubicBezTo>
                <a:lnTo>
                  <a:pt x="0" y="101600"/>
                </a:lnTo>
                <a:cubicBezTo>
                  <a:pt x="0" y="45488"/>
                  <a:pt x="45488" y="0"/>
                  <a:pt x="101600" y="0"/>
                </a:cubicBezTo>
                <a:lnTo>
                  <a:pt x="6299200" y="0"/>
                </a:lnTo>
                <a:cubicBezTo>
                  <a:pt x="6326146" y="0"/>
                  <a:pt x="6351988" y="10704"/>
                  <a:pt x="6371042" y="29758"/>
                </a:cubicBezTo>
                <a:cubicBezTo>
                  <a:pt x="6390096" y="48812"/>
                  <a:pt x="6400800" y="74654"/>
                  <a:pt x="6400800" y="101600"/>
                </a:cubicBezTo>
                <a:lnTo>
                  <a:pt x="6400800" y="101600"/>
                </a:lnTo>
                <a:cubicBezTo>
                  <a:pt x="6400800" y="51099"/>
                  <a:pt x="6355312" y="10160"/>
                  <a:pt x="6299200" y="10160"/>
                </a:cubicBezTo>
                <a:lnTo>
                  <a:pt x="101600" y="10160"/>
                </a:lnTo>
                <a:cubicBezTo>
                  <a:pt x="51099" y="10160"/>
                  <a:pt x="10160" y="51099"/>
                  <a:pt x="10160" y="101600"/>
                </a:cubicBezTo>
                <a:lnTo>
                  <a:pt x="10160" y="2225040"/>
                </a:lnTo>
                <a:cubicBezTo>
                  <a:pt x="10160" y="2281152"/>
                  <a:pt x="51099" y="2326640"/>
                  <a:pt x="101600" y="2326640"/>
                </a:cubicBezTo>
                <a:close/>
              </a:path>
            </a:pathLst>
          </a:custGeom>
          <a:solidFill>
            <a:srgbClr val="141413">
              <a:alpha val="2196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5"/>
          <p:cNvSpPr/>
          <p:nvPr/>
        </p:nvSpPr>
        <p:spPr>
          <a:xfrm>
            <a:off x="4988560" y="2245999"/>
            <a:ext cx="6385560" cy="330200"/>
          </a:xfrm>
          <a:custGeom>
            <a:avLst/>
            <a:gdLst/>
            <a:ahLst/>
            <a:cxnLst/>
            <a:rect l="l" t="t" r="r" b="b"/>
            <a:pathLst>
              <a:path w="6385560" h="330200" extrusionOk="0">
                <a:moveTo>
                  <a:pt x="0" y="91440"/>
                </a:moveTo>
                <a:cubicBezTo>
                  <a:pt x="0" y="40939"/>
                  <a:pt x="40939" y="0"/>
                  <a:pt x="91440" y="0"/>
                </a:cubicBezTo>
                <a:lnTo>
                  <a:pt x="6289040" y="0"/>
                </a:lnTo>
                <a:cubicBezTo>
                  <a:pt x="6314639" y="0"/>
                  <a:pt x="6339189" y="10169"/>
                  <a:pt x="6357290" y="28270"/>
                </a:cubicBezTo>
                <a:cubicBezTo>
                  <a:pt x="6375391" y="46371"/>
                  <a:pt x="6385560" y="70921"/>
                  <a:pt x="6385560" y="96520"/>
                </a:cubicBezTo>
                <a:lnTo>
                  <a:pt x="6385560" y="330200"/>
                </a:lnTo>
                <a:lnTo>
                  <a:pt x="0" y="330200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70" name="Google Shape;370;p15"/>
          <p:cNvGraphicFramePr/>
          <p:nvPr/>
        </p:nvGraphicFramePr>
        <p:xfrm>
          <a:off x="4988560" y="2245999"/>
          <a:ext cx="6385550" cy="2395995"/>
        </p:xfrm>
        <a:graphic>
          <a:graphicData uri="http://schemas.openxmlformats.org/drawingml/2006/table">
            <a:tbl>
              <a:tblPr>
                <a:noFill/>
                <a:tableStyleId>{537F66EC-7DD4-4156-ACD3-CA23E1461CC9}</a:tableStyleId>
              </a:tblPr>
              <a:tblGrid>
                <a:gridCol w="204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673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5F667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Tool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673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5F667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Use it for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Zoho Inventory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Stock, orders and shipping, free plan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Sortly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Mobile tracking with barcodes and QR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Shopify / Square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Stock synced with online or store sales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QuickBooks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Links stock value to accounting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Katana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Inventory for small manufacturers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Google Sheets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Simple tracker for small stock lists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71" name="Google Shape;371;p15"/>
          <p:cNvSpPr/>
          <p:nvPr/>
        </p:nvSpPr>
        <p:spPr>
          <a:xfrm>
            <a:off x="812800" y="4791075"/>
            <a:ext cx="10566400" cy="485140"/>
          </a:xfrm>
          <a:prstGeom prst="roundRect">
            <a:avLst>
              <a:gd name="adj" fmla="val 20942"/>
            </a:avLst>
          </a:prstGeom>
          <a:solidFill>
            <a:srgbClr val="E7EE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5"/>
          <p:cNvSpPr/>
          <p:nvPr/>
        </p:nvSpPr>
        <p:spPr>
          <a:xfrm>
            <a:off x="990600" y="4918075"/>
            <a:ext cx="10517124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3F8C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63F8C"/>
                </a:solidFill>
                <a:latin typeface="DM Sans"/>
                <a:ea typeface="DM Sans"/>
                <a:cs typeface="DM Sans"/>
                <a:sym typeface="DM Sans"/>
              </a:rPr>
              <a:t>Pro tip:</a:t>
            </a:r>
            <a:r>
              <a:rPr lang="en-US" sz="1300" b="0" i="0" u="none" strike="noStrike" cap="none">
                <a:solidFill>
                  <a:srgbClr val="163F8C"/>
                </a:solidFill>
                <a:latin typeface="DM Sans"/>
                <a:ea typeface="DM Sans"/>
                <a:cs typeface="DM Sans"/>
                <a:sym typeface="DM Sans"/>
              </a:rPr>
              <a:t> reorder point = daily usage × supplier lead time + safety stock. Set it once per item.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838E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7C838E"/>
                </a:solidFill>
                <a:latin typeface="DM Sans"/>
                <a:ea typeface="DM Sans"/>
                <a:cs typeface="DM Sans"/>
                <a:sym typeface="DM Sans"/>
              </a:rPr>
              <a:t>Remote VA Toolkit · 05 Inventory Management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6"/>
          <p:cNvSpPr/>
          <p:nvPr/>
        </p:nvSpPr>
        <p:spPr>
          <a:xfrm>
            <a:off x="812800" y="6604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05 / 16 · SAMPLE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6"/>
          <p:cNvSpPr/>
          <p:nvPr/>
        </p:nvSpPr>
        <p:spPr>
          <a:xfrm>
            <a:off x="812800" y="937264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A stock tracker with reorder alerts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6"/>
          <p:cNvSpPr/>
          <p:nvPr/>
        </p:nvSpPr>
        <p:spPr>
          <a:xfrm>
            <a:off x="815975" y="1616075"/>
            <a:ext cx="7156450" cy="3082290"/>
          </a:xfrm>
          <a:prstGeom prst="roundRect">
            <a:avLst>
              <a:gd name="adj" fmla="val 4017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5400000" algn="bl" rotWithShape="0">
              <a:srgbClr val="121417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6"/>
          <p:cNvSpPr/>
          <p:nvPr/>
        </p:nvSpPr>
        <p:spPr>
          <a:xfrm>
            <a:off x="1021080" y="1821179"/>
            <a:ext cx="6948627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Stock count · Warehouse A · Sep 28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3" name="Google Shape;383;p16"/>
          <p:cNvGraphicFramePr/>
          <p:nvPr/>
        </p:nvGraphicFramePr>
        <p:xfrm>
          <a:off x="1031240" y="2171702"/>
          <a:ext cx="6736100" cy="2053710"/>
        </p:xfrm>
        <a:graphic>
          <a:graphicData uri="http://schemas.openxmlformats.org/drawingml/2006/table">
            <a:tbl>
              <a:tblPr>
                <a:noFill/>
                <a:tableStyleId>{537F66EC-7DD4-4156-ACD3-CA23E1461CC9}</a:tableStyleId>
              </a:tblPr>
              <a:tblGrid>
                <a:gridCol w="107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7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7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SKU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Item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 hand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Reorder at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PK-101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Shipping box, small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420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150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OK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PK-102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Shipping box, large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95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120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Reorder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LB-210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Thermal labels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1,800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500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OK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TP-330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Packing tape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36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60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Reorder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BW-405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Bubble wrap roll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24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Low soon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84" name="Google Shape;384;p16"/>
          <p:cNvSpPr/>
          <p:nvPr/>
        </p:nvSpPr>
        <p:spPr>
          <a:xfrm>
            <a:off x="1021080" y="4279900"/>
            <a:ext cx="6948627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2 items to reorder · PO draft sent to supplier for approval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6"/>
          <p:cNvSpPr/>
          <p:nvPr/>
        </p:nvSpPr>
        <p:spPr>
          <a:xfrm>
            <a:off x="8331200" y="1612900"/>
            <a:ext cx="313944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WHY IT WORKS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6"/>
          <p:cNvSpPr/>
          <p:nvPr/>
        </p:nvSpPr>
        <p:spPr>
          <a:xfrm>
            <a:off x="8331200" y="1927864"/>
            <a:ext cx="3139440" cy="1465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Status is a formula, so it updates on its own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Reorder rows are highlighted and labeled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Every count has a date and location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6"/>
          <p:cNvSpPr/>
          <p:nvPr/>
        </p:nvSpPr>
        <p:spPr>
          <a:xfrm>
            <a:off x="8331200" y="3500123"/>
            <a:ext cx="313944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 dirty="0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BUILT WITH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6"/>
          <p:cNvSpPr/>
          <p:nvPr/>
        </p:nvSpPr>
        <p:spPr>
          <a:xfrm>
            <a:off x="8331200" y="3875059"/>
            <a:ext cx="313944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DM Sans"/>
              <a:buNone/>
            </a:pPr>
            <a:r>
              <a:rPr lang="en-US" sz="1300" b="0" i="0" u="none" strike="noStrike" cap="none" dirty="0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Google Sheets or Zoho Inventory, with an IF formula for status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6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838E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7C838E"/>
                </a:solidFill>
                <a:latin typeface="DM Sans"/>
                <a:ea typeface="DM Sans"/>
                <a:cs typeface="DM Sans"/>
                <a:sym typeface="DM Sans"/>
              </a:rPr>
              <a:t>Remote VA Toolkit · 05 Inventory Management · Sample data is fictional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7"/>
          <p:cNvSpPr/>
          <p:nvPr/>
        </p:nvSpPr>
        <p:spPr>
          <a:xfrm>
            <a:off x="812800" y="6604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06 / 16 · RESPONSIBILITIES AND TOOLS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7"/>
          <p:cNvSpPr/>
          <p:nvPr/>
        </p:nvSpPr>
        <p:spPr>
          <a:xfrm>
            <a:off x="812800" y="937264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Travel Arrangements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7"/>
          <p:cNvSpPr/>
          <p:nvPr/>
        </p:nvSpPr>
        <p:spPr>
          <a:xfrm>
            <a:off x="812800" y="1447800"/>
            <a:ext cx="10883392" cy="28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DM Sans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Planning trips so the traveler only has to show up.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7"/>
          <p:cNvSpPr/>
          <p:nvPr/>
        </p:nvSpPr>
        <p:spPr>
          <a:xfrm>
            <a:off x="812800" y="1933575"/>
            <a:ext cx="39243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WHAT YOU DO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7"/>
          <p:cNvSpPr/>
          <p:nvPr/>
        </p:nvSpPr>
        <p:spPr>
          <a:xfrm>
            <a:off x="812800" y="2235839"/>
            <a:ext cx="3924300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Compare and book flights, hotels, cars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Build a day-by-day itinerary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Check passports, visas and entry forms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Track the budget and collect receipts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Rebook fast when plans change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7"/>
          <p:cNvSpPr/>
          <p:nvPr/>
        </p:nvSpPr>
        <p:spPr>
          <a:xfrm>
            <a:off x="4978400" y="1933575"/>
            <a:ext cx="65928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MODERN TOOLS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7"/>
          <p:cNvSpPr/>
          <p:nvPr/>
        </p:nvSpPr>
        <p:spPr>
          <a:xfrm>
            <a:off x="4978400" y="2235839"/>
            <a:ext cx="6400800" cy="2326640"/>
          </a:xfrm>
          <a:prstGeom prst="roundRect">
            <a:avLst>
              <a:gd name="adj" fmla="val 43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7"/>
          <p:cNvSpPr/>
          <p:nvPr/>
        </p:nvSpPr>
        <p:spPr>
          <a:xfrm>
            <a:off x="4978400" y="2235839"/>
            <a:ext cx="6400800" cy="2326640"/>
          </a:xfrm>
          <a:custGeom>
            <a:avLst/>
            <a:gdLst/>
            <a:ahLst/>
            <a:cxnLst/>
            <a:rect l="l" t="t" r="r" b="b"/>
            <a:pathLst>
              <a:path w="6400800" h="2326640" extrusionOk="0">
                <a:moveTo>
                  <a:pt x="6299200" y="0"/>
                </a:moveTo>
                <a:lnTo>
                  <a:pt x="6299200" y="0"/>
                </a:lnTo>
                <a:cubicBezTo>
                  <a:pt x="6326146" y="0"/>
                  <a:pt x="6351988" y="10704"/>
                  <a:pt x="6371042" y="29758"/>
                </a:cubicBezTo>
                <a:cubicBezTo>
                  <a:pt x="6390096" y="48812"/>
                  <a:pt x="6400800" y="74654"/>
                  <a:pt x="6400800" y="101600"/>
                </a:cubicBezTo>
                <a:lnTo>
                  <a:pt x="6400800" y="2225040"/>
                </a:lnTo>
                <a:cubicBezTo>
                  <a:pt x="6400800" y="2281152"/>
                  <a:pt x="6355312" y="2326640"/>
                  <a:pt x="6299200" y="2326640"/>
                </a:cubicBezTo>
                <a:lnTo>
                  <a:pt x="101600" y="2326640"/>
                </a:lnTo>
                <a:cubicBezTo>
                  <a:pt x="45488" y="2326640"/>
                  <a:pt x="0" y="2281152"/>
                  <a:pt x="0" y="2225040"/>
                </a:cubicBezTo>
                <a:lnTo>
                  <a:pt x="0" y="2225040"/>
                </a:lnTo>
                <a:cubicBezTo>
                  <a:pt x="0" y="2277645"/>
                  <a:pt x="45488" y="2320290"/>
                  <a:pt x="101600" y="2320290"/>
                </a:cubicBezTo>
                <a:lnTo>
                  <a:pt x="6299200" y="2320290"/>
                </a:lnTo>
                <a:cubicBezTo>
                  <a:pt x="6351805" y="2320290"/>
                  <a:pt x="6394450" y="2277645"/>
                  <a:pt x="6394450" y="2225040"/>
                </a:cubicBezTo>
                <a:lnTo>
                  <a:pt x="6394450" y="101600"/>
                </a:lnTo>
                <a:cubicBezTo>
                  <a:pt x="6394450" y="45488"/>
                  <a:pt x="6351805" y="0"/>
                  <a:pt x="6299200" y="0"/>
                </a:cubicBezTo>
                <a:close/>
              </a:path>
            </a:pathLst>
          </a:custGeom>
          <a:solidFill>
            <a:srgbClr val="DDE1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7"/>
          <p:cNvSpPr/>
          <p:nvPr/>
        </p:nvSpPr>
        <p:spPr>
          <a:xfrm>
            <a:off x="4978400" y="2235839"/>
            <a:ext cx="6400800" cy="2326640"/>
          </a:xfrm>
          <a:custGeom>
            <a:avLst/>
            <a:gdLst/>
            <a:ahLst/>
            <a:cxnLst/>
            <a:rect l="l" t="t" r="r" b="b"/>
            <a:pathLst>
              <a:path w="6400800" h="2326640" extrusionOk="0">
                <a:moveTo>
                  <a:pt x="101600" y="2326640"/>
                </a:moveTo>
                <a:lnTo>
                  <a:pt x="101600" y="2326640"/>
                </a:lnTo>
                <a:cubicBezTo>
                  <a:pt x="45488" y="2326640"/>
                  <a:pt x="0" y="2281152"/>
                  <a:pt x="0" y="2225040"/>
                </a:cubicBezTo>
                <a:lnTo>
                  <a:pt x="0" y="101600"/>
                </a:lnTo>
                <a:cubicBezTo>
                  <a:pt x="0" y="45488"/>
                  <a:pt x="45488" y="0"/>
                  <a:pt x="101600" y="0"/>
                </a:cubicBezTo>
                <a:lnTo>
                  <a:pt x="6299200" y="0"/>
                </a:lnTo>
                <a:cubicBezTo>
                  <a:pt x="6326146" y="0"/>
                  <a:pt x="6351988" y="10704"/>
                  <a:pt x="6371042" y="29758"/>
                </a:cubicBezTo>
                <a:cubicBezTo>
                  <a:pt x="6390096" y="48812"/>
                  <a:pt x="6400800" y="74654"/>
                  <a:pt x="6400800" y="101600"/>
                </a:cubicBezTo>
                <a:lnTo>
                  <a:pt x="6400800" y="101600"/>
                </a:lnTo>
                <a:cubicBezTo>
                  <a:pt x="6400800" y="51099"/>
                  <a:pt x="6355312" y="10160"/>
                  <a:pt x="6299200" y="10160"/>
                </a:cubicBezTo>
                <a:lnTo>
                  <a:pt x="101600" y="10160"/>
                </a:lnTo>
                <a:cubicBezTo>
                  <a:pt x="51099" y="10160"/>
                  <a:pt x="10160" y="51099"/>
                  <a:pt x="10160" y="101600"/>
                </a:cubicBezTo>
                <a:lnTo>
                  <a:pt x="10160" y="2225040"/>
                </a:lnTo>
                <a:cubicBezTo>
                  <a:pt x="10160" y="2281152"/>
                  <a:pt x="51099" y="2326640"/>
                  <a:pt x="101600" y="2326640"/>
                </a:cubicBezTo>
                <a:close/>
              </a:path>
            </a:pathLst>
          </a:custGeom>
          <a:solidFill>
            <a:srgbClr val="141413">
              <a:alpha val="2196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7"/>
          <p:cNvSpPr/>
          <p:nvPr/>
        </p:nvSpPr>
        <p:spPr>
          <a:xfrm>
            <a:off x="4988560" y="2245999"/>
            <a:ext cx="6385560" cy="330200"/>
          </a:xfrm>
          <a:custGeom>
            <a:avLst/>
            <a:gdLst/>
            <a:ahLst/>
            <a:cxnLst/>
            <a:rect l="l" t="t" r="r" b="b"/>
            <a:pathLst>
              <a:path w="6385560" h="330200" extrusionOk="0">
                <a:moveTo>
                  <a:pt x="0" y="91440"/>
                </a:moveTo>
                <a:cubicBezTo>
                  <a:pt x="0" y="40939"/>
                  <a:pt x="40939" y="0"/>
                  <a:pt x="91440" y="0"/>
                </a:cubicBezTo>
                <a:lnTo>
                  <a:pt x="6289040" y="0"/>
                </a:lnTo>
                <a:cubicBezTo>
                  <a:pt x="6314639" y="0"/>
                  <a:pt x="6339189" y="10169"/>
                  <a:pt x="6357290" y="28270"/>
                </a:cubicBezTo>
                <a:cubicBezTo>
                  <a:pt x="6375391" y="46371"/>
                  <a:pt x="6385560" y="70921"/>
                  <a:pt x="6385560" y="96520"/>
                </a:cubicBezTo>
                <a:lnTo>
                  <a:pt x="6385560" y="330200"/>
                </a:lnTo>
                <a:lnTo>
                  <a:pt x="0" y="330200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05" name="Google Shape;405;p17"/>
          <p:cNvGraphicFramePr/>
          <p:nvPr/>
        </p:nvGraphicFramePr>
        <p:xfrm>
          <a:off x="4988560" y="2245999"/>
          <a:ext cx="6385550" cy="2395995"/>
        </p:xfrm>
        <a:graphic>
          <a:graphicData uri="http://schemas.openxmlformats.org/drawingml/2006/table">
            <a:tbl>
              <a:tblPr>
                <a:noFill/>
                <a:tableStyleId>{537F66EC-7DD4-4156-ACD3-CA23E1461CC9}</a:tableStyleId>
              </a:tblPr>
              <a:tblGrid>
                <a:gridCol w="204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673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5F667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Tool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673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5F667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Use it for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Google Flights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Compare fares and track price drops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Skyscanner / Kayak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Search fares across many airlines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Booking.com / Airbnb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Hotels and short-term stays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TripIt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Itinerary built from confirmation emails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Navan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Company travel booking and expenses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Google Maps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Routes, transfer times, nearby places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06" name="Google Shape;406;p17"/>
          <p:cNvSpPr/>
          <p:nvPr/>
        </p:nvSpPr>
        <p:spPr>
          <a:xfrm>
            <a:off x="812800" y="4791075"/>
            <a:ext cx="10566400" cy="485140"/>
          </a:xfrm>
          <a:prstGeom prst="roundRect">
            <a:avLst>
              <a:gd name="adj" fmla="val 20942"/>
            </a:avLst>
          </a:prstGeom>
          <a:solidFill>
            <a:srgbClr val="E7EE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7"/>
          <p:cNvSpPr/>
          <p:nvPr/>
        </p:nvSpPr>
        <p:spPr>
          <a:xfrm>
            <a:off x="990600" y="4918075"/>
            <a:ext cx="10517124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3F8C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63F8C"/>
                </a:solidFill>
                <a:latin typeface="DM Sans"/>
                <a:ea typeface="DM Sans"/>
                <a:cs typeface="DM Sans"/>
                <a:sym typeface="DM Sans"/>
              </a:rPr>
              <a:t>Pro tip:</a:t>
            </a:r>
            <a:r>
              <a:rPr lang="en-US" sz="1300" b="0" i="0" u="none" strike="noStrike" cap="none">
                <a:solidFill>
                  <a:srgbClr val="163F8C"/>
                </a:solidFill>
                <a:latin typeface="DM Sans"/>
                <a:ea typeface="DM Sans"/>
                <a:cs typeface="DM Sans"/>
                <a:sym typeface="DM Sans"/>
              </a:rPr>
              <a:t> save every confirmation number in one place and share it with the traveler before they leave.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7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838E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7C838E"/>
                </a:solidFill>
                <a:latin typeface="DM Sans"/>
                <a:ea typeface="DM Sans"/>
                <a:cs typeface="DM Sans"/>
                <a:sym typeface="DM Sans"/>
              </a:rPr>
              <a:t>Remote VA Toolkit · 06 Travel Arrangements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8"/>
          <p:cNvSpPr/>
          <p:nvPr/>
        </p:nvSpPr>
        <p:spPr>
          <a:xfrm>
            <a:off x="812800" y="6604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06 / 16 · SAMPLE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8"/>
          <p:cNvSpPr/>
          <p:nvPr/>
        </p:nvSpPr>
        <p:spPr>
          <a:xfrm>
            <a:off x="812800" y="937264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Day one of a business trip itinerary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8"/>
          <p:cNvSpPr/>
          <p:nvPr/>
        </p:nvSpPr>
        <p:spPr>
          <a:xfrm>
            <a:off x="815975" y="1616075"/>
            <a:ext cx="7156450" cy="2838450"/>
          </a:xfrm>
          <a:prstGeom prst="roundRect">
            <a:avLst>
              <a:gd name="adj" fmla="val 4362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5400000" algn="bl" rotWithShape="0">
              <a:srgbClr val="121417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8"/>
          <p:cNvSpPr/>
          <p:nvPr/>
        </p:nvSpPr>
        <p:spPr>
          <a:xfrm>
            <a:off x="1021080" y="1821185"/>
            <a:ext cx="2356133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400"/>
              <a:buFont typeface="DM Sans"/>
              <a:buNone/>
            </a:pPr>
            <a:r>
              <a:rPr lang="en-US" sz="14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Manila to Singapore · Day 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8"/>
          <p:cNvSpPr/>
          <p:nvPr/>
        </p:nvSpPr>
        <p:spPr>
          <a:xfrm>
            <a:off x="6933803" y="1846585"/>
            <a:ext cx="884317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Wed, Oct 14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8"/>
          <p:cNvSpPr/>
          <p:nvPr/>
        </p:nvSpPr>
        <p:spPr>
          <a:xfrm>
            <a:off x="1021080" y="2184400"/>
            <a:ext cx="749300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5:30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8"/>
          <p:cNvSpPr/>
          <p:nvPr/>
        </p:nvSpPr>
        <p:spPr>
          <a:xfrm>
            <a:off x="1871980" y="2184400"/>
            <a:ext cx="3545687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Car pickup from home · </a:t>
            </a:r>
            <a:r>
              <a:rPr lang="en-US" sz="13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driver texts on arrival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8"/>
          <p:cNvSpPr/>
          <p:nvPr/>
        </p:nvSpPr>
        <p:spPr>
          <a:xfrm>
            <a:off x="1021080" y="2529842"/>
            <a:ext cx="749300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8:05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8"/>
          <p:cNvSpPr/>
          <p:nvPr/>
        </p:nvSpPr>
        <p:spPr>
          <a:xfrm>
            <a:off x="1871980" y="2529842"/>
            <a:ext cx="3476848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Flight to Singapore</a:t>
            </a:r>
            <a:r>
              <a:rPr lang="en-US" sz="13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 · </a:t>
            </a:r>
            <a:r>
              <a:rPr lang="en-US" sz="13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seat 3A, conf. [ABC123]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8"/>
          <p:cNvSpPr/>
          <p:nvPr/>
        </p:nvSpPr>
        <p:spPr>
          <a:xfrm>
            <a:off x="1021080" y="2875285"/>
            <a:ext cx="749300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12:30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1871980" y="2875285"/>
            <a:ext cx="2794592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Transfer to hotel · </a:t>
            </a:r>
            <a:r>
              <a:rPr lang="en-US" sz="13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arrival hall, door 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8"/>
          <p:cNvSpPr/>
          <p:nvPr/>
        </p:nvSpPr>
        <p:spPr>
          <a:xfrm>
            <a:off x="1021080" y="3220727"/>
            <a:ext cx="749300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3:00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8"/>
          <p:cNvSpPr/>
          <p:nvPr/>
        </p:nvSpPr>
        <p:spPr>
          <a:xfrm>
            <a:off x="1871980" y="3220727"/>
            <a:ext cx="3346774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Hotel check-in</a:t>
            </a:r>
            <a:r>
              <a:rPr lang="en-US" sz="13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 · </a:t>
            </a:r>
            <a:r>
              <a:rPr lang="en-US" sz="13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3 nights, conf. [HTL-4481]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8"/>
          <p:cNvSpPr/>
          <p:nvPr/>
        </p:nvSpPr>
        <p:spPr>
          <a:xfrm>
            <a:off x="1021080" y="3566158"/>
            <a:ext cx="749300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7:00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8"/>
          <p:cNvSpPr/>
          <p:nvPr/>
        </p:nvSpPr>
        <p:spPr>
          <a:xfrm>
            <a:off x="1871980" y="3566158"/>
            <a:ext cx="3320367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Welcome dinner with partners · </a:t>
            </a:r>
            <a:r>
              <a:rPr lang="en-US" sz="13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table for 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9" name="Google Shape;429;p18" descr="line"/>
          <p:cNvPicPr preferRelativeResize="0"/>
          <p:nvPr/>
        </p:nvPicPr>
        <p:blipFill rotWithShape="1">
          <a:blip r:embed="rId3">
            <a:alphaModFix/>
          </a:blip>
          <a:srcRect l="-12525" r="-12525"/>
          <a:stretch/>
        </p:blipFill>
        <p:spPr>
          <a:xfrm>
            <a:off x="1021080" y="3911600"/>
            <a:ext cx="6746240" cy="1016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8"/>
          <p:cNvSpPr/>
          <p:nvPr/>
        </p:nvSpPr>
        <p:spPr>
          <a:xfrm>
            <a:off x="1021080" y="4036058"/>
            <a:ext cx="6948627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Budget: ₱72,390 of ₱80,000 used · Same time zone as Manila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8"/>
          <p:cNvSpPr/>
          <p:nvPr/>
        </p:nvSpPr>
        <p:spPr>
          <a:xfrm>
            <a:off x="8331200" y="1612900"/>
            <a:ext cx="313944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WHY IT WORKS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8"/>
          <p:cNvSpPr/>
          <p:nvPr/>
        </p:nvSpPr>
        <p:spPr>
          <a:xfrm>
            <a:off x="8331200" y="1927858"/>
            <a:ext cx="3139440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One screen per day, times first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Confirmation numbers right where needed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Pickup details prevent missed rides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Budget shown at a glance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8"/>
          <p:cNvSpPr/>
          <p:nvPr/>
        </p:nvSpPr>
        <p:spPr>
          <a:xfrm>
            <a:off x="8331200" y="3396617"/>
            <a:ext cx="313944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 dirty="0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BUILT WITH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8"/>
          <p:cNvSpPr/>
          <p:nvPr/>
        </p:nvSpPr>
        <p:spPr>
          <a:xfrm>
            <a:off x="8331200" y="3750316"/>
            <a:ext cx="313944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DM Sans"/>
              <a:buNone/>
            </a:pPr>
            <a:r>
              <a:rPr lang="en-US" sz="1300" b="0" i="0" u="none" strike="noStrike" cap="none" dirty="0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Google Docs or TripIt, plus a Sheets booking tracker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8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838E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7C838E"/>
                </a:solidFill>
                <a:latin typeface="DM Sans"/>
                <a:ea typeface="DM Sans"/>
                <a:cs typeface="DM Sans"/>
                <a:sym typeface="DM Sans"/>
              </a:rPr>
              <a:t>Remote VA Toolkit · 06 Travel Arrangements · Sample data is fictional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9"/>
          <p:cNvSpPr/>
          <p:nvPr/>
        </p:nvSpPr>
        <p:spPr>
          <a:xfrm>
            <a:off x="812800" y="6604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07 / 16 · RESPONSIBILITIES AND TOOLS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9"/>
          <p:cNvSpPr/>
          <p:nvPr/>
        </p:nvSpPr>
        <p:spPr>
          <a:xfrm>
            <a:off x="812800" y="937258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Booking Management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9"/>
          <p:cNvSpPr/>
          <p:nvPr/>
        </p:nvSpPr>
        <p:spPr>
          <a:xfrm>
            <a:off x="812800" y="1447800"/>
            <a:ext cx="10883392" cy="28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DM Sans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Filling the client’s schedule with confirmed appointments and fewer no-shows.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9"/>
          <p:cNvSpPr/>
          <p:nvPr/>
        </p:nvSpPr>
        <p:spPr>
          <a:xfrm>
            <a:off x="812800" y="1933575"/>
            <a:ext cx="39243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WHAT YOU DO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9"/>
          <p:cNvSpPr/>
          <p:nvPr/>
        </p:nvSpPr>
        <p:spPr>
          <a:xfrm>
            <a:off x="812800" y="2235833"/>
            <a:ext cx="3924300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Manage appointment and service bookings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Send confirmations and reminders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Handle reschedules, cancellations, no-shows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Reserve venues, tables and event spots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Keep a clean booking log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9"/>
          <p:cNvSpPr/>
          <p:nvPr/>
        </p:nvSpPr>
        <p:spPr>
          <a:xfrm>
            <a:off x="4978400" y="1933575"/>
            <a:ext cx="65928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MODERN TOOLS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9"/>
          <p:cNvSpPr/>
          <p:nvPr/>
        </p:nvSpPr>
        <p:spPr>
          <a:xfrm>
            <a:off x="4978400" y="2235833"/>
            <a:ext cx="6400800" cy="2326640"/>
          </a:xfrm>
          <a:prstGeom prst="roundRect">
            <a:avLst>
              <a:gd name="adj" fmla="val 43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9"/>
          <p:cNvSpPr/>
          <p:nvPr/>
        </p:nvSpPr>
        <p:spPr>
          <a:xfrm>
            <a:off x="4978400" y="2235833"/>
            <a:ext cx="6400800" cy="2326640"/>
          </a:xfrm>
          <a:custGeom>
            <a:avLst/>
            <a:gdLst/>
            <a:ahLst/>
            <a:cxnLst/>
            <a:rect l="l" t="t" r="r" b="b"/>
            <a:pathLst>
              <a:path w="6400800" h="2326640" extrusionOk="0">
                <a:moveTo>
                  <a:pt x="6299200" y="0"/>
                </a:moveTo>
                <a:lnTo>
                  <a:pt x="6299200" y="0"/>
                </a:lnTo>
                <a:cubicBezTo>
                  <a:pt x="6326146" y="0"/>
                  <a:pt x="6351988" y="10704"/>
                  <a:pt x="6371042" y="29758"/>
                </a:cubicBezTo>
                <a:cubicBezTo>
                  <a:pt x="6390096" y="48812"/>
                  <a:pt x="6400800" y="74654"/>
                  <a:pt x="6400800" y="101600"/>
                </a:cubicBezTo>
                <a:lnTo>
                  <a:pt x="6400800" y="2225040"/>
                </a:lnTo>
                <a:cubicBezTo>
                  <a:pt x="6400800" y="2281152"/>
                  <a:pt x="6355312" y="2326640"/>
                  <a:pt x="6299200" y="2326640"/>
                </a:cubicBezTo>
                <a:lnTo>
                  <a:pt x="101600" y="2326640"/>
                </a:lnTo>
                <a:cubicBezTo>
                  <a:pt x="45488" y="2326640"/>
                  <a:pt x="0" y="2281152"/>
                  <a:pt x="0" y="2225040"/>
                </a:cubicBezTo>
                <a:lnTo>
                  <a:pt x="0" y="2225040"/>
                </a:lnTo>
                <a:cubicBezTo>
                  <a:pt x="0" y="2277645"/>
                  <a:pt x="45488" y="2320290"/>
                  <a:pt x="101600" y="2320290"/>
                </a:cubicBezTo>
                <a:lnTo>
                  <a:pt x="6299200" y="2320290"/>
                </a:lnTo>
                <a:cubicBezTo>
                  <a:pt x="6351805" y="2320290"/>
                  <a:pt x="6394450" y="2277645"/>
                  <a:pt x="6394450" y="2225040"/>
                </a:cubicBezTo>
                <a:lnTo>
                  <a:pt x="6394450" y="101600"/>
                </a:lnTo>
                <a:cubicBezTo>
                  <a:pt x="6394450" y="45488"/>
                  <a:pt x="6351805" y="0"/>
                  <a:pt x="6299200" y="0"/>
                </a:cubicBezTo>
                <a:close/>
              </a:path>
            </a:pathLst>
          </a:custGeom>
          <a:solidFill>
            <a:srgbClr val="DDE1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9"/>
          <p:cNvSpPr/>
          <p:nvPr/>
        </p:nvSpPr>
        <p:spPr>
          <a:xfrm>
            <a:off x="4978400" y="2235833"/>
            <a:ext cx="6400800" cy="2326640"/>
          </a:xfrm>
          <a:custGeom>
            <a:avLst/>
            <a:gdLst/>
            <a:ahLst/>
            <a:cxnLst/>
            <a:rect l="l" t="t" r="r" b="b"/>
            <a:pathLst>
              <a:path w="6400800" h="2326640" extrusionOk="0">
                <a:moveTo>
                  <a:pt x="101600" y="2326640"/>
                </a:moveTo>
                <a:lnTo>
                  <a:pt x="101600" y="2326640"/>
                </a:lnTo>
                <a:cubicBezTo>
                  <a:pt x="45488" y="2326640"/>
                  <a:pt x="0" y="2281152"/>
                  <a:pt x="0" y="2225040"/>
                </a:cubicBezTo>
                <a:lnTo>
                  <a:pt x="0" y="101600"/>
                </a:lnTo>
                <a:cubicBezTo>
                  <a:pt x="0" y="45488"/>
                  <a:pt x="45488" y="0"/>
                  <a:pt x="101600" y="0"/>
                </a:cubicBezTo>
                <a:lnTo>
                  <a:pt x="6299200" y="0"/>
                </a:lnTo>
                <a:cubicBezTo>
                  <a:pt x="6326146" y="0"/>
                  <a:pt x="6351988" y="10704"/>
                  <a:pt x="6371042" y="29758"/>
                </a:cubicBezTo>
                <a:cubicBezTo>
                  <a:pt x="6390096" y="48812"/>
                  <a:pt x="6400800" y="74654"/>
                  <a:pt x="6400800" y="101600"/>
                </a:cubicBezTo>
                <a:lnTo>
                  <a:pt x="6400800" y="101600"/>
                </a:lnTo>
                <a:cubicBezTo>
                  <a:pt x="6400800" y="51099"/>
                  <a:pt x="6355312" y="10160"/>
                  <a:pt x="6299200" y="10160"/>
                </a:cubicBezTo>
                <a:lnTo>
                  <a:pt x="101600" y="10160"/>
                </a:lnTo>
                <a:cubicBezTo>
                  <a:pt x="51099" y="10160"/>
                  <a:pt x="10160" y="51099"/>
                  <a:pt x="10160" y="101600"/>
                </a:cubicBezTo>
                <a:lnTo>
                  <a:pt x="10160" y="2225040"/>
                </a:lnTo>
                <a:cubicBezTo>
                  <a:pt x="10160" y="2281152"/>
                  <a:pt x="51099" y="2326640"/>
                  <a:pt x="101600" y="2326640"/>
                </a:cubicBezTo>
                <a:close/>
              </a:path>
            </a:pathLst>
          </a:custGeom>
          <a:solidFill>
            <a:srgbClr val="141413">
              <a:alpha val="2196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9"/>
          <p:cNvSpPr/>
          <p:nvPr/>
        </p:nvSpPr>
        <p:spPr>
          <a:xfrm>
            <a:off x="4988560" y="2245993"/>
            <a:ext cx="6385560" cy="330200"/>
          </a:xfrm>
          <a:custGeom>
            <a:avLst/>
            <a:gdLst/>
            <a:ahLst/>
            <a:cxnLst/>
            <a:rect l="l" t="t" r="r" b="b"/>
            <a:pathLst>
              <a:path w="6385560" h="330200" extrusionOk="0">
                <a:moveTo>
                  <a:pt x="0" y="91440"/>
                </a:moveTo>
                <a:cubicBezTo>
                  <a:pt x="0" y="40939"/>
                  <a:pt x="40939" y="0"/>
                  <a:pt x="91440" y="0"/>
                </a:cubicBezTo>
                <a:lnTo>
                  <a:pt x="6289040" y="0"/>
                </a:lnTo>
                <a:cubicBezTo>
                  <a:pt x="6314639" y="0"/>
                  <a:pt x="6339189" y="10169"/>
                  <a:pt x="6357290" y="28270"/>
                </a:cubicBezTo>
                <a:cubicBezTo>
                  <a:pt x="6375391" y="46371"/>
                  <a:pt x="6385560" y="70921"/>
                  <a:pt x="6385560" y="96520"/>
                </a:cubicBezTo>
                <a:lnTo>
                  <a:pt x="6385560" y="330200"/>
                </a:lnTo>
                <a:lnTo>
                  <a:pt x="0" y="330200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51" name="Google Shape;451;p19"/>
          <p:cNvGraphicFramePr/>
          <p:nvPr/>
        </p:nvGraphicFramePr>
        <p:xfrm>
          <a:off x="4988560" y="2245993"/>
          <a:ext cx="6385550" cy="2395995"/>
        </p:xfrm>
        <a:graphic>
          <a:graphicData uri="http://schemas.openxmlformats.org/drawingml/2006/table">
            <a:tbl>
              <a:tblPr>
                <a:noFill/>
                <a:tableStyleId>{537F66EC-7DD4-4156-ACD3-CA23E1461CC9}</a:tableStyleId>
              </a:tblPr>
              <a:tblGrid>
                <a:gridCol w="204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673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5F667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Tool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673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5F667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Use it for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Calendly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Meeting bookings with routing and reminders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Acuity Scheduling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Appointments with intake forms, payments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Cal.com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Open-source booking pages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SimplyBook.me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Booking for salons, clinics, services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OpenTable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Restaurant reservations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Eventbrite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Event registration and tickets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52" name="Google Shape;452;p19"/>
          <p:cNvSpPr/>
          <p:nvPr/>
        </p:nvSpPr>
        <p:spPr>
          <a:xfrm>
            <a:off x="812800" y="4791075"/>
            <a:ext cx="10566400" cy="485140"/>
          </a:xfrm>
          <a:prstGeom prst="roundRect">
            <a:avLst>
              <a:gd name="adj" fmla="val 20942"/>
            </a:avLst>
          </a:prstGeom>
          <a:solidFill>
            <a:srgbClr val="E7EE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9"/>
          <p:cNvSpPr/>
          <p:nvPr/>
        </p:nvSpPr>
        <p:spPr>
          <a:xfrm>
            <a:off x="990600" y="4918075"/>
            <a:ext cx="10517124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3F8C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63F8C"/>
                </a:solidFill>
                <a:latin typeface="DM Sans"/>
                <a:ea typeface="DM Sans"/>
                <a:cs typeface="DM Sans"/>
                <a:sym typeface="DM Sans"/>
              </a:rPr>
              <a:t>Pro tip:</a:t>
            </a:r>
            <a:r>
              <a:rPr lang="en-US" sz="1300" b="0" i="0" u="none" strike="noStrike" cap="none">
                <a:solidFill>
                  <a:srgbClr val="163F8C"/>
                </a:solidFill>
                <a:latin typeface="DM Sans"/>
                <a:ea typeface="DM Sans"/>
                <a:cs typeface="DM Sans"/>
                <a:sym typeface="DM Sans"/>
              </a:rPr>
              <a:t> send two reminders, one day before and two hours before. It is the simplest way to cut no-shows.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9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838E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7C838E"/>
                </a:solidFill>
                <a:latin typeface="DM Sans"/>
                <a:ea typeface="DM Sans"/>
                <a:cs typeface="DM Sans"/>
                <a:sym typeface="DM Sans"/>
              </a:rPr>
              <a:t>Remote VA Toolkit · 07 Booking Management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0"/>
          <p:cNvSpPr/>
          <p:nvPr/>
        </p:nvSpPr>
        <p:spPr>
          <a:xfrm>
            <a:off x="812800" y="6604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07 / 16 · SAMPLE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0"/>
          <p:cNvSpPr/>
          <p:nvPr/>
        </p:nvSpPr>
        <p:spPr>
          <a:xfrm>
            <a:off x="812800" y="937258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A daily booking log for a clinic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0"/>
          <p:cNvSpPr/>
          <p:nvPr/>
        </p:nvSpPr>
        <p:spPr>
          <a:xfrm>
            <a:off x="815975" y="1616075"/>
            <a:ext cx="7156450" cy="3082290"/>
          </a:xfrm>
          <a:prstGeom prst="roundRect">
            <a:avLst>
              <a:gd name="adj" fmla="val 4017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5400000" algn="bl" rotWithShape="0">
              <a:srgbClr val="121417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20"/>
          <p:cNvSpPr/>
          <p:nvPr/>
        </p:nvSpPr>
        <p:spPr>
          <a:xfrm>
            <a:off x="1021080" y="1821185"/>
            <a:ext cx="6948627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Bookings · Thursday, Oct 8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4" name="Google Shape;464;p20"/>
          <p:cNvGraphicFramePr/>
          <p:nvPr/>
        </p:nvGraphicFramePr>
        <p:xfrm>
          <a:off x="1031240" y="2171702"/>
          <a:ext cx="6736100" cy="2053710"/>
        </p:xfrm>
        <a:graphic>
          <a:graphicData uri="http://schemas.openxmlformats.org/drawingml/2006/table">
            <a:tbl>
              <a:tblPr>
                <a:noFill/>
                <a:tableStyleId>{537F66EC-7DD4-4156-ACD3-CA23E1461CC9}</a:tableStyleId>
              </a:tblPr>
              <a:tblGrid>
                <a:gridCol w="875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6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4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2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Time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Client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Service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Reminder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9:00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R. Santos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Consultation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Confirmed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Sent 2x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10:30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M. Cruz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Follow-up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Confirmed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Sent 2x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1:00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J. Reyes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Cleaning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Moved to Oct 9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Updated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2:30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A. Lim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Consultation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Pending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Sent 1x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4:00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K. Tan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Follow-up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No-show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Rebook offer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65" name="Google Shape;465;p20"/>
          <p:cNvSpPr/>
          <p:nvPr/>
        </p:nvSpPr>
        <p:spPr>
          <a:xfrm>
            <a:off x="1021080" y="4279900"/>
            <a:ext cx="6948627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5 bookings · 1 moved · 1 no-show, rebooking email sent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0"/>
          <p:cNvSpPr/>
          <p:nvPr/>
        </p:nvSpPr>
        <p:spPr>
          <a:xfrm>
            <a:off x="8331200" y="1612900"/>
            <a:ext cx="313944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WHY IT WORKS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0"/>
          <p:cNvSpPr/>
          <p:nvPr/>
        </p:nvSpPr>
        <p:spPr>
          <a:xfrm>
            <a:off x="8331200" y="1927858"/>
            <a:ext cx="3139440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Every booking has a written status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Reminders are tracked, not assumed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No-shows get a same-day follow-up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0"/>
          <p:cNvSpPr/>
          <p:nvPr/>
        </p:nvSpPr>
        <p:spPr>
          <a:xfrm>
            <a:off x="8331200" y="2949575"/>
            <a:ext cx="313944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 dirty="0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BUILT WITH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0"/>
          <p:cNvSpPr/>
          <p:nvPr/>
        </p:nvSpPr>
        <p:spPr>
          <a:xfrm>
            <a:off x="8331200" y="3336290"/>
            <a:ext cx="313944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DM Sans"/>
              <a:buNone/>
            </a:pPr>
            <a:r>
              <a:rPr lang="en-US" sz="1300" b="0" i="0" u="none" strike="noStrike" cap="none" dirty="0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Acuity or Calendly for bookings, Google Sheets for the log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0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838E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7C838E"/>
                </a:solidFill>
                <a:latin typeface="DM Sans"/>
                <a:ea typeface="DM Sans"/>
                <a:cs typeface="DM Sans"/>
                <a:sym typeface="DM Sans"/>
              </a:rPr>
              <a:t>Remote VA Toolkit · 07 Booking Management · Sample data is fictional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1"/>
          <p:cNvSpPr/>
          <p:nvPr/>
        </p:nvSpPr>
        <p:spPr>
          <a:xfrm>
            <a:off x="812800" y="6604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08 / 16 · RESPONSIBILITIES AND TOOLS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1"/>
          <p:cNvSpPr/>
          <p:nvPr/>
        </p:nvSpPr>
        <p:spPr>
          <a:xfrm>
            <a:off x="812800" y="937258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Records and Documentation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1"/>
          <p:cNvSpPr/>
          <p:nvPr/>
        </p:nvSpPr>
        <p:spPr>
          <a:xfrm>
            <a:off x="812800" y="1447800"/>
            <a:ext cx="10883392" cy="28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DM Sans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Writing things down once so the whole team can find and follow them.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1"/>
          <p:cNvSpPr/>
          <p:nvPr/>
        </p:nvSpPr>
        <p:spPr>
          <a:xfrm>
            <a:off x="812800" y="1933575"/>
            <a:ext cx="39243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WHAT YOU DO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1"/>
          <p:cNvSpPr/>
          <p:nvPr/>
        </p:nvSpPr>
        <p:spPr>
          <a:xfrm>
            <a:off x="812800" y="2235833"/>
            <a:ext cx="3924300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Write SOPs and step-by-step guides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Take and share meeting minutes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File contracts, forms and receipts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Collect e-signatures and track versions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Control who can view or edit records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1"/>
          <p:cNvSpPr/>
          <p:nvPr/>
        </p:nvSpPr>
        <p:spPr>
          <a:xfrm>
            <a:off x="4978400" y="1933575"/>
            <a:ext cx="65928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MODERN TOOLS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1"/>
          <p:cNvSpPr/>
          <p:nvPr/>
        </p:nvSpPr>
        <p:spPr>
          <a:xfrm>
            <a:off x="4978400" y="2235833"/>
            <a:ext cx="6400800" cy="2326640"/>
          </a:xfrm>
          <a:prstGeom prst="roundRect">
            <a:avLst>
              <a:gd name="adj" fmla="val 43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1"/>
          <p:cNvSpPr/>
          <p:nvPr/>
        </p:nvSpPr>
        <p:spPr>
          <a:xfrm>
            <a:off x="4978400" y="2235833"/>
            <a:ext cx="6400800" cy="2326640"/>
          </a:xfrm>
          <a:custGeom>
            <a:avLst/>
            <a:gdLst/>
            <a:ahLst/>
            <a:cxnLst/>
            <a:rect l="l" t="t" r="r" b="b"/>
            <a:pathLst>
              <a:path w="6400800" h="2326640" extrusionOk="0">
                <a:moveTo>
                  <a:pt x="6299200" y="0"/>
                </a:moveTo>
                <a:lnTo>
                  <a:pt x="6299200" y="0"/>
                </a:lnTo>
                <a:cubicBezTo>
                  <a:pt x="6326146" y="0"/>
                  <a:pt x="6351988" y="10704"/>
                  <a:pt x="6371042" y="29758"/>
                </a:cubicBezTo>
                <a:cubicBezTo>
                  <a:pt x="6390096" y="48812"/>
                  <a:pt x="6400800" y="74654"/>
                  <a:pt x="6400800" y="101600"/>
                </a:cubicBezTo>
                <a:lnTo>
                  <a:pt x="6400800" y="2225040"/>
                </a:lnTo>
                <a:cubicBezTo>
                  <a:pt x="6400800" y="2281152"/>
                  <a:pt x="6355312" y="2326640"/>
                  <a:pt x="6299200" y="2326640"/>
                </a:cubicBezTo>
                <a:lnTo>
                  <a:pt x="101600" y="2326640"/>
                </a:lnTo>
                <a:cubicBezTo>
                  <a:pt x="45488" y="2326640"/>
                  <a:pt x="0" y="2281152"/>
                  <a:pt x="0" y="2225040"/>
                </a:cubicBezTo>
                <a:lnTo>
                  <a:pt x="0" y="2225040"/>
                </a:lnTo>
                <a:cubicBezTo>
                  <a:pt x="0" y="2277645"/>
                  <a:pt x="45488" y="2320290"/>
                  <a:pt x="101600" y="2320290"/>
                </a:cubicBezTo>
                <a:lnTo>
                  <a:pt x="6299200" y="2320290"/>
                </a:lnTo>
                <a:cubicBezTo>
                  <a:pt x="6351805" y="2320290"/>
                  <a:pt x="6394450" y="2277645"/>
                  <a:pt x="6394450" y="2225040"/>
                </a:cubicBezTo>
                <a:lnTo>
                  <a:pt x="6394450" y="101600"/>
                </a:lnTo>
                <a:cubicBezTo>
                  <a:pt x="6394450" y="45488"/>
                  <a:pt x="6351805" y="0"/>
                  <a:pt x="6299200" y="0"/>
                </a:cubicBezTo>
                <a:close/>
              </a:path>
            </a:pathLst>
          </a:custGeom>
          <a:solidFill>
            <a:srgbClr val="DDE1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21"/>
          <p:cNvSpPr/>
          <p:nvPr/>
        </p:nvSpPr>
        <p:spPr>
          <a:xfrm>
            <a:off x="4978400" y="2235833"/>
            <a:ext cx="6400800" cy="2326640"/>
          </a:xfrm>
          <a:custGeom>
            <a:avLst/>
            <a:gdLst/>
            <a:ahLst/>
            <a:cxnLst/>
            <a:rect l="l" t="t" r="r" b="b"/>
            <a:pathLst>
              <a:path w="6400800" h="2326640" extrusionOk="0">
                <a:moveTo>
                  <a:pt x="101600" y="2326640"/>
                </a:moveTo>
                <a:lnTo>
                  <a:pt x="101600" y="2326640"/>
                </a:lnTo>
                <a:cubicBezTo>
                  <a:pt x="45488" y="2326640"/>
                  <a:pt x="0" y="2281152"/>
                  <a:pt x="0" y="2225040"/>
                </a:cubicBezTo>
                <a:lnTo>
                  <a:pt x="0" y="101600"/>
                </a:lnTo>
                <a:cubicBezTo>
                  <a:pt x="0" y="45488"/>
                  <a:pt x="45488" y="0"/>
                  <a:pt x="101600" y="0"/>
                </a:cubicBezTo>
                <a:lnTo>
                  <a:pt x="6299200" y="0"/>
                </a:lnTo>
                <a:cubicBezTo>
                  <a:pt x="6326146" y="0"/>
                  <a:pt x="6351988" y="10704"/>
                  <a:pt x="6371042" y="29758"/>
                </a:cubicBezTo>
                <a:cubicBezTo>
                  <a:pt x="6390096" y="48812"/>
                  <a:pt x="6400800" y="74654"/>
                  <a:pt x="6400800" y="101600"/>
                </a:cubicBezTo>
                <a:lnTo>
                  <a:pt x="6400800" y="101600"/>
                </a:lnTo>
                <a:cubicBezTo>
                  <a:pt x="6400800" y="51099"/>
                  <a:pt x="6355312" y="10160"/>
                  <a:pt x="6299200" y="10160"/>
                </a:cubicBezTo>
                <a:lnTo>
                  <a:pt x="101600" y="10160"/>
                </a:lnTo>
                <a:cubicBezTo>
                  <a:pt x="51099" y="10160"/>
                  <a:pt x="10160" y="51099"/>
                  <a:pt x="10160" y="101600"/>
                </a:cubicBezTo>
                <a:lnTo>
                  <a:pt x="10160" y="2225040"/>
                </a:lnTo>
                <a:cubicBezTo>
                  <a:pt x="10160" y="2281152"/>
                  <a:pt x="51099" y="2326640"/>
                  <a:pt x="101600" y="2326640"/>
                </a:cubicBezTo>
                <a:close/>
              </a:path>
            </a:pathLst>
          </a:custGeom>
          <a:solidFill>
            <a:srgbClr val="141413">
              <a:alpha val="2196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21"/>
          <p:cNvSpPr/>
          <p:nvPr/>
        </p:nvSpPr>
        <p:spPr>
          <a:xfrm>
            <a:off x="4988560" y="2245993"/>
            <a:ext cx="6385560" cy="330200"/>
          </a:xfrm>
          <a:custGeom>
            <a:avLst/>
            <a:gdLst/>
            <a:ahLst/>
            <a:cxnLst/>
            <a:rect l="l" t="t" r="r" b="b"/>
            <a:pathLst>
              <a:path w="6385560" h="330200" extrusionOk="0">
                <a:moveTo>
                  <a:pt x="0" y="91440"/>
                </a:moveTo>
                <a:cubicBezTo>
                  <a:pt x="0" y="40939"/>
                  <a:pt x="40939" y="0"/>
                  <a:pt x="91440" y="0"/>
                </a:cubicBezTo>
                <a:lnTo>
                  <a:pt x="6289040" y="0"/>
                </a:lnTo>
                <a:cubicBezTo>
                  <a:pt x="6314639" y="0"/>
                  <a:pt x="6339189" y="10169"/>
                  <a:pt x="6357290" y="28270"/>
                </a:cubicBezTo>
                <a:cubicBezTo>
                  <a:pt x="6375391" y="46371"/>
                  <a:pt x="6385560" y="70921"/>
                  <a:pt x="6385560" y="96520"/>
                </a:cubicBezTo>
                <a:lnTo>
                  <a:pt x="6385560" y="330200"/>
                </a:lnTo>
                <a:lnTo>
                  <a:pt x="0" y="330200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86" name="Google Shape;486;p21"/>
          <p:cNvGraphicFramePr/>
          <p:nvPr/>
        </p:nvGraphicFramePr>
        <p:xfrm>
          <a:off x="4988560" y="2245993"/>
          <a:ext cx="6385550" cy="2395995"/>
        </p:xfrm>
        <a:graphic>
          <a:graphicData uri="http://schemas.openxmlformats.org/drawingml/2006/table">
            <a:tbl>
              <a:tblPr>
                <a:noFill/>
                <a:tableStyleId>{537F66EC-7DD4-4156-ACD3-CA23E1461CC9}</a:tableStyleId>
              </a:tblPr>
              <a:tblGrid>
                <a:gridCol w="204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673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5F667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Tool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673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5F667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Use it for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Google Docs / Word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Documents with comments and history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Notion / Confluence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Team wikis and SOP libraries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Scribe / Tango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Auto step-by-step guides from clicks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DocuSign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E-signatures with an audit trail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Adobe Acrobat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PDFs, fillable forms, redaction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Fathom / Otter.ai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meeting notes and action items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87" name="Google Shape;487;p21"/>
          <p:cNvSpPr/>
          <p:nvPr/>
        </p:nvSpPr>
        <p:spPr>
          <a:xfrm>
            <a:off x="812800" y="4791075"/>
            <a:ext cx="10566400" cy="485140"/>
          </a:xfrm>
          <a:prstGeom prst="roundRect">
            <a:avLst>
              <a:gd name="adj" fmla="val 20942"/>
            </a:avLst>
          </a:prstGeom>
          <a:solidFill>
            <a:srgbClr val="E7EE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21"/>
          <p:cNvSpPr/>
          <p:nvPr/>
        </p:nvSpPr>
        <p:spPr>
          <a:xfrm>
            <a:off x="990600" y="4918075"/>
            <a:ext cx="10517124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3F8C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63F8C"/>
                </a:solidFill>
                <a:latin typeface="DM Sans"/>
                <a:ea typeface="DM Sans"/>
                <a:cs typeface="DM Sans"/>
                <a:sym typeface="DM Sans"/>
              </a:rPr>
              <a:t>Pro tip:</a:t>
            </a:r>
            <a:r>
              <a:rPr lang="en-US" sz="1300" b="0" i="0" u="none" strike="noStrike" cap="none">
                <a:solidFill>
                  <a:srgbClr val="163F8C"/>
                </a:solidFill>
                <a:latin typeface="DM Sans"/>
                <a:ea typeface="DM Sans"/>
                <a:cs typeface="DM Sans"/>
                <a:sym typeface="DM Sans"/>
              </a:rPr>
              <a:t> if you do a task twice, write an SOP. The third time, anyone on the team can do it.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1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838E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7C838E"/>
                </a:solidFill>
                <a:latin typeface="DM Sans"/>
                <a:ea typeface="DM Sans"/>
                <a:cs typeface="DM Sans"/>
                <a:sym typeface="DM Sans"/>
              </a:rPr>
              <a:t>Remote VA Toolkit · 08 Records and Documentation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2"/>
          <p:cNvSpPr/>
          <p:nvPr/>
        </p:nvSpPr>
        <p:spPr>
          <a:xfrm>
            <a:off x="812800" y="6604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08 / 16 · SAMPLE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2"/>
          <p:cNvSpPr/>
          <p:nvPr/>
        </p:nvSpPr>
        <p:spPr>
          <a:xfrm>
            <a:off x="812800" y="937258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A one-page SOP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2"/>
          <p:cNvSpPr/>
          <p:nvPr/>
        </p:nvSpPr>
        <p:spPr>
          <a:xfrm>
            <a:off x="815975" y="1616075"/>
            <a:ext cx="7156450" cy="2936260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5400000" algn="bl" rotWithShape="0">
              <a:srgbClr val="121417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22"/>
          <p:cNvSpPr/>
          <p:nvPr/>
        </p:nvSpPr>
        <p:spPr>
          <a:xfrm>
            <a:off x="1021080" y="1821185"/>
            <a:ext cx="37128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400"/>
              <a:buFont typeface="DM Sans"/>
              <a:buNone/>
            </a:pPr>
            <a:r>
              <a:rPr lang="en-US" sz="14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SOP-014 · Processing a new client invoice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2"/>
          <p:cNvSpPr/>
          <p:nvPr/>
        </p:nvSpPr>
        <p:spPr>
          <a:xfrm>
            <a:off x="6419136" y="1846585"/>
            <a:ext cx="139898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v1.2 · Owner: Admin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2"/>
          <p:cNvSpPr/>
          <p:nvPr/>
        </p:nvSpPr>
        <p:spPr>
          <a:xfrm>
            <a:off x="1021080" y="2171700"/>
            <a:ext cx="6948627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Purpose: pay suppliers on time and keep records complete. Time: 10 minutes.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1" name="Google Shape;501;p22" descr="line"/>
          <p:cNvPicPr preferRelativeResize="0"/>
          <p:nvPr/>
        </p:nvPicPr>
        <p:blipFill rotWithShape="1">
          <a:blip r:embed="rId3">
            <a:alphaModFix/>
          </a:blip>
          <a:srcRect l="-12525" r="-12525"/>
          <a:stretch/>
        </p:blipFill>
        <p:spPr>
          <a:xfrm>
            <a:off x="1021080" y="2486658"/>
            <a:ext cx="6746240" cy="1016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22"/>
          <p:cNvSpPr/>
          <p:nvPr/>
        </p:nvSpPr>
        <p:spPr>
          <a:xfrm>
            <a:off x="1021080" y="2598427"/>
            <a:ext cx="6948627" cy="146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98120" marR="0" lvl="0" indent="-19812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AutoNum type="arabicPeriod"/>
            </a:pPr>
            <a:r>
              <a:rPr lang="en-US" sz="13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Save the invoice PDF to Finance / 2026 / Invoices.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8120" marR="0" lvl="0" indent="-19812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AutoNum type="arabicPeriod"/>
            </a:pPr>
            <a:r>
              <a:rPr lang="en-US" sz="13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Rename it: 2026-10-02_SupplierName_INV-0451.pdf.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8120" marR="0" lvl="0" indent="-19812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AutoNum type="arabicPeriod"/>
            </a:pPr>
            <a:r>
              <a:rPr lang="en-US" sz="13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Check amount and PO number against the order.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8120" marR="0" lvl="0" indent="-19812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AutoNum type="arabicPeriod"/>
            </a:pPr>
            <a:r>
              <a:rPr lang="en-US" sz="13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Log it in the Invoice Tracker with the due date.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8120" marR="0" lvl="0" indent="-19812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AutoNum type="arabicPeriod"/>
            </a:pPr>
            <a:r>
              <a:rPr lang="en-US" sz="13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Send to the approver using the approval template.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98120" marR="0" lvl="0" indent="-19812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AutoNum type="arabicPeriod"/>
            </a:pPr>
            <a:r>
              <a:rPr lang="en-US" sz="13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After payment, mark Paid and file the receipt.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2"/>
          <p:cNvSpPr/>
          <p:nvPr/>
        </p:nvSpPr>
        <p:spPr>
          <a:xfrm>
            <a:off x="8331200" y="1612900"/>
            <a:ext cx="313944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EVERY SOP HAS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2"/>
          <p:cNvSpPr/>
          <p:nvPr/>
        </p:nvSpPr>
        <p:spPr>
          <a:xfrm>
            <a:off x="8331200" y="1927858"/>
            <a:ext cx="3139440" cy="98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An ID, version and owner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Purpose and time needed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Numbered steps, one action each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Exact folder and file names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2"/>
          <p:cNvSpPr/>
          <p:nvPr/>
        </p:nvSpPr>
        <p:spPr>
          <a:xfrm>
            <a:off x="8331200" y="3129219"/>
            <a:ext cx="313944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 dirty="0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BUILT WITH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2"/>
          <p:cNvSpPr/>
          <p:nvPr/>
        </p:nvSpPr>
        <p:spPr>
          <a:xfrm>
            <a:off x="8331200" y="3429000"/>
            <a:ext cx="313944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DM Sans"/>
              <a:buNone/>
            </a:pPr>
            <a:r>
              <a:rPr lang="en-US" sz="1300" b="0" i="0" u="none" strike="noStrike" cap="none" dirty="0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Notion or Google Docs, screenshots from Scribe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838E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7C838E"/>
                </a:solidFill>
                <a:latin typeface="DM Sans"/>
                <a:ea typeface="DM Sans"/>
                <a:cs typeface="DM Sans"/>
                <a:sym typeface="DM Sans"/>
              </a:rPr>
              <a:t>Remote VA Toolkit · 08 Records and Documentation · Sample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3"/>
          <p:cNvSpPr/>
          <p:nvPr/>
        </p:nvSpPr>
        <p:spPr>
          <a:xfrm>
            <a:off x="812800" y="6604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09 / 16 · RESPONSIBILITIES AND TOOLS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3"/>
          <p:cNvSpPr/>
          <p:nvPr/>
        </p:nvSpPr>
        <p:spPr>
          <a:xfrm>
            <a:off x="812800" y="937258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Reports and Presentations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3"/>
          <p:cNvSpPr/>
          <p:nvPr/>
        </p:nvSpPr>
        <p:spPr>
          <a:xfrm>
            <a:off x="812800" y="1447800"/>
            <a:ext cx="10883392" cy="28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DM Sans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Turning notes and numbers into slides people understand quickly.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3"/>
          <p:cNvSpPr/>
          <p:nvPr/>
        </p:nvSpPr>
        <p:spPr>
          <a:xfrm>
            <a:off x="812800" y="1933575"/>
            <a:ext cx="39243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WHAT YOU DO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3"/>
          <p:cNvSpPr/>
          <p:nvPr/>
        </p:nvSpPr>
        <p:spPr>
          <a:xfrm>
            <a:off x="812800" y="2235833"/>
            <a:ext cx="3924300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Outline the story before designing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Build slides on the brand template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Turn tables into clear charts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Proofread every number and name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Export PDF and write speaker notes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3"/>
          <p:cNvSpPr/>
          <p:nvPr/>
        </p:nvSpPr>
        <p:spPr>
          <a:xfrm>
            <a:off x="4978400" y="1933575"/>
            <a:ext cx="65928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MODERN TOOLS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3"/>
          <p:cNvSpPr/>
          <p:nvPr/>
        </p:nvSpPr>
        <p:spPr>
          <a:xfrm>
            <a:off x="4978400" y="2235833"/>
            <a:ext cx="6400800" cy="2326640"/>
          </a:xfrm>
          <a:prstGeom prst="roundRect">
            <a:avLst>
              <a:gd name="adj" fmla="val 43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23"/>
          <p:cNvSpPr/>
          <p:nvPr/>
        </p:nvSpPr>
        <p:spPr>
          <a:xfrm>
            <a:off x="4978400" y="2235833"/>
            <a:ext cx="6400800" cy="2326640"/>
          </a:xfrm>
          <a:custGeom>
            <a:avLst/>
            <a:gdLst/>
            <a:ahLst/>
            <a:cxnLst/>
            <a:rect l="l" t="t" r="r" b="b"/>
            <a:pathLst>
              <a:path w="6400800" h="2326640" extrusionOk="0">
                <a:moveTo>
                  <a:pt x="6299200" y="0"/>
                </a:moveTo>
                <a:lnTo>
                  <a:pt x="6299200" y="0"/>
                </a:lnTo>
                <a:cubicBezTo>
                  <a:pt x="6326146" y="0"/>
                  <a:pt x="6351988" y="10704"/>
                  <a:pt x="6371042" y="29758"/>
                </a:cubicBezTo>
                <a:cubicBezTo>
                  <a:pt x="6390096" y="48812"/>
                  <a:pt x="6400800" y="74654"/>
                  <a:pt x="6400800" y="101600"/>
                </a:cubicBezTo>
                <a:lnTo>
                  <a:pt x="6400800" y="2225040"/>
                </a:lnTo>
                <a:cubicBezTo>
                  <a:pt x="6400800" y="2281152"/>
                  <a:pt x="6355312" y="2326640"/>
                  <a:pt x="6299200" y="2326640"/>
                </a:cubicBezTo>
                <a:lnTo>
                  <a:pt x="101600" y="2326640"/>
                </a:lnTo>
                <a:cubicBezTo>
                  <a:pt x="45488" y="2326640"/>
                  <a:pt x="0" y="2281152"/>
                  <a:pt x="0" y="2225040"/>
                </a:cubicBezTo>
                <a:lnTo>
                  <a:pt x="0" y="2225040"/>
                </a:lnTo>
                <a:cubicBezTo>
                  <a:pt x="0" y="2277645"/>
                  <a:pt x="45488" y="2320290"/>
                  <a:pt x="101600" y="2320290"/>
                </a:cubicBezTo>
                <a:lnTo>
                  <a:pt x="6299200" y="2320290"/>
                </a:lnTo>
                <a:cubicBezTo>
                  <a:pt x="6351805" y="2320290"/>
                  <a:pt x="6394450" y="2277645"/>
                  <a:pt x="6394450" y="2225040"/>
                </a:cubicBezTo>
                <a:lnTo>
                  <a:pt x="6394450" y="101600"/>
                </a:lnTo>
                <a:cubicBezTo>
                  <a:pt x="6394450" y="45488"/>
                  <a:pt x="6351805" y="0"/>
                  <a:pt x="6299200" y="0"/>
                </a:cubicBezTo>
                <a:close/>
              </a:path>
            </a:pathLst>
          </a:custGeom>
          <a:solidFill>
            <a:srgbClr val="DDE1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23"/>
          <p:cNvSpPr/>
          <p:nvPr/>
        </p:nvSpPr>
        <p:spPr>
          <a:xfrm>
            <a:off x="4978400" y="2235833"/>
            <a:ext cx="6400800" cy="2326640"/>
          </a:xfrm>
          <a:custGeom>
            <a:avLst/>
            <a:gdLst/>
            <a:ahLst/>
            <a:cxnLst/>
            <a:rect l="l" t="t" r="r" b="b"/>
            <a:pathLst>
              <a:path w="6400800" h="2326640" extrusionOk="0">
                <a:moveTo>
                  <a:pt x="101600" y="2326640"/>
                </a:moveTo>
                <a:lnTo>
                  <a:pt x="101600" y="2326640"/>
                </a:lnTo>
                <a:cubicBezTo>
                  <a:pt x="45488" y="2326640"/>
                  <a:pt x="0" y="2281152"/>
                  <a:pt x="0" y="2225040"/>
                </a:cubicBezTo>
                <a:lnTo>
                  <a:pt x="0" y="101600"/>
                </a:lnTo>
                <a:cubicBezTo>
                  <a:pt x="0" y="45488"/>
                  <a:pt x="45488" y="0"/>
                  <a:pt x="101600" y="0"/>
                </a:cubicBezTo>
                <a:lnTo>
                  <a:pt x="6299200" y="0"/>
                </a:lnTo>
                <a:cubicBezTo>
                  <a:pt x="6326146" y="0"/>
                  <a:pt x="6351988" y="10704"/>
                  <a:pt x="6371042" y="29758"/>
                </a:cubicBezTo>
                <a:cubicBezTo>
                  <a:pt x="6390096" y="48812"/>
                  <a:pt x="6400800" y="74654"/>
                  <a:pt x="6400800" y="101600"/>
                </a:cubicBezTo>
                <a:lnTo>
                  <a:pt x="6400800" y="101600"/>
                </a:lnTo>
                <a:cubicBezTo>
                  <a:pt x="6400800" y="51099"/>
                  <a:pt x="6355312" y="10160"/>
                  <a:pt x="6299200" y="10160"/>
                </a:cubicBezTo>
                <a:lnTo>
                  <a:pt x="101600" y="10160"/>
                </a:lnTo>
                <a:cubicBezTo>
                  <a:pt x="51099" y="10160"/>
                  <a:pt x="10160" y="51099"/>
                  <a:pt x="10160" y="101600"/>
                </a:cubicBezTo>
                <a:lnTo>
                  <a:pt x="10160" y="2225040"/>
                </a:lnTo>
                <a:cubicBezTo>
                  <a:pt x="10160" y="2281152"/>
                  <a:pt x="51099" y="2326640"/>
                  <a:pt x="101600" y="2326640"/>
                </a:cubicBezTo>
                <a:close/>
              </a:path>
            </a:pathLst>
          </a:custGeom>
          <a:solidFill>
            <a:srgbClr val="141413">
              <a:alpha val="2196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23"/>
          <p:cNvSpPr/>
          <p:nvPr/>
        </p:nvSpPr>
        <p:spPr>
          <a:xfrm>
            <a:off x="4988560" y="2245993"/>
            <a:ext cx="6385560" cy="330200"/>
          </a:xfrm>
          <a:custGeom>
            <a:avLst/>
            <a:gdLst/>
            <a:ahLst/>
            <a:cxnLst/>
            <a:rect l="l" t="t" r="r" b="b"/>
            <a:pathLst>
              <a:path w="6385560" h="330200" extrusionOk="0">
                <a:moveTo>
                  <a:pt x="0" y="91440"/>
                </a:moveTo>
                <a:cubicBezTo>
                  <a:pt x="0" y="40939"/>
                  <a:pt x="40939" y="0"/>
                  <a:pt x="91440" y="0"/>
                </a:cubicBezTo>
                <a:lnTo>
                  <a:pt x="6289040" y="0"/>
                </a:lnTo>
                <a:cubicBezTo>
                  <a:pt x="6314639" y="0"/>
                  <a:pt x="6339189" y="10169"/>
                  <a:pt x="6357290" y="28270"/>
                </a:cubicBezTo>
                <a:cubicBezTo>
                  <a:pt x="6375391" y="46371"/>
                  <a:pt x="6385560" y="70921"/>
                  <a:pt x="6385560" y="96520"/>
                </a:cubicBezTo>
                <a:lnTo>
                  <a:pt x="6385560" y="330200"/>
                </a:lnTo>
                <a:lnTo>
                  <a:pt x="0" y="330200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523" name="Google Shape;523;p23"/>
          <p:cNvGraphicFramePr/>
          <p:nvPr/>
        </p:nvGraphicFramePr>
        <p:xfrm>
          <a:off x="4988560" y="2245993"/>
          <a:ext cx="6385550" cy="2395995"/>
        </p:xfrm>
        <a:graphic>
          <a:graphicData uri="http://schemas.openxmlformats.org/drawingml/2006/table">
            <a:tbl>
              <a:tblPr>
                <a:noFill/>
                <a:tableStyleId>{537F66EC-7DD4-4156-ACD3-CA23E1461CC9}</a:tableStyleId>
              </a:tblPr>
              <a:tblGrid>
                <a:gridCol w="204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673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5F667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Tool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673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5F667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Use it for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PowerPoint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Company decks, Copilot for first drafts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Google Slides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Shared decks the team edits together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Canva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Templates, brand kits, polished visuals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Gamma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first drafts of whole decks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Beautiful.ai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Slides that format themselves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Claude / ChatGPT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Outlines, summaries, speaker notes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24" name="Google Shape;524;p23"/>
          <p:cNvSpPr/>
          <p:nvPr/>
        </p:nvSpPr>
        <p:spPr>
          <a:xfrm>
            <a:off x="812800" y="4791075"/>
            <a:ext cx="10566400" cy="485140"/>
          </a:xfrm>
          <a:prstGeom prst="roundRect">
            <a:avLst>
              <a:gd name="adj" fmla="val 20942"/>
            </a:avLst>
          </a:prstGeom>
          <a:solidFill>
            <a:srgbClr val="E7EE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23"/>
          <p:cNvSpPr/>
          <p:nvPr/>
        </p:nvSpPr>
        <p:spPr>
          <a:xfrm>
            <a:off x="990600" y="4918075"/>
            <a:ext cx="10517124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3F8C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63F8C"/>
                </a:solidFill>
                <a:latin typeface="DM Sans"/>
                <a:ea typeface="DM Sans"/>
                <a:cs typeface="DM Sans"/>
                <a:sym typeface="DM Sans"/>
              </a:rPr>
              <a:t>Pro tip:</a:t>
            </a:r>
            <a:r>
              <a:rPr lang="en-US" sz="1300" b="0" i="0" u="none" strike="noStrike" cap="none">
                <a:solidFill>
                  <a:srgbClr val="163F8C"/>
                </a:solidFill>
                <a:latin typeface="DM Sans"/>
                <a:ea typeface="DM Sans"/>
                <a:cs typeface="DM Sans"/>
                <a:sym typeface="DM Sans"/>
              </a:rPr>
              <a:t> write every slide title as the takeaway, for example “Sales grew 8% in Q3”, not just “Sales”.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838E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7C838E"/>
                </a:solidFill>
                <a:latin typeface="DM Sans"/>
                <a:ea typeface="DM Sans"/>
                <a:cs typeface="DM Sans"/>
                <a:sym typeface="DM Sans"/>
              </a:rPr>
              <a:t>Remote VA Toolkit · 09 Reports and Presentations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4"/>
          <p:cNvSpPr/>
          <p:nvPr/>
        </p:nvSpPr>
        <p:spPr>
          <a:xfrm>
            <a:off x="812800" y="6604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09 / 16 · SAMPLE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4"/>
          <p:cNvSpPr/>
          <p:nvPr/>
        </p:nvSpPr>
        <p:spPr>
          <a:xfrm>
            <a:off x="812800" y="937258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A five-slide monthly review outline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4"/>
          <p:cNvSpPr/>
          <p:nvPr/>
        </p:nvSpPr>
        <p:spPr>
          <a:xfrm>
            <a:off x="812800" y="1612900"/>
            <a:ext cx="2011680" cy="1131570"/>
          </a:xfrm>
          <a:prstGeom prst="roundRect">
            <a:avLst>
              <a:gd name="adj" fmla="val 7856"/>
            </a:avLst>
          </a:prstGeom>
          <a:solidFill>
            <a:srgbClr val="1214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24"/>
          <p:cNvSpPr/>
          <p:nvPr/>
        </p:nvSpPr>
        <p:spPr>
          <a:xfrm>
            <a:off x="927100" y="2416808"/>
            <a:ext cx="1836573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6F8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F5F6F8"/>
                </a:solidFill>
                <a:latin typeface="DM Sans"/>
                <a:ea typeface="DM Sans"/>
                <a:cs typeface="DM Sans"/>
                <a:sym typeface="DM Sans"/>
              </a:rPr>
              <a:t>September Review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4"/>
          <p:cNvSpPr/>
          <p:nvPr/>
        </p:nvSpPr>
        <p:spPr>
          <a:xfrm>
            <a:off x="812800" y="2833377"/>
            <a:ext cx="2072031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1 Title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4"/>
          <p:cNvSpPr/>
          <p:nvPr/>
        </p:nvSpPr>
        <p:spPr>
          <a:xfrm>
            <a:off x="812800" y="3135635"/>
            <a:ext cx="2072031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Month, team, date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4"/>
          <p:cNvSpPr/>
          <p:nvPr/>
        </p:nvSpPr>
        <p:spPr>
          <a:xfrm>
            <a:off x="2954655" y="1616075"/>
            <a:ext cx="2005330" cy="11252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24"/>
          <p:cNvSpPr/>
          <p:nvPr/>
        </p:nvSpPr>
        <p:spPr>
          <a:xfrm>
            <a:off x="3070860" y="2371092"/>
            <a:ext cx="548640" cy="254000"/>
          </a:xfrm>
          <a:prstGeom prst="roundRect">
            <a:avLst>
              <a:gd name="adj" fmla="val 15000"/>
            </a:avLst>
          </a:prstGeom>
          <a:solidFill>
            <a:srgbClr val="E7EE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24"/>
          <p:cNvSpPr/>
          <p:nvPr/>
        </p:nvSpPr>
        <p:spPr>
          <a:xfrm>
            <a:off x="3683000" y="2371092"/>
            <a:ext cx="548640" cy="254000"/>
          </a:xfrm>
          <a:prstGeom prst="roundRect">
            <a:avLst>
              <a:gd name="adj" fmla="val 15000"/>
            </a:avLst>
          </a:prstGeom>
          <a:solidFill>
            <a:srgbClr val="E7EE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24"/>
          <p:cNvSpPr/>
          <p:nvPr/>
        </p:nvSpPr>
        <p:spPr>
          <a:xfrm>
            <a:off x="4295140" y="2371092"/>
            <a:ext cx="548640" cy="254000"/>
          </a:xfrm>
          <a:prstGeom prst="roundRect">
            <a:avLst>
              <a:gd name="adj" fmla="val 15000"/>
            </a:avLst>
          </a:prstGeom>
          <a:solidFill>
            <a:srgbClr val="1D5FD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24"/>
          <p:cNvSpPr/>
          <p:nvPr/>
        </p:nvSpPr>
        <p:spPr>
          <a:xfrm>
            <a:off x="2951480" y="2833377"/>
            <a:ext cx="2072031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2 Headline numbers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4"/>
          <p:cNvSpPr/>
          <p:nvPr/>
        </p:nvSpPr>
        <p:spPr>
          <a:xfrm>
            <a:off x="2951480" y="3135635"/>
            <a:ext cx="2072031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Three KPIs with change vs last month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4"/>
          <p:cNvSpPr/>
          <p:nvPr/>
        </p:nvSpPr>
        <p:spPr>
          <a:xfrm>
            <a:off x="5093335" y="1616075"/>
            <a:ext cx="2005330" cy="11252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24"/>
          <p:cNvSpPr/>
          <p:nvPr/>
        </p:nvSpPr>
        <p:spPr>
          <a:xfrm>
            <a:off x="5209540" y="2434592"/>
            <a:ext cx="395605" cy="190500"/>
          </a:xfrm>
          <a:prstGeom prst="roundRect">
            <a:avLst>
              <a:gd name="adj" fmla="val 13333"/>
            </a:avLst>
          </a:prstGeom>
          <a:solidFill>
            <a:srgbClr val="C9D2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24"/>
          <p:cNvSpPr/>
          <p:nvPr/>
        </p:nvSpPr>
        <p:spPr>
          <a:xfrm>
            <a:off x="5668645" y="2307592"/>
            <a:ext cx="395605" cy="317500"/>
          </a:xfrm>
          <a:prstGeom prst="roundRect">
            <a:avLst>
              <a:gd name="adj" fmla="val 8000"/>
            </a:avLst>
          </a:prstGeom>
          <a:solidFill>
            <a:srgbClr val="C9D2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24"/>
          <p:cNvSpPr/>
          <p:nvPr/>
        </p:nvSpPr>
        <p:spPr>
          <a:xfrm>
            <a:off x="6127750" y="2345692"/>
            <a:ext cx="395605" cy="279400"/>
          </a:xfrm>
          <a:prstGeom prst="roundRect">
            <a:avLst>
              <a:gd name="adj" fmla="val 9091"/>
            </a:avLst>
          </a:prstGeom>
          <a:solidFill>
            <a:srgbClr val="C9D2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24"/>
          <p:cNvSpPr/>
          <p:nvPr/>
        </p:nvSpPr>
        <p:spPr>
          <a:xfrm>
            <a:off x="6586855" y="2180592"/>
            <a:ext cx="395605" cy="444500"/>
          </a:xfrm>
          <a:prstGeom prst="roundRect">
            <a:avLst>
              <a:gd name="adj" fmla="val 6421"/>
            </a:avLst>
          </a:prstGeom>
          <a:solidFill>
            <a:srgbClr val="1D5FD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24"/>
          <p:cNvSpPr/>
          <p:nvPr/>
        </p:nvSpPr>
        <p:spPr>
          <a:xfrm>
            <a:off x="5090160" y="2833377"/>
            <a:ext cx="2072031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3 Trend chart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4"/>
          <p:cNvSpPr/>
          <p:nvPr/>
        </p:nvSpPr>
        <p:spPr>
          <a:xfrm>
            <a:off x="5090160" y="3135635"/>
            <a:ext cx="2072031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One chart, title states the takeaway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4"/>
          <p:cNvSpPr/>
          <p:nvPr/>
        </p:nvSpPr>
        <p:spPr>
          <a:xfrm>
            <a:off x="7232015" y="1616075"/>
            <a:ext cx="2005330" cy="11252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24"/>
          <p:cNvSpPr/>
          <p:nvPr/>
        </p:nvSpPr>
        <p:spPr>
          <a:xfrm>
            <a:off x="7348220" y="1732285"/>
            <a:ext cx="1772920" cy="63500"/>
          </a:xfrm>
          <a:prstGeom prst="roundRect">
            <a:avLst>
              <a:gd name="adj" fmla="val 40000"/>
            </a:avLst>
          </a:prstGeom>
          <a:solidFill>
            <a:srgbClr val="C9D2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24"/>
          <p:cNvSpPr/>
          <p:nvPr/>
        </p:nvSpPr>
        <p:spPr>
          <a:xfrm>
            <a:off x="7348220" y="1846585"/>
            <a:ext cx="1772920" cy="63500"/>
          </a:xfrm>
          <a:prstGeom prst="roundRect">
            <a:avLst>
              <a:gd name="adj" fmla="val 40000"/>
            </a:avLst>
          </a:prstGeom>
          <a:solidFill>
            <a:srgbClr val="C9D2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24"/>
          <p:cNvSpPr/>
          <p:nvPr/>
        </p:nvSpPr>
        <p:spPr>
          <a:xfrm>
            <a:off x="7348220" y="1960885"/>
            <a:ext cx="1772920" cy="63500"/>
          </a:xfrm>
          <a:prstGeom prst="roundRect">
            <a:avLst>
              <a:gd name="adj" fmla="val 40000"/>
            </a:avLst>
          </a:prstGeom>
          <a:solidFill>
            <a:srgbClr val="C9D2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24"/>
          <p:cNvSpPr/>
          <p:nvPr/>
        </p:nvSpPr>
        <p:spPr>
          <a:xfrm>
            <a:off x="7228840" y="2833377"/>
            <a:ext cx="2072031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4 Wins and issues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4"/>
          <p:cNvSpPr/>
          <p:nvPr/>
        </p:nvSpPr>
        <p:spPr>
          <a:xfrm>
            <a:off x="7228840" y="3135635"/>
            <a:ext cx="2072031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Two columns, three points each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4"/>
          <p:cNvSpPr/>
          <p:nvPr/>
        </p:nvSpPr>
        <p:spPr>
          <a:xfrm>
            <a:off x="9367520" y="1612900"/>
            <a:ext cx="2011680" cy="1131570"/>
          </a:xfrm>
          <a:prstGeom prst="roundRect">
            <a:avLst>
              <a:gd name="adj" fmla="val 7856"/>
            </a:avLst>
          </a:prstGeom>
          <a:solidFill>
            <a:srgbClr val="1D5FD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24"/>
          <p:cNvSpPr/>
          <p:nvPr/>
        </p:nvSpPr>
        <p:spPr>
          <a:xfrm>
            <a:off x="9481820" y="2416808"/>
            <a:ext cx="1836573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Next steps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4"/>
          <p:cNvSpPr/>
          <p:nvPr/>
        </p:nvSpPr>
        <p:spPr>
          <a:xfrm>
            <a:off x="9367520" y="2833377"/>
            <a:ext cx="2072031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5 Next steps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4"/>
          <p:cNvSpPr/>
          <p:nvPr/>
        </p:nvSpPr>
        <p:spPr>
          <a:xfrm>
            <a:off x="9367520" y="3135635"/>
            <a:ext cx="2072031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Action, owner, due date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4"/>
          <p:cNvSpPr/>
          <p:nvPr/>
        </p:nvSpPr>
        <p:spPr>
          <a:xfrm>
            <a:off x="815975" y="3794125"/>
            <a:ext cx="10560050" cy="539750"/>
          </a:xfrm>
          <a:prstGeom prst="roundRect">
            <a:avLst>
              <a:gd name="adj" fmla="val 18235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24"/>
          <p:cNvSpPr/>
          <p:nvPr/>
        </p:nvSpPr>
        <p:spPr>
          <a:xfrm>
            <a:off x="995680" y="3948435"/>
            <a:ext cx="8261796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Why it works:</a:t>
            </a:r>
            <a:r>
              <a:rPr lang="en-US" sz="13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 one idea per slide, numbers before detail, and it always ends with who does what by when.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4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838E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7C838E"/>
                </a:solidFill>
                <a:latin typeface="DM Sans"/>
                <a:ea typeface="DM Sans"/>
                <a:cs typeface="DM Sans"/>
                <a:sym typeface="DM Sans"/>
              </a:rPr>
              <a:t>Remote VA Toolkit · 09 Reports and Presentations · Built with Google Slides or PowerPoint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5"/>
          <p:cNvSpPr/>
          <p:nvPr/>
        </p:nvSpPr>
        <p:spPr>
          <a:xfrm>
            <a:off x="812800" y="6604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10 / 16 · RESPONSIBILITIES AND TOOLS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5"/>
          <p:cNvSpPr/>
          <p:nvPr/>
        </p:nvSpPr>
        <p:spPr>
          <a:xfrm>
            <a:off x="812800" y="937258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Digital Files Organization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5"/>
          <p:cNvSpPr/>
          <p:nvPr/>
        </p:nvSpPr>
        <p:spPr>
          <a:xfrm>
            <a:off x="812800" y="1447800"/>
            <a:ext cx="10883392" cy="28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DM Sans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Any file found in under 30 seconds, by anyone on the team.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5"/>
          <p:cNvSpPr/>
          <p:nvPr/>
        </p:nvSpPr>
        <p:spPr>
          <a:xfrm>
            <a:off x="812800" y="1933575"/>
            <a:ext cx="39243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WHAT YOU DO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5"/>
          <p:cNvSpPr/>
          <p:nvPr/>
        </p:nvSpPr>
        <p:spPr>
          <a:xfrm>
            <a:off x="812800" y="2235833"/>
            <a:ext cx="3924300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Design a simple folder structure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Apply one file naming rule everywhere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Set sharing and access permissions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Remove duplicates, archive old files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Keep backups and store logins safely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5"/>
          <p:cNvSpPr/>
          <p:nvPr/>
        </p:nvSpPr>
        <p:spPr>
          <a:xfrm>
            <a:off x="4978400" y="1933575"/>
            <a:ext cx="65928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MODERN TOOLS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5"/>
          <p:cNvSpPr/>
          <p:nvPr/>
        </p:nvSpPr>
        <p:spPr>
          <a:xfrm>
            <a:off x="4978400" y="2235833"/>
            <a:ext cx="6400800" cy="2326640"/>
          </a:xfrm>
          <a:prstGeom prst="roundRect">
            <a:avLst>
              <a:gd name="adj" fmla="val 43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25"/>
          <p:cNvSpPr/>
          <p:nvPr/>
        </p:nvSpPr>
        <p:spPr>
          <a:xfrm>
            <a:off x="4978400" y="2235833"/>
            <a:ext cx="6400800" cy="2326640"/>
          </a:xfrm>
          <a:custGeom>
            <a:avLst/>
            <a:gdLst/>
            <a:ahLst/>
            <a:cxnLst/>
            <a:rect l="l" t="t" r="r" b="b"/>
            <a:pathLst>
              <a:path w="6400800" h="2326640" extrusionOk="0">
                <a:moveTo>
                  <a:pt x="6299200" y="0"/>
                </a:moveTo>
                <a:lnTo>
                  <a:pt x="6299200" y="0"/>
                </a:lnTo>
                <a:cubicBezTo>
                  <a:pt x="6326146" y="0"/>
                  <a:pt x="6351988" y="10704"/>
                  <a:pt x="6371042" y="29758"/>
                </a:cubicBezTo>
                <a:cubicBezTo>
                  <a:pt x="6390096" y="48812"/>
                  <a:pt x="6400800" y="74654"/>
                  <a:pt x="6400800" y="101600"/>
                </a:cubicBezTo>
                <a:lnTo>
                  <a:pt x="6400800" y="2225040"/>
                </a:lnTo>
                <a:cubicBezTo>
                  <a:pt x="6400800" y="2281152"/>
                  <a:pt x="6355312" y="2326640"/>
                  <a:pt x="6299200" y="2326640"/>
                </a:cubicBezTo>
                <a:lnTo>
                  <a:pt x="101600" y="2326640"/>
                </a:lnTo>
                <a:cubicBezTo>
                  <a:pt x="45488" y="2326640"/>
                  <a:pt x="0" y="2281152"/>
                  <a:pt x="0" y="2225040"/>
                </a:cubicBezTo>
                <a:lnTo>
                  <a:pt x="0" y="2225040"/>
                </a:lnTo>
                <a:cubicBezTo>
                  <a:pt x="0" y="2277645"/>
                  <a:pt x="45488" y="2320290"/>
                  <a:pt x="101600" y="2320290"/>
                </a:cubicBezTo>
                <a:lnTo>
                  <a:pt x="6299200" y="2320290"/>
                </a:lnTo>
                <a:cubicBezTo>
                  <a:pt x="6351805" y="2320290"/>
                  <a:pt x="6394450" y="2277645"/>
                  <a:pt x="6394450" y="2225040"/>
                </a:cubicBezTo>
                <a:lnTo>
                  <a:pt x="6394450" y="101600"/>
                </a:lnTo>
                <a:cubicBezTo>
                  <a:pt x="6394450" y="45488"/>
                  <a:pt x="6351805" y="0"/>
                  <a:pt x="6299200" y="0"/>
                </a:cubicBezTo>
                <a:close/>
              </a:path>
            </a:pathLst>
          </a:custGeom>
          <a:solidFill>
            <a:srgbClr val="DDE1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25"/>
          <p:cNvSpPr/>
          <p:nvPr/>
        </p:nvSpPr>
        <p:spPr>
          <a:xfrm>
            <a:off x="4978400" y="2235833"/>
            <a:ext cx="6400800" cy="2326640"/>
          </a:xfrm>
          <a:custGeom>
            <a:avLst/>
            <a:gdLst/>
            <a:ahLst/>
            <a:cxnLst/>
            <a:rect l="l" t="t" r="r" b="b"/>
            <a:pathLst>
              <a:path w="6400800" h="2326640" extrusionOk="0">
                <a:moveTo>
                  <a:pt x="101600" y="2326640"/>
                </a:moveTo>
                <a:lnTo>
                  <a:pt x="101600" y="2326640"/>
                </a:lnTo>
                <a:cubicBezTo>
                  <a:pt x="45488" y="2326640"/>
                  <a:pt x="0" y="2281152"/>
                  <a:pt x="0" y="2225040"/>
                </a:cubicBezTo>
                <a:lnTo>
                  <a:pt x="0" y="101600"/>
                </a:lnTo>
                <a:cubicBezTo>
                  <a:pt x="0" y="45488"/>
                  <a:pt x="45488" y="0"/>
                  <a:pt x="101600" y="0"/>
                </a:cubicBezTo>
                <a:lnTo>
                  <a:pt x="6299200" y="0"/>
                </a:lnTo>
                <a:cubicBezTo>
                  <a:pt x="6326146" y="0"/>
                  <a:pt x="6351988" y="10704"/>
                  <a:pt x="6371042" y="29758"/>
                </a:cubicBezTo>
                <a:cubicBezTo>
                  <a:pt x="6390096" y="48812"/>
                  <a:pt x="6400800" y="74654"/>
                  <a:pt x="6400800" y="101600"/>
                </a:cubicBezTo>
                <a:lnTo>
                  <a:pt x="6400800" y="101600"/>
                </a:lnTo>
                <a:cubicBezTo>
                  <a:pt x="6400800" y="51099"/>
                  <a:pt x="6355312" y="10160"/>
                  <a:pt x="6299200" y="10160"/>
                </a:cubicBezTo>
                <a:lnTo>
                  <a:pt x="101600" y="10160"/>
                </a:lnTo>
                <a:cubicBezTo>
                  <a:pt x="51099" y="10160"/>
                  <a:pt x="10160" y="51099"/>
                  <a:pt x="10160" y="101600"/>
                </a:cubicBezTo>
                <a:lnTo>
                  <a:pt x="10160" y="2225040"/>
                </a:lnTo>
                <a:cubicBezTo>
                  <a:pt x="10160" y="2281152"/>
                  <a:pt x="51099" y="2326640"/>
                  <a:pt x="101600" y="2326640"/>
                </a:cubicBezTo>
                <a:close/>
              </a:path>
            </a:pathLst>
          </a:custGeom>
          <a:solidFill>
            <a:srgbClr val="141413">
              <a:alpha val="2196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25"/>
          <p:cNvSpPr/>
          <p:nvPr/>
        </p:nvSpPr>
        <p:spPr>
          <a:xfrm>
            <a:off x="4988560" y="2245993"/>
            <a:ext cx="6385560" cy="330200"/>
          </a:xfrm>
          <a:custGeom>
            <a:avLst/>
            <a:gdLst/>
            <a:ahLst/>
            <a:cxnLst/>
            <a:rect l="l" t="t" r="r" b="b"/>
            <a:pathLst>
              <a:path w="6385560" h="330200" extrusionOk="0">
                <a:moveTo>
                  <a:pt x="0" y="91440"/>
                </a:moveTo>
                <a:cubicBezTo>
                  <a:pt x="0" y="40939"/>
                  <a:pt x="40939" y="0"/>
                  <a:pt x="91440" y="0"/>
                </a:cubicBezTo>
                <a:lnTo>
                  <a:pt x="6289040" y="0"/>
                </a:lnTo>
                <a:cubicBezTo>
                  <a:pt x="6314639" y="0"/>
                  <a:pt x="6339189" y="10169"/>
                  <a:pt x="6357290" y="28270"/>
                </a:cubicBezTo>
                <a:cubicBezTo>
                  <a:pt x="6375391" y="46371"/>
                  <a:pt x="6385560" y="70921"/>
                  <a:pt x="6385560" y="96520"/>
                </a:cubicBezTo>
                <a:lnTo>
                  <a:pt x="6385560" y="330200"/>
                </a:lnTo>
                <a:lnTo>
                  <a:pt x="0" y="330200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579" name="Google Shape;579;p25"/>
          <p:cNvGraphicFramePr/>
          <p:nvPr>
            <p:extLst>
              <p:ext uri="{D42A27DB-BD31-4B8C-83A1-F6EECF244321}">
                <p14:modId xmlns:p14="http://schemas.microsoft.com/office/powerpoint/2010/main" val="951685365"/>
              </p:ext>
            </p:extLst>
          </p:nvPr>
        </p:nvGraphicFramePr>
        <p:xfrm>
          <a:off x="4988560" y="2245993"/>
          <a:ext cx="6385550" cy="2443483"/>
        </p:xfrm>
        <a:graphic>
          <a:graphicData uri="http://schemas.openxmlformats.org/drawingml/2006/table">
            <a:tbl>
              <a:tblPr>
                <a:noFill/>
                <a:tableStyleId>{537F66EC-7DD4-4156-ACD3-CA23E1461CC9}</a:tableStyleId>
              </a:tblPr>
              <a:tblGrid>
                <a:gridCol w="204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06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673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5F667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Tool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673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5F667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Use it for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06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Google Drive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Shared drives, search, version history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06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OneDrive / SharePoint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Files for Microsoft 365 teams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06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Dropbox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Large files and client file requests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06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Box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Secure storage for regulated work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06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1Password / Bitwarden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Share logins without sending passwords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06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Adobe Acrobat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Merge, compress and protect PDFs</a:t>
                      </a:r>
                      <a:endParaRPr sz="1200" u="none" strike="noStrike" cap="none" dirty="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80" name="Google Shape;580;p25"/>
          <p:cNvSpPr/>
          <p:nvPr/>
        </p:nvSpPr>
        <p:spPr>
          <a:xfrm>
            <a:off x="812800" y="4791075"/>
            <a:ext cx="10566400" cy="485140"/>
          </a:xfrm>
          <a:prstGeom prst="roundRect">
            <a:avLst>
              <a:gd name="adj" fmla="val 20942"/>
            </a:avLst>
          </a:prstGeom>
          <a:solidFill>
            <a:srgbClr val="E7EE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25"/>
          <p:cNvSpPr/>
          <p:nvPr/>
        </p:nvSpPr>
        <p:spPr>
          <a:xfrm>
            <a:off x="990600" y="4918075"/>
            <a:ext cx="10517124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3F8C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63F8C"/>
                </a:solidFill>
                <a:latin typeface="DM Sans"/>
                <a:ea typeface="DM Sans"/>
                <a:cs typeface="DM Sans"/>
                <a:sym typeface="DM Sans"/>
              </a:rPr>
              <a:t>Pro tip:</a:t>
            </a:r>
            <a:r>
              <a:rPr lang="en-US" sz="1300" b="0" i="0" u="none" strike="noStrike" cap="none">
                <a:solidFill>
                  <a:srgbClr val="163F8C"/>
                </a:solidFill>
                <a:latin typeface="DM Sans"/>
                <a:ea typeface="DM Sans"/>
                <a:cs typeface="DM Sans"/>
                <a:sym typeface="DM Sans"/>
              </a:rPr>
              <a:t> start file names with the date, YYYY-MM-DD. Files then sort in order automatically.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5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838E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7C838E"/>
                </a:solidFill>
                <a:latin typeface="DM Sans"/>
                <a:ea typeface="DM Sans"/>
                <a:cs typeface="DM Sans"/>
                <a:sym typeface="DM Sans"/>
              </a:rPr>
              <a:t>Remote VA Toolkit · 10 Digital Files Organization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6"/>
          <p:cNvSpPr/>
          <p:nvPr/>
        </p:nvSpPr>
        <p:spPr>
          <a:xfrm>
            <a:off x="812800" y="6604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10 / 16 · SAMPLE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6"/>
          <p:cNvSpPr/>
          <p:nvPr/>
        </p:nvSpPr>
        <p:spPr>
          <a:xfrm>
            <a:off x="812800" y="937258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A shared drive structure and naming rule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6"/>
          <p:cNvSpPr/>
          <p:nvPr/>
        </p:nvSpPr>
        <p:spPr>
          <a:xfrm>
            <a:off x="815975" y="1616075"/>
            <a:ext cx="5383530" cy="3275330"/>
          </a:xfrm>
          <a:prstGeom prst="roundRect">
            <a:avLst>
              <a:gd name="adj" fmla="val 3781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5400000" algn="bl" rotWithShape="0">
              <a:srgbClr val="121417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26"/>
          <p:cNvSpPr/>
          <p:nvPr/>
        </p:nvSpPr>
        <p:spPr>
          <a:xfrm>
            <a:off x="1021080" y="1821185"/>
            <a:ext cx="512252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COMPANY DRIVE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6"/>
          <p:cNvSpPr/>
          <p:nvPr/>
        </p:nvSpPr>
        <p:spPr>
          <a:xfrm>
            <a:off x="1021080" y="2098042"/>
            <a:ext cx="5122520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01 Admin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6"/>
          <p:cNvSpPr/>
          <p:nvPr/>
        </p:nvSpPr>
        <p:spPr>
          <a:xfrm>
            <a:off x="1021080" y="2392685"/>
            <a:ext cx="5122520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02 Clients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6"/>
          <p:cNvSpPr/>
          <p:nvPr/>
        </p:nvSpPr>
        <p:spPr>
          <a:xfrm>
            <a:off x="1275080" y="2687327"/>
            <a:ext cx="4860900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Lopez Dental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6"/>
          <p:cNvSpPr/>
          <p:nvPr/>
        </p:nvSpPr>
        <p:spPr>
          <a:xfrm>
            <a:off x="1529080" y="2981958"/>
            <a:ext cx="4599280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Contracts · Invoices · Reports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6"/>
          <p:cNvSpPr/>
          <p:nvPr/>
        </p:nvSpPr>
        <p:spPr>
          <a:xfrm>
            <a:off x="1021080" y="3276600"/>
            <a:ext cx="5122520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03 Finance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6"/>
          <p:cNvSpPr/>
          <p:nvPr/>
        </p:nvSpPr>
        <p:spPr>
          <a:xfrm>
            <a:off x="1275080" y="3571242"/>
            <a:ext cx="4860900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2026 · Invoices, Receipts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6"/>
          <p:cNvSpPr/>
          <p:nvPr/>
        </p:nvSpPr>
        <p:spPr>
          <a:xfrm>
            <a:off x="1021080" y="3865885"/>
            <a:ext cx="5122520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04 Marketing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6"/>
          <p:cNvSpPr/>
          <p:nvPr/>
        </p:nvSpPr>
        <p:spPr>
          <a:xfrm>
            <a:off x="1021080" y="4160527"/>
            <a:ext cx="5122520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05 Templates and SOPs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6"/>
          <p:cNvSpPr/>
          <p:nvPr/>
        </p:nvSpPr>
        <p:spPr>
          <a:xfrm>
            <a:off x="1021080" y="4455158"/>
            <a:ext cx="5122520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99 Archive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6"/>
          <p:cNvSpPr/>
          <p:nvPr/>
        </p:nvSpPr>
        <p:spPr>
          <a:xfrm>
            <a:off x="6405880" y="1612900"/>
            <a:ext cx="4973320" cy="1615440"/>
          </a:xfrm>
          <a:prstGeom prst="roundRect">
            <a:avLst>
              <a:gd name="adj" fmla="val 7862"/>
            </a:avLst>
          </a:prstGeom>
          <a:solidFill>
            <a:srgbClr val="1214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26"/>
          <p:cNvSpPr/>
          <p:nvPr/>
        </p:nvSpPr>
        <p:spPr>
          <a:xfrm>
            <a:off x="6609080" y="1816100"/>
            <a:ext cx="4703928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A8F0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7FA8F0"/>
                </a:solidFill>
                <a:latin typeface="DM Sans"/>
                <a:ea typeface="DM Sans"/>
                <a:cs typeface="DM Sans"/>
                <a:sym typeface="DM Sans"/>
              </a:rPr>
              <a:t>NAMING RULE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6"/>
          <p:cNvSpPr/>
          <p:nvPr/>
        </p:nvSpPr>
        <p:spPr>
          <a:xfrm>
            <a:off x="6609080" y="2118358"/>
            <a:ext cx="4703928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F6F8"/>
              </a:buClr>
              <a:buSzPts val="1500"/>
              <a:buFont typeface="DM Sans"/>
              <a:buNone/>
            </a:pPr>
            <a:r>
              <a:rPr lang="en-US" sz="1500" b="1" i="0" u="none" strike="noStrike" cap="none">
                <a:solidFill>
                  <a:srgbClr val="F5F6F8"/>
                </a:solidFill>
                <a:latin typeface="DM Sans"/>
                <a:ea typeface="DM Sans"/>
                <a:cs typeface="DM Sans"/>
                <a:sym typeface="DM Sans"/>
              </a:rPr>
              <a:t>Date_Client_Type_Version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6"/>
          <p:cNvSpPr/>
          <p:nvPr/>
        </p:nvSpPr>
        <p:spPr>
          <a:xfrm>
            <a:off x="6609080" y="2473958"/>
            <a:ext cx="4703928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AFB8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A9AFB8"/>
                </a:solidFill>
                <a:latin typeface="DM Sans"/>
                <a:ea typeface="DM Sans"/>
                <a:cs typeface="DM Sans"/>
                <a:sym typeface="DM Sans"/>
              </a:rPr>
              <a:t>2026-10-02_LopezDental_Contract_v02.pdf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6"/>
          <p:cNvSpPr/>
          <p:nvPr/>
        </p:nvSpPr>
        <p:spPr>
          <a:xfrm>
            <a:off x="6609080" y="2794000"/>
            <a:ext cx="4703928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AFB8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A9AFB8"/>
                </a:solidFill>
                <a:latin typeface="DM Sans"/>
                <a:ea typeface="DM Sans"/>
                <a:cs typeface="DM Sans"/>
                <a:sym typeface="DM Sans"/>
              </a:rPr>
              <a:t>2026-09-30_NorthBay_Report_v01.xlsx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6"/>
          <p:cNvSpPr/>
          <p:nvPr/>
        </p:nvSpPr>
        <p:spPr>
          <a:xfrm>
            <a:off x="6405880" y="3355342"/>
            <a:ext cx="5122520" cy="745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Numbered top folders stay in order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Three levels deep at most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Archive instead of delete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6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838E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7C838E"/>
                </a:solidFill>
                <a:latin typeface="DM Sans"/>
                <a:ea typeface="DM Sans"/>
                <a:cs typeface="DM Sans"/>
                <a:sym typeface="DM Sans"/>
              </a:rPr>
              <a:t>Remote VA Toolkit · 10 Digital Files Organization · Built with Google Drive shared drives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7"/>
          <p:cNvSpPr/>
          <p:nvPr/>
        </p:nvSpPr>
        <p:spPr>
          <a:xfrm>
            <a:off x="812800" y="6604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11 / 16 · RESPONSIBILITIES AND TOOLS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7"/>
          <p:cNvSpPr/>
          <p:nvPr/>
        </p:nvSpPr>
        <p:spPr>
          <a:xfrm>
            <a:off x="812800" y="937258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Task and Project Management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7"/>
          <p:cNvSpPr/>
          <p:nvPr/>
        </p:nvSpPr>
        <p:spPr>
          <a:xfrm>
            <a:off x="812800" y="1447800"/>
            <a:ext cx="10883392" cy="28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DM Sans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Every request tracked from “asked” to “done”, with an owner and a date.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7"/>
          <p:cNvSpPr/>
          <p:nvPr/>
        </p:nvSpPr>
        <p:spPr>
          <a:xfrm>
            <a:off x="812800" y="1933575"/>
            <a:ext cx="39243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WHAT YOU DO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7"/>
          <p:cNvSpPr/>
          <p:nvPr/>
        </p:nvSpPr>
        <p:spPr>
          <a:xfrm>
            <a:off x="812800" y="2235833"/>
            <a:ext cx="3924300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Turn requests into tasks with due dates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Assign owners and set priorities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Keep the board current every day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Chase deadlines before they slip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Run recurring checklists and weekly status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7"/>
          <p:cNvSpPr/>
          <p:nvPr/>
        </p:nvSpPr>
        <p:spPr>
          <a:xfrm>
            <a:off x="4978400" y="1933575"/>
            <a:ext cx="65928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MODERN TOOLS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7"/>
          <p:cNvSpPr/>
          <p:nvPr/>
        </p:nvSpPr>
        <p:spPr>
          <a:xfrm>
            <a:off x="4978400" y="2235833"/>
            <a:ext cx="6400800" cy="2326640"/>
          </a:xfrm>
          <a:prstGeom prst="roundRect">
            <a:avLst>
              <a:gd name="adj" fmla="val 43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27"/>
          <p:cNvSpPr/>
          <p:nvPr/>
        </p:nvSpPr>
        <p:spPr>
          <a:xfrm>
            <a:off x="4978400" y="2235833"/>
            <a:ext cx="6400800" cy="2326640"/>
          </a:xfrm>
          <a:custGeom>
            <a:avLst/>
            <a:gdLst/>
            <a:ahLst/>
            <a:cxnLst/>
            <a:rect l="l" t="t" r="r" b="b"/>
            <a:pathLst>
              <a:path w="6400800" h="2326640" extrusionOk="0">
                <a:moveTo>
                  <a:pt x="6299200" y="0"/>
                </a:moveTo>
                <a:lnTo>
                  <a:pt x="6299200" y="0"/>
                </a:lnTo>
                <a:cubicBezTo>
                  <a:pt x="6326146" y="0"/>
                  <a:pt x="6351988" y="10704"/>
                  <a:pt x="6371042" y="29758"/>
                </a:cubicBezTo>
                <a:cubicBezTo>
                  <a:pt x="6390096" y="48812"/>
                  <a:pt x="6400800" y="74654"/>
                  <a:pt x="6400800" y="101600"/>
                </a:cubicBezTo>
                <a:lnTo>
                  <a:pt x="6400800" y="2225040"/>
                </a:lnTo>
                <a:cubicBezTo>
                  <a:pt x="6400800" y="2281152"/>
                  <a:pt x="6355312" y="2326640"/>
                  <a:pt x="6299200" y="2326640"/>
                </a:cubicBezTo>
                <a:lnTo>
                  <a:pt x="101600" y="2326640"/>
                </a:lnTo>
                <a:cubicBezTo>
                  <a:pt x="45488" y="2326640"/>
                  <a:pt x="0" y="2281152"/>
                  <a:pt x="0" y="2225040"/>
                </a:cubicBezTo>
                <a:lnTo>
                  <a:pt x="0" y="2225040"/>
                </a:lnTo>
                <a:cubicBezTo>
                  <a:pt x="0" y="2277645"/>
                  <a:pt x="45488" y="2320290"/>
                  <a:pt x="101600" y="2320290"/>
                </a:cubicBezTo>
                <a:lnTo>
                  <a:pt x="6299200" y="2320290"/>
                </a:lnTo>
                <a:cubicBezTo>
                  <a:pt x="6351805" y="2320290"/>
                  <a:pt x="6394450" y="2277645"/>
                  <a:pt x="6394450" y="2225040"/>
                </a:cubicBezTo>
                <a:lnTo>
                  <a:pt x="6394450" y="101600"/>
                </a:lnTo>
                <a:cubicBezTo>
                  <a:pt x="6394450" y="45488"/>
                  <a:pt x="6351805" y="0"/>
                  <a:pt x="6299200" y="0"/>
                </a:cubicBezTo>
                <a:close/>
              </a:path>
            </a:pathLst>
          </a:custGeom>
          <a:solidFill>
            <a:srgbClr val="DDE1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27"/>
          <p:cNvSpPr/>
          <p:nvPr/>
        </p:nvSpPr>
        <p:spPr>
          <a:xfrm>
            <a:off x="4978400" y="2235833"/>
            <a:ext cx="6400800" cy="2326640"/>
          </a:xfrm>
          <a:custGeom>
            <a:avLst/>
            <a:gdLst/>
            <a:ahLst/>
            <a:cxnLst/>
            <a:rect l="l" t="t" r="r" b="b"/>
            <a:pathLst>
              <a:path w="6400800" h="2326640" extrusionOk="0">
                <a:moveTo>
                  <a:pt x="101600" y="2326640"/>
                </a:moveTo>
                <a:lnTo>
                  <a:pt x="101600" y="2326640"/>
                </a:lnTo>
                <a:cubicBezTo>
                  <a:pt x="45488" y="2326640"/>
                  <a:pt x="0" y="2281152"/>
                  <a:pt x="0" y="2225040"/>
                </a:cubicBezTo>
                <a:lnTo>
                  <a:pt x="0" y="101600"/>
                </a:lnTo>
                <a:cubicBezTo>
                  <a:pt x="0" y="45488"/>
                  <a:pt x="45488" y="0"/>
                  <a:pt x="101600" y="0"/>
                </a:cubicBezTo>
                <a:lnTo>
                  <a:pt x="6299200" y="0"/>
                </a:lnTo>
                <a:cubicBezTo>
                  <a:pt x="6326146" y="0"/>
                  <a:pt x="6351988" y="10704"/>
                  <a:pt x="6371042" y="29758"/>
                </a:cubicBezTo>
                <a:cubicBezTo>
                  <a:pt x="6390096" y="48812"/>
                  <a:pt x="6400800" y="74654"/>
                  <a:pt x="6400800" y="101600"/>
                </a:cubicBezTo>
                <a:lnTo>
                  <a:pt x="6400800" y="101600"/>
                </a:lnTo>
                <a:cubicBezTo>
                  <a:pt x="6400800" y="51099"/>
                  <a:pt x="6355312" y="10160"/>
                  <a:pt x="6299200" y="10160"/>
                </a:cubicBezTo>
                <a:lnTo>
                  <a:pt x="101600" y="10160"/>
                </a:lnTo>
                <a:cubicBezTo>
                  <a:pt x="51099" y="10160"/>
                  <a:pt x="10160" y="51099"/>
                  <a:pt x="10160" y="101600"/>
                </a:cubicBezTo>
                <a:lnTo>
                  <a:pt x="10160" y="2225040"/>
                </a:lnTo>
                <a:cubicBezTo>
                  <a:pt x="10160" y="2281152"/>
                  <a:pt x="51099" y="2326640"/>
                  <a:pt x="101600" y="2326640"/>
                </a:cubicBezTo>
                <a:close/>
              </a:path>
            </a:pathLst>
          </a:custGeom>
          <a:solidFill>
            <a:srgbClr val="141413">
              <a:alpha val="2196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27"/>
          <p:cNvSpPr/>
          <p:nvPr/>
        </p:nvSpPr>
        <p:spPr>
          <a:xfrm>
            <a:off x="4988560" y="2245993"/>
            <a:ext cx="6385560" cy="330200"/>
          </a:xfrm>
          <a:custGeom>
            <a:avLst/>
            <a:gdLst/>
            <a:ahLst/>
            <a:cxnLst/>
            <a:rect l="l" t="t" r="r" b="b"/>
            <a:pathLst>
              <a:path w="6385560" h="330200" extrusionOk="0">
                <a:moveTo>
                  <a:pt x="0" y="91440"/>
                </a:moveTo>
                <a:cubicBezTo>
                  <a:pt x="0" y="40939"/>
                  <a:pt x="40939" y="0"/>
                  <a:pt x="91440" y="0"/>
                </a:cubicBezTo>
                <a:lnTo>
                  <a:pt x="6289040" y="0"/>
                </a:lnTo>
                <a:cubicBezTo>
                  <a:pt x="6314639" y="0"/>
                  <a:pt x="6339189" y="10169"/>
                  <a:pt x="6357290" y="28270"/>
                </a:cubicBezTo>
                <a:cubicBezTo>
                  <a:pt x="6375391" y="46371"/>
                  <a:pt x="6385560" y="70921"/>
                  <a:pt x="6385560" y="96520"/>
                </a:cubicBezTo>
                <a:lnTo>
                  <a:pt x="6385560" y="330200"/>
                </a:lnTo>
                <a:lnTo>
                  <a:pt x="0" y="330200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623" name="Google Shape;623;p27"/>
          <p:cNvGraphicFramePr/>
          <p:nvPr/>
        </p:nvGraphicFramePr>
        <p:xfrm>
          <a:off x="4988560" y="2245993"/>
          <a:ext cx="6385550" cy="2395995"/>
        </p:xfrm>
        <a:graphic>
          <a:graphicData uri="http://schemas.openxmlformats.org/drawingml/2006/table">
            <a:tbl>
              <a:tblPr>
                <a:noFill/>
                <a:tableStyleId>{537F66EC-7DD4-4156-ACD3-CA23E1461CC9}</a:tableStyleId>
              </a:tblPr>
              <a:tblGrid>
                <a:gridCol w="204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673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5F667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Tool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673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5F667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Use it for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Asana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Projects, timelines and dependencies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ClickUp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Tasks, docs and chat in one place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Trello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Simple Kanban boards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Monday.com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Visual workflows and dashboards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Notion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Task databases next to team docs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Todoist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Fast personal to-do lists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24" name="Google Shape;624;p27"/>
          <p:cNvSpPr/>
          <p:nvPr/>
        </p:nvSpPr>
        <p:spPr>
          <a:xfrm>
            <a:off x="812800" y="4791075"/>
            <a:ext cx="10566400" cy="485140"/>
          </a:xfrm>
          <a:prstGeom prst="roundRect">
            <a:avLst>
              <a:gd name="adj" fmla="val 20942"/>
            </a:avLst>
          </a:prstGeom>
          <a:solidFill>
            <a:srgbClr val="E7EE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27"/>
          <p:cNvSpPr/>
          <p:nvPr/>
        </p:nvSpPr>
        <p:spPr>
          <a:xfrm>
            <a:off x="990600" y="4918075"/>
            <a:ext cx="10517124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3F8C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63F8C"/>
                </a:solidFill>
                <a:latin typeface="DM Sans"/>
                <a:ea typeface="DM Sans"/>
                <a:cs typeface="DM Sans"/>
                <a:sym typeface="DM Sans"/>
              </a:rPr>
              <a:t>Pro tip:</a:t>
            </a:r>
            <a:r>
              <a:rPr lang="en-US" sz="1300" b="0" i="0" u="none" strike="noStrike" cap="none">
                <a:solidFill>
                  <a:srgbClr val="163F8C"/>
                </a:solidFill>
                <a:latin typeface="DM Sans"/>
                <a:ea typeface="DM Sans"/>
                <a:cs typeface="DM Sans"/>
                <a:sym typeface="DM Sans"/>
              </a:rPr>
              <a:t> if a request arrives in chat or email, move it to the board right away. If it is not on the board, it does not exist.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7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838E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7C838E"/>
                </a:solidFill>
                <a:latin typeface="DM Sans"/>
                <a:ea typeface="DM Sans"/>
                <a:cs typeface="DM Sans"/>
                <a:sym typeface="DM Sans"/>
              </a:rPr>
              <a:t>Remote VA Toolkit · 11 Task and Project Management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8"/>
          <p:cNvSpPr/>
          <p:nvPr/>
        </p:nvSpPr>
        <p:spPr>
          <a:xfrm>
            <a:off x="812800" y="6604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11 / 16 · SAMPLE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8"/>
          <p:cNvSpPr/>
          <p:nvPr/>
        </p:nvSpPr>
        <p:spPr>
          <a:xfrm>
            <a:off x="812800" y="937258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A weekly task board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8"/>
          <p:cNvSpPr/>
          <p:nvPr/>
        </p:nvSpPr>
        <p:spPr>
          <a:xfrm>
            <a:off x="812800" y="1612900"/>
            <a:ext cx="2546350" cy="2700020"/>
          </a:xfrm>
          <a:prstGeom prst="roundRect">
            <a:avLst>
              <a:gd name="adj" fmla="val 4489"/>
            </a:avLst>
          </a:prstGeom>
          <a:solidFill>
            <a:srgbClr val="ECEE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28"/>
          <p:cNvSpPr/>
          <p:nvPr/>
        </p:nvSpPr>
        <p:spPr>
          <a:xfrm>
            <a:off x="939800" y="1739900"/>
            <a:ext cx="236112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To do · 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8"/>
          <p:cNvSpPr/>
          <p:nvPr/>
        </p:nvSpPr>
        <p:spPr>
          <a:xfrm>
            <a:off x="939800" y="2029458"/>
            <a:ext cx="2292350" cy="668020"/>
          </a:xfrm>
          <a:prstGeom prst="roundRect">
            <a:avLst>
              <a:gd name="adj" fmla="val 1140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28"/>
          <p:cNvSpPr/>
          <p:nvPr/>
        </p:nvSpPr>
        <p:spPr>
          <a:xfrm>
            <a:off x="1041400" y="2131058"/>
            <a:ext cx="2151825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Book Singapore hotel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8"/>
          <p:cNvSpPr/>
          <p:nvPr/>
        </p:nvSpPr>
        <p:spPr>
          <a:xfrm>
            <a:off x="1041400" y="2382527"/>
            <a:ext cx="2151825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Due Oct 5 · VA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8"/>
          <p:cNvSpPr/>
          <p:nvPr/>
        </p:nvSpPr>
        <p:spPr>
          <a:xfrm>
            <a:off x="939800" y="2773685"/>
            <a:ext cx="2292350" cy="668020"/>
          </a:xfrm>
          <a:prstGeom prst="roundRect">
            <a:avLst>
              <a:gd name="adj" fmla="val 1140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28"/>
          <p:cNvSpPr/>
          <p:nvPr/>
        </p:nvSpPr>
        <p:spPr>
          <a:xfrm>
            <a:off x="1041400" y="2875285"/>
            <a:ext cx="2151825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Update client list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8"/>
          <p:cNvSpPr/>
          <p:nvPr/>
        </p:nvSpPr>
        <p:spPr>
          <a:xfrm>
            <a:off x="1041400" y="3126742"/>
            <a:ext cx="2151825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Due Oct 6 · VA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8"/>
          <p:cNvSpPr/>
          <p:nvPr/>
        </p:nvSpPr>
        <p:spPr>
          <a:xfrm>
            <a:off x="939800" y="3517900"/>
            <a:ext cx="2292350" cy="668020"/>
          </a:xfrm>
          <a:prstGeom prst="roundRect">
            <a:avLst>
              <a:gd name="adj" fmla="val 1140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28"/>
          <p:cNvSpPr/>
          <p:nvPr/>
        </p:nvSpPr>
        <p:spPr>
          <a:xfrm>
            <a:off x="1041400" y="3619500"/>
            <a:ext cx="2151825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Draft newsletter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8"/>
          <p:cNvSpPr/>
          <p:nvPr/>
        </p:nvSpPr>
        <p:spPr>
          <a:xfrm>
            <a:off x="1041400" y="3870958"/>
            <a:ext cx="2151825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Due Oct 8 · Marketing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8"/>
          <p:cNvSpPr/>
          <p:nvPr/>
        </p:nvSpPr>
        <p:spPr>
          <a:xfrm>
            <a:off x="3486150" y="1612900"/>
            <a:ext cx="2546350" cy="2700020"/>
          </a:xfrm>
          <a:prstGeom prst="roundRect">
            <a:avLst>
              <a:gd name="adj" fmla="val 4489"/>
            </a:avLst>
          </a:prstGeom>
          <a:solidFill>
            <a:srgbClr val="ECEE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28"/>
          <p:cNvSpPr/>
          <p:nvPr/>
        </p:nvSpPr>
        <p:spPr>
          <a:xfrm>
            <a:off x="3613150" y="1739900"/>
            <a:ext cx="236112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In progress · 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8"/>
          <p:cNvSpPr/>
          <p:nvPr/>
        </p:nvSpPr>
        <p:spPr>
          <a:xfrm>
            <a:off x="3619500" y="2035808"/>
            <a:ext cx="2279650" cy="675640"/>
          </a:xfrm>
          <a:prstGeom prst="roundRect">
            <a:avLst>
              <a:gd name="adj" fmla="val 10338"/>
            </a:avLst>
          </a:prstGeom>
          <a:solidFill>
            <a:srgbClr val="FFFFFF"/>
          </a:solidFill>
          <a:ln w="12700" cap="flat" cmpd="sng">
            <a:solidFill>
              <a:srgbClr val="1D5FD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28"/>
          <p:cNvSpPr/>
          <p:nvPr/>
        </p:nvSpPr>
        <p:spPr>
          <a:xfrm>
            <a:off x="3724910" y="2141227"/>
            <a:ext cx="2130895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September report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8"/>
          <p:cNvSpPr/>
          <p:nvPr/>
        </p:nvSpPr>
        <p:spPr>
          <a:xfrm>
            <a:off x="3724910" y="2392685"/>
            <a:ext cx="2130895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Due Oct 2 · VA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8"/>
          <p:cNvSpPr/>
          <p:nvPr/>
        </p:nvSpPr>
        <p:spPr>
          <a:xfrm>
            <a:off x="3619500" y="2800350"/>
            <a:ext cx="2279650" cy="675640"/>
          </a:xfrm>
          <a:prstGeom prst="roundRect">
            <a:avLst>
              <a:gd name="adj" fmla="val 10338"/>
            </a:avLst>
          </a:prstGeom>
          <a:solidFill>
            <a:srgbClr val="FFFFFF"/>
          </a:solidFill>
          <a:ln w="12700" cap="flat" cmpd="sng">
            <a:solidFill>
              <a:srgbClr val="1D5FD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28"/>
          <p:cNvSpPr/>
          <p:nvPr/>
        </p:nvSpPr>
        <p:spPr>
          <a:xfrm>
            <a:off x="3724910" y="2905758"/>
            <a:ext cx="2130895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Invoice follow-ups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8"/>
          <p:cNvSpPr/>
          <p:nvPr/>
        </p:nvSpPr>
        <p:spPr>
          <a:xfrm>
            <a:off x="3724910" y="3157227"/>
            <a:ext cx="2130895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Due Oct 3 · VA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8"/>
          <p:cNvSpPr/>
          <p:nvPr/>
        </p:nvSpPr>
        <p:spPr>
          <a:xfrm>
            <a:off x="6159500" y="1612900"/>
            <a:ext cx="2546350" cy="2700020"/>
          </a:xfrm>
          <a:prstGeom prst="roundRect">
            <a:avLst>
              <a:gd name="adj" fmla="val 4489"/>
            </a:avLst>
          </a:prstGeom>
          <a:solidFill>
            <a:srgbClr val="ECEE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28"/>
          <p:cNvSpPr/>
          <p:nvPr/>
        </p:nvSpPr>
        <p:spPr>
          <a:xfrm>
            <a:off x="6286500" y="1739900"/>
            <a:ext cx="236112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Waiting · 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8"/>
          <p:cNvSpPr/>
          <p:nvPr/>
        </p:nvSpPr>
        <p:spPr>
          <a:xfrm>
            <a:off x="6286500" y="2029458"/>
            <a:ext cx="2292350" cy="668020"/>
          </a:xfrm>
          <a:prstGeom prst="roundRect">
            <a:avLst>
              <a:gd name="adj" fmla="val 1140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28"/>
          <p:cNvSpPr/>
          <p:nvPr/>
        </p:nvSpPr>
        <p:spPr>
          <a:xfrm>
            <a:off x="6388100" y="2131058"/>
            <a:ext cx="2151825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Contract signature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8"/>
          <p:cNvSpPr/>
          <p:nvPr/>
        </p:nvSpPr>
        <p:spPr>
          <a:xfrm>
            <a:off x="6388100" y="2382527"/>
            <a:ext cx="2151825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Sent Sep 29 · Client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8"/>
          <p:cNvSpPr/>
          <p:nvPr/>
        </p:nvSpPr>
        <p:spPr>
          <a:xfrm>
            <a:off x="8832850" y="1612900"/>
            <a:ext cx="2546350" cy="2700020"/>
          </a:xfrm>
          <a:prstGeom prst="roundRect">
            <a:avLst>
              <a:gd name="adj" fmla="val 4489"/>
            </a:avLst>
          </a:prstGeom>
          <a:solidFill>
            <a:srgbClr val="ECEE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28"/>
          <p:cNvSpPr/>
          <p:nvPr/>
        </p:nvSpPr>
        <p:spPr>
          <a:xfrm>
            <a:off x="8959850" y="1739900"/>
            <a:ext cx="236112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Done · 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8"/>
          <p:cNvSpPr/>
          <p:nvPr/>
        </p:nvSpPr>
        <p:spPr>
          <a:xfrm>
            <a:off x="8959850" y="2029458"/>
            <a:ext cx="2292350" cy="416560"/>
          </a:xfrm>
          <a:prstGeom prst="roundRect">
            <a:avLst>
              <a:gd name="adj" fmla="val 1829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8"/>
          <p:cNvSpPr/>
          <p:nvPr/>
        </p:nvSpPr>
        <p:spPr>
          <a:xfrm>
            <a:off x="9061450" y="2131058"/>
            <a:ext cx="2151825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Inbox cleanup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8"/>
          <p:cNvSpPr/>
          <p:nvPr/>
        </p:nvSpPr>
        <p:spPr>
          <a:xfrm>
            <a:off x="8959850" y="2522227"/>
            <a:ext cx="2292350" cy="416560"/>
          </a:xfrm>
          <a:prstGeom prst="roundRect">
            <a:avLst>
              <a:gd name="adj" fmla="val 1829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28"/>
          <p:cNvSpPr/>
          <p:nvPr/>
        </p:nvSpPr>
        <p:spPr>
          <a:xfrm>
            <a:off x="9061450" y="2623827"/>
            <a:ext cx="2151825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Meeting notes, Sep 28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8"/>
          <p:cNvSpPr/>
          <p:nvPr/>
        </p:nvSpPr>
        <p:spPr>
          <a:xfrm>
            <a:off x="8959850" y="3014985"/>
            <a:ext cx="2292350" cy="416560"/>
          </a:xfrm>
          <a:prstGeom prst="roundRect">
            <a:avLst>
              <a:gd name="adj" fmla="val 1829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28"/>
          <p:cNvSpPr/>
          <p:nvPr/>
        </p:nvSpPr>
        <p:spPr>
          <a:xfrm>
            <a:off x="9061450" y="3116585"/>
            <a:ext cx="2151825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Supplier call booked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8"/>
          <p:cNvSpPr/>
          <p:nvPr/>
        </p:nvSpPr>
        <p:spPr>
          <a:xfrm>
            <a:off x="8959850" y="3507742"/>
            <a:ext cx="2292350" cy="416560"/>
          </a:xfrm>
          <a:prstGeom prst="roundRect">
            <a:avLst>
              <a:gd name="adj" fmla="val 1829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28"/>
          <p:cNvSpPr/>
          <p:nvPr/>
        </p:nvSpPr>
        <p:spPr>
          <a:xfrm>
            <a:off x="9061450" y="3609342"/>
            <a:ext cx="2151825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Drive folders renamed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8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838E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7C838E"/>
                </a:solidFill>
                <a:latin typeface="DM Sans"/>
                <a:ea typeface="DM Sans"/>
                <a:cs typeface="DM Sans"/>
                <a:sym typeface="DM Sans"/>
              </a:rPr>
              <a:t>Remote VA Toolkit · 11 Task and Project Management · Built with Trello, Asana or ClickUp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9"/>
          <p:cNvSpPr/>
          <p:nvPr/>
        </p:nvSpPr>
        <p:spPr>
          <a:xfrm>
            <a:off x="812800" y="6604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12 / 16 · RESPONSIBILITIES AND TOOLS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9"/>
          <p:cNvSpPr/>
          <p:nvPr/>
        </p:nvSpPr>
        <p:spPr>
          <a:xfrm>
            <a:off x="812800" y="937258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AI Management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9"/>
          <p:cNvSpPr/>
          <p:nvPr/>
        </p:nvSpPr>
        <p:spPr>
          <a:xfrm>
            <a:off x="812800" y="1447800"/>
            <a:ext cx="10883392" cy="28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DM Sans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Using AI to work faster, while checking every output before it goes out.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9"/>
          <p:cNvSpPr/>
          <p:nvPr/>
        </p:nvSpPr>
        <p:spPr>
          <a:xfrm>
            <a:off x="812800" y="1933575"/>
            <a:ext cx="39243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WHAT YOU DO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9"/>
          <p:cNvSpPr/>
          <p:nvPr/>
        </p:nvSpPr>
        <p:spPr>
          <a:xfrm>
            <a:off x="812800" y="2235833"/>
            <a:ext cx="3924300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Draft, summarize and rewrite with AI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Build a library of tested prompts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Set up custom assistants for the client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Automate repeat work with AI workflows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Fact-check output and protect private data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9"/>
          <p:cNvSpPr/>
          <p:nvPr/>
        </p:nvSpPr>
        <p:spPr>
          <a:xfrm>
            <a:off x="4978400" y="1933575"/>
            <a:ext cx="65928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MODERN TOOLS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9"/>
          <p:cNvSpPr/>
          <p:nvPr/>
        </p:nvSpPr>
        <p:spPr>
          <a:xfrm>
            <a:off x="4978400" y="2235833"/>
            <a:ext cx="6400800" cy="2326640"/>
          </a:xfrm>
          <a:prstGeom prst="roundRect">
            <a:avLst>
              <a:gd name="adj" fmla="val 43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29"/>
          <p:cNvSpPr/>
          <p:nvPr/>
        </p:nvSpPr>
        <p:spPr>
          <a:xfrm>
            <a:off x="4978400" y="2235833"/>
            <a:ext cx="6400800" cy="2326640"/>
          </a:xfrm>
          <a:custGeom>
            <a:avLst/>
            <a:gdLst/>
            <a:ahLst/>
            <a:cxnLst/>
            <a:rect l="l" t="t" r="r" b="b"/>
            <a:pathLst>
              <a:path w="6400800" h="2326640" extrusionOk="0">
                <a:moveTo>
                  <a:pt x="6299200" y="0"/>
                </a:moveTo>
                <a:lnTo>
                  <a:pt x="6299200" y="0"/>
                </a:lnTo>
                <a:cubicBezTo>
                  <a:pt x="6326146" y="0"/>
                  <a:pt x="6351988" y="10704"/>
                  <a:pt x="6371042" y="29758"/>
                </a:cubicBezTo>
                <a:cubicBezTo>
                  <a:pt x="6390096" y="48812"/>
                  <a:pt x="6400800" y="74654"/>
                  <a:pt x="6400800" y="101600"/>
                </a:cubicBezTo>
                <a:lnTo>
                  <a:pt x="6400800" y="2225040"/>
                </a:lnTo>
                <a:cubicBezTo>
                  <a:pt x="6400800" y="2281152"/>
                  <a:pt x="6355312" y="2326640"/>
                  <a:pt x="6299200" y="2326640"/>
                </a:cubicBezTo>
                <a:lnTo>
                  <a:pt x="101600" y="2326640"/>
                </a:lnTo>
                <a:cubicBezTo>
                  <a:pt x="45488" y="2326640"/>
                  <a:pt x="0" y="2281152"/>
                  <a:pt x="0" y="2225040"/>
                </a:cubicBezTo>
                <a:lnTo>
                  <a:pt x="0" y="2225040"/>
                </a:lnTo>
                <a:cubicBezTo>
                  <a:pt x="0" y="2277645"/>
                  <a:pt x="45488" y="2320290"/>
                  <a:pt x="101600" y="2320290"/>
                </a:cubicBezTo>
                <a:lnTo>
                  <a:pt x="6299200" y="2320290"/>
                </a:lnTo>
                <a:cubicBezTo>
                  <a:pt x="6351805" y="2320290"/>
                  <a:pt x="6394450" y="2277645"/>
                  <a:pt x="6394450" y="2225040"/>
                </a:cubicBezTo>
                <a:lnTo>
                  <a:pt x="6394450" y="101600"/>
                </a:lnTo>
                <a:cubicBezTo>
                  <a:pt x="6394450" y="45488"/>
                  <a:pt x="6351805" y="0"/>
                  <a:pt x="6299200" y="0"/>
                </a:cubicBezTo>
                <a:close/>
              </a:path>
            </a:pathLst>
          </a:custGeom>
          <a:solidFill>
            <a:srgbClr val="DDE1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29"/>
          <p:cNvSpPr/>
          <p:nvPr/>
        </p:nvSpPr>
        <p:spPr>
          <a:xfrm>
            <a:off x="4978400" y="2235833"/>
            <a:ext cx="6400800" cy="2326640"/>
          </a:xfrm>
          <a:custGeom>
            <a:avLst/>
            <a:gdLst/>
            <a:ahLst/>
            <a:cxnLst/>
            <a:rect l="l" t="t" r="r" b="b"/>
            <a:pathLst>
              <a:path w="6400800" h="2326640" extrusionOk="0">
                <a:moveTo>
                  <a:pt x="101600" y="2326640"/>
                </a:moveTo>
                <a:lnTo>
                  <a:pt x="101600" y="2326640"/>
                </a:lnTo>
                <a:cubicBezTo>
                  <a:pt x="45488" y="2326640"/>
                  <a:pt x="0" y="2281152"/>
                  <a:pt x="0" y="2225040"/>
                </a:cubicBezTo>
                <a:lnTo>
                  <a:pt x="0" y="101600"/>
                </a:lnTo>
                <a:cubicBezTo>
                  <a:pt x="0" y="45488"/>
                  <a:pt x="45488" y="0"/>
                  <a:pt x="101600" y="0"/>
                </a:cubicBezTo>
                <a:lnTo>
                  <a:pt x="6299200" y="0"/>
                </a:lnTo>
                <a:cubicBezTo>
                  <a:pt x="6326146" y="0"/>
                  <a:pt x="6351988" y="10704"/>
                  <a:pt x="6371042" y="29758"/>
                </a:cubicBezTo>
                <a:cubicBezTo>
                  <a:pt x="6390096" y="48812"/>
                  <a:pt x="6400800" y="74654"/>
                  <a:pt x="6400800" y="101600"/>
                </a:cubicBezTo>
                <a:lnTo>
                  <a:pt x="6400800" y="101600"/>
                </a:lnTo>
                <a:cubicBezTo>
                  <a:pt x="6400800" y="51099"/>
                  <a:pt x="6355312" y="10160"/>
                  <a:pt x="6299200" y="10160"/>
                </a:cubicBezTo>
                <a:lnTo>
                  <a:pt x="101600" y="10160"/>
                </a:lnTo>
                <a:cubicBezTo>
                  <a:pt x="51099" y="10160"/>
                  <a:pt x="10160" y="51099"/>
                  <a:pt x="10160" y="101600"/>
                </a:cubicBezTo>
                <a:lnTo>
                  <a:pt x="10160" y="2225040"/>
                </a:lnTo>
                <a:cubicBezTo>
                  <a:pt x="10160" y="2281152"/>
                  <a:pt x="51099" y="2326640"/>
                  <a:pt x="101600" y="2326640"/>
                </a:cubicBezTo>
                <a:close/>
              </a:path>
            </a:pathLst>
          </a:custGeom>
          <a:solidFill>
            <a:srgbClr val="141413">
              <a:alpha val="2196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29"/>
          <p:cNvSpPr/>
          <p:nvPr/>
        </p:nvSpPr>
        <p:spPr>
          <a:xfrm>
            <a:off x="4988560" y="2245993"/>
            <a:ext cx="6385560" cy="330200"/>
          </a:xfrm>
          <a:custGeom>
            <a:avLst/>
            <a:gdLst/>
            <a:ahLst/>
            <a:cxnLst/>
            <a:rect l="l" t="t" r="r" b="b"/>
            <a:pathLst>
              <a:path w="6385560" h="330200" extrusionOk="0">
                <a:moveTo>
                  <a:pt x="0" y="91440"/>
                </a:moveTo>
                <a:cubicBezTo>
                  <a:pt x="0" y="40939"/>
                  <a:pt x="40939" y="0"/>
                  <a:pt x="91440" y="0"/>
                </a:cubicBezTo>
                <a:lnTo>
                  <a:pt x="6289040" y="0"/>
                </a:lnTo>
                <a:cubicBezTo>
                  <a:pt x="6314639" y="0"/>
                  <a:pt x="6339189" y="10169"/>
                  <a:pt x="6357290" y="28270"/>
                </a:cubicBezTo>
                <a:cubicBezTo>
                  <a:pt x="6375391" y="46371"/>
                  <a:pt x="6385560" y="70921"/>
                  <a:pt x="6385560" y="96520"/>
                </a:cubicBezTo>
                <a:lnTo>
                  <a:pt x="6385560" y="330200"/>
                </a:lnTo>
                <a:lnTo>
                  <a:pt x="0" y="330200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684" name="Google Shape;684;p29"/>
          <p:cNvGraphicFramePr/>
          <p:nvPr/>
        </p:nvGraphicFramePr>
        <p:xfrm>
          <a:off x="4988560" y="2245993"/>
          <a:ext cx="6385550" cy="2395995"/>
        </p:xfrm>
        <a:graphic>
          <a:graphicData uri="http://schemas.openxmlformats.org/drawingml/2006/table">
            <a:tbl>
              <a:tblPr>
                <a:noFill/>
                <a:tableStyleId>{537F66EC-7DD4-4156-ACD3-CA23E1461CC9}</a:tableStyleId>
              </a:tblPr>
              <a:tblGrid>
                <a:gridCol w="204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673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5F667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Tool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673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5F667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Use it for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ChatGPT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Drafting, custom GPTs, data analysis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Claude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Long documents, Projects, careful writing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Gemini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inside Gmail, Docs, Sheets; Gems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Microsoft Copilot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inside Outlook, Word, Excel, Teams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Perplexity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Quick answers with cited sources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Zapier / Make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steps inside automated workflows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85" name="Google Shape;685;p29"/>
          <p:cNvSpPr/>
          <p:nvPr/>
        </p:nvSpPr>
        <p:spPr>
          <a:xfrm>
            <a:off x="812800" y="4791075"/>
            <a:ext cx="10566400" cy="485140"/>
          </a:xfrm>
          <a:prstGeom prst="roundRect">
            <a:avLst>
              <a:gd name="adj" fmla="val 20942"/>
            </a:avLst>
          </a:prstGeom>
          <a:solidFill>
            <a:srgbClr val="E7EE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29"/>
          <p:cNvSpPr/>
          <p:nvPr/>
        </p:nvSpPr>
        <p:spPr>
          <a:xfrm>
            <a:off x="990600" y="4918075"/>
            <a:ext cx="10517124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3F8C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63F8C"/>
                </a:solidFill>
                <a:latin typeface="DM Sans"/>
                <a:ea typeface="DM Sans"/>
                <a:cs typeface="DM Sans"/>
                <a:sym typeface="DM Sans"/>
              </a:rPr>
              <a:t>Pro tip:</a:t>
            </a:r>
            <a:r>
              <a:rPr lang="en-US" sz="1300" b="0" i="0" u="none" strike="noStrike" cap="none">
                <a:solidFill>
                  <a:srgbClr val="163F8C"/>
                </a:solidFill>
                <a:latin typeface="DM Sans"/>
                <a:ea typeface="DM Sans"/>
                <a:cs typeface="DM Sans"/>
                <a:sym typeface="DM Sans"/>
              </a:rPr>
              <a:t> never paste passwords, bank details or private client data into an AI tool the client has not approved.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9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838E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7C838E"/>
                </a:solidFill>
                <a:latin typeface="DM Sans"/>
                <a:ea typeface="DM Sans"/>
                <a:cs typeface="DM Sans"/>
                <a:sym typeface="DM Sans"/>
              </a:rPr>
              <a:t>Remote VA Toolkit · 12 AI Management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30"/>
          <p:cNvSpPr/>
          <p:nvPr/>
        </p:nvSpPr>
        <p:spPr>
          <a:xfrm>
            <a:off x="812800" y="6604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12 / 16 · SAMPLE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0"/>
          <p:cNvSpPr/>
          <p:nvPr/>
        </p:nvSpPr>
        <p:spPr>
          <a:xfrm>
            <a:off x="812800" y="937258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A reusable prompt template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0"/>
          <p:cNvSpPr/>
          <p:nvPr/>
        </p:nvSpPr>
        <p:spPr>
          <a:xfrm>
            <a:off x="815975" y="1616075"/>
            <a:ext cx="7156450" cy="2696210"/>
          </a:xfrm>
          <a:prstGeom prst="roundRect">
            <a:avLst>
              <a:gd name="adj" fmla="val 4593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5400000" algn="bl" rotWithShape="0">
              <a:srgbClr val="121417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30"/>
          <p:cNvSpPr/>
          <p:nvPr/>
        </p:nvSpPr>
        <p:spPr>
          <a:xfrm>
            <a:off x="1021080" y="1821185"/>
            <a:ext cx="939800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ROLE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0"/>
          <p:cNvSpPr/>
          <p:nvPr/>
        </p:nvSpPr>
        <p:spPr>
          <a:xfrm>
            <a:off x="2037080" y="1821185"/>
            <a:ext cx="4259337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You are an executive assistant for a logistics company.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0"/>
          <p:cNvSpPr/>
          <p:nvPr/>
        </p:nvSpPr>
        <p:spPr>
          <a:xfrm>
            <a:off x="1021080" y="2153927"/>
            <a:ext cx="939800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TASK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0"/>
          <p:cNvSpPr/>
          <p:nvPr/>
        </p:nvSpPr>
        <p:spPr>
          <a:xfrm>
            <a:off x="2037080" y="2153927"/>
            <a:ext cx="4647598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Summarize the meeting notes below into a follow-up email.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0"/>
          <p:cNvSpPr/>
          <p:nvPr/>
        </p:nvSpPr>
        <p:spPr>
          <a:xfrm>
            <a:off x="1021080" y="2486658"/>
            <a:ext cx="939800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CONTEXT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0"/>
          <p:cNvSpPr/>
          <p:nvPr/>
        </p:nvSpPr>
        <p:spPr>
          <a:xfrm>
            <a:off x="2037080" y="2486658"/>
            <a:ext cx="4644001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Audience: the client team. Tone: friendly, brief, professional.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0"/>
          <p:cNvSpPr/>
          <p:nvPr/>
        </p:nvSpPr>
        <p:spPr>
          <a:xfrm>
            <a:off x="1021080" y="2819400"/>
            <a:ext cx="93980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FORMAT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0"/>
          <p:cNvSpPr/>
          <p:nvPr/>
        </p:nvSpPr>
        <p:spPr>
          <a:xfrm>
            <a:off x="2037080" y="2819400"/>
            <a:ext cx="5902147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3 key decisions, then action items with owner and due date. Under 150 words.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0"/>
          <p:cNvSpPr/>
          <p:nvPr/>
        </p:nvSpPr>
        <p:spPr>
          <a:xfrm>
            <a:off x="1021080" y="3383285"/>
            <a:ext cx="939800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CHECK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0"/>
          <p:cNvSpPr/>
          <p:nvPr/>
        </p:nvSpPr>
        <p:spPr>
          <a:xfrm>
            <a:off x="2037080" y="3383285"/>
            <a:ext cx="4208812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List anything unclear in the notes instead of guessing.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0"/>
          <p:cNvSpPr/>
          <p:nvPr/>
        </p:nvSpPr>
        <p:spPr>
          <a:xfrm>
            <a:off x="1021080" y="3716027"/>
            <a:ext cx="6746240" cy="391160"/>
          </a:xfrm>
          <a:prstGeom prst="roundRect">
            <a:avLst>
              <a:gd name="adj" fmla="val 19481"/>
            </a:avLst>
          </a:prstGeom>
          <a:solidFill>
            <a:srgbClr val="F0F2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30"/>
          <p:cNvSpPr/>
          <p:nvPr/>
        </p:nvSpPr>
        <p:spPr>
          <a:xfrm>
            <a:off x="1148080" y="3804927"/>
            <a:ext cx="6687007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[Paste meeting notes here]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0"/>
          <p:cNvSpPr/>
          <p:nvPr/>
        </p:nvSpPr>
        <p:spPr>
          <a:xfrm>
            <a:off x="8331200" y="1612900"/>
            <a:ext cx="313944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WHY IT WORKS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0"/>
          <p:cNvSpPr/>
          <p:nvPr/>
        </p:nvSpPr>
        <p:spPr>
          <a:xfrm>
            <a:off x="8331200" y="1927858"/>
            <a:ext cx="3139440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Same five parts every time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Clear length and format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The CHECK line stops made-up details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Saved once, reused daily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0"/>
          <p:cNvSpPr/>
          <p:nvPr/>
        </p:nvSpPr>
        <p:spPr>
          <a:xfrm>
            <a:off x="8331200" y="3383285"/>
            <a:ext cx="313944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 dirty="0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WORKS IN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0"/>
          <p:cNvSpPr/>
          <p:nvPr/>
        </p:nvSpPr>
        <p:spPr>
          <a:xfrm>
            <a:off x="8331200" y="3669034"/>
            <a:ext cx="3139440" cy="718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DM Sans"/>
              <a:buNone/>
            </a:pPr>
            <a:r>
              <a:rPr lang="en-US" sz="1300" b="0" i="0" u="none" strike="noStrike" cap="none" dirty="0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ChatGPT, Claude, Gemini or Copilot. Save it as a custom GPT, Project or Gem.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0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838E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7C838E"/>
                </a:solidFill>
                <a:latin typeface="DM Sans"/>
                <a:ea typeface="DM Sans"/>
                <a:cs typeface="DM Sans"/>
                <a:sym typeface="DM Sans"/>
              </a:rPr>
              <a:t>Remote VA Toolkit · 12 AI Management · Sample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31"/>
          <p:cNvSpPr/>
          <p:nvPr/>
        </p:nvSpPr>
        <p:spPr>
          <a:xfrm>
            <a:off x="812800" y="6604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13 / 16 · RESPONSIBILITIES AND TOOLS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1"/>
          <p:cNvSpPr/>
          <p:nvPr/>
        </p:nvSpPr>
        <p:spPr>
          <a:xfrm>
            <a:off x="812800" y="937258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Content and Design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1"/>
          <p:cNvSpPr/>
          <p:nvPr/>
        </p:nvSpPr>
        <p:spPr>
          <a:xfrm>
            <a:off x="812800" y="1447800"/>
            <a:ext cx="10883392" cy="28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DM Sans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On-brand graphics, videos and posts, published on a steady schedule.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1"/>
          <p:cNvSpPr/>
          <p:nvPr/>
        </p:nvSpPr>
        <p:spPr>
          <a:xfrm>
            <a:off x="812800" y="1933575"/>
            <a:ext cx="39243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WHAT YOU DO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1"/>
          <p:cNvSpPr/>
          <p:nvPr/>
        </p:nvSpPr>
        <p:spPr>
          <a:xfrm>
            <a:off x="812800" y="2235833"/>
            <a:ext cx="3924300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Design social graphics and banners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Edit short videos and reels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Plan a monthly content calendar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Write captions and schedule posts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Keep fonts, colors and logos consistent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1"/>
          <p:cNvSpPr/>
          <p:nvPr/>
        </p:nvSpPr>
        <p:spPr>
          <a:xfrm>
            <a:off x="4978400" y="1933575"/>
            <a:ext cx="65928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MODERN TOOLS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31"/>
          <p:cNvSpPr/>
          <p:nvPr/>
        </p:nvSpPr>
        <p:spPr>
          <a:xfrm>
            <a:off x="4978400" y="2235833"/>
            <a:ext cx="6400800" cy="2326640"/>
          </a:xfrm>
          <a:prstGeom prst="roundRect">
            <a:avLst>
              <a:gd name="adj" fmla="val 43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31"/>
          <p:cNvSpPr/>
          <p:nvPr/>
        </p:nvSpPr>
        <p:spPr>
          <a:xfrm>
            <a:off x="4978400" y="2235833"/>
            <a:ext cx="6400800" cy="2326640"/>
          </a:xfrm>
          <a:custGeom>
            <a:avLst/>
            <a:gdLst/>
            <a:ahLst/>
            <a:cxnLst/>
            <a:rect l="l" t="t" r="r" b="b"/>
            <a:pathLst>
              <a:path w="6400800" h="2326640" extrusionOk="0">
                <a:moveTo>
                  <a:pt x="6299200" y="0"/>
                </a:moveTo>
                <a:lnTo>
                  <a:pt x="6299200" y="0"/>
                </a:lnTo>
                <a:cubicBezTo>
                  <a:pt x="6326146" y="0"/>
                  <a:pt x="6351988" y="10704"/>
                  <a:pt x="6371042" y="29758"/>
                </a:cubicBezTo>
                <a:cubicBezTo>
                  <a:pt x="6390096" y="48812"/>
                  <a:pt x="6400800" y="74654"/>
                  <a:pt x="6400800" y="101600"/>
                </a:cubicBezTo>
                <a:lnTo>
                  <a:pt x="6400800" y="2225040"/>
                </a:lnTo>
                <a:cubicBezTo>
                  <a:pt x="6400800" y="2281152"/>
                  <a:pt x="6355312" y="2326640"/>
                  <a:pt x="6299200" y="2326640"/>
                </a:cubicBezTo>
                <a:lnTo>
                  <a:pt x="101600" y="2326640"/>
                </a:lnTo>
                <a:cubicBezTo>
                  <a:pt x="45488" y="2326640"/>
                  <a:pt x="0" y="2281152"/>
                  <a:pt x="0" y="2225040"/>
                </a:cubicBezTo>
                <a:lnTo>
                  <a:pt x="0" y="2225040"/>
                </a:lnTo>
                <a:cubicBezTo>
                  <a:pt x="0" y="2277645"/>
                  <a:pt x="45488" y="2320290"/>
                  <a:pt x="101600" y="2320290"/>
                </a:cubicBezTo>
                <a:lnTo>
                  <a:pt x="6299200" y="2320290"/>
                </a:lnTo>
                <a:cubicBezTo>
                  <a:pt x="6351805" y="2320290"/>
                  <a:pt x="6394450" y="2277645"/>
                  <a:pt x="6394450" y="2225040"/>
                </a:cubicBezTo>
                <a:lnTo>
                  <a:pt x="6394450" y="101600"/>
                </a:lnTo>
                <a:cubicBezTo>
                  <a:pt x="6394450" y="45488"/>
                  <a:pt x="6351805" y="0"/>
                  <a:pt x="6299200" y="0"/>
                </a:cubicBezTo>
                <a:close/>
              </a:path>
            </a:pathLst>
          </a:custGeom>
          <a:solidFill>
            <a:srgbClr val="DDE1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31"/>
          <p:cNvSpPr/>
          <p:nvPr/>
        </p:nvSpPr>
        <p:spPr>
          <a:xfrm>
            <a:off x="4978400" y="2235833"/>
            <a:ext cx="6400800" cy="2326640"/>
          </a:xfrm>
          <a:custGeom>
            <a:avLst/>
            <a:gdLst/>
            <a:ahLst/>
            <a:cxnLst/>
            <a:rect l="l" t="t" r="r" b="b"/>
            <a:pathLst>
              <a:path w="6400800" h="2326640" extrusionOk="0">
                <a:moveTo>
                  <a:pt x="101600" y="2326640"/>
                </a:moveTo>
                <a:lnTo>
                  <a:pt x="101600" y="2326640"/>
                </a:lnTo>
                <a:cubicBezTo>
                  <a:pt x="45488" y="2326640"/>
                  <a:pt x="0" y="2281152"/>
                  <a:pt x="0" y="2225040"/>
                </a:cubicBezTo>
                <a:lnTo>
                  <a:pt x="0" y="101600"/>
                </a:lnTo>
                <a:cubicBezTo>
                  <a:pt x="0" y="45488"/>
                  <a:pt x="45488" y="0"/>
                  <a:pt x="101600" y="0"/>
                </a:cubicBezTo>
                <a:lnTo>
                  <a:pt x="6299200" y="0"/>
                </a:lnTo>
                <a:cubicBezTo>
                  <a:pt x="6326146" y="0"/>
                  <a:pt x="6351988" y="10704"/>
                  <a:pt x="6371042" y="29758"/>
                </a:cubicBezTo>
                <a:cubicBezTo>
                  <a:pt x="6390096" y="48812"/>
                  <a:pt x="6400800" y="74654"/>
                  <a:pt x="6400800" y="101600"/>
                </a:cubicBezTo>
                <a:lnTo>
                  <a:pt x="6400800" y="101600"/>
                </a:lnTo>
                <a:cubicBezTo>
                  <a:pt x="6400800" y="51099"/>
                  <a:pt x="6355312" y="10160"/>
                  <a:pt x="6299200" y="10160"/>
                </a:cubicBezTo>
                <a:lnTo>
                  <a:pt x="101600" y="10160"/>
                </a:lnTo>
                <a:cubicBezTo>
                  <a:pt x="51099" y="10160"/>
                  <a:pt x="10160" y="51099"/>
                  <a:pt x="10160" y="101600"/>
                </a:cubicBezTo>
                <a:lnTo>
                  <a:pt x="10160" y="2225040"/>
                </a:lnTo>
                <a:cubicBezTo>
                  <a:pt x="10160" y="2281152"/>
                  <a:pt x="51099" y="2326640"/>
                  <a:pt x="101600" y="2326640"/>
                </a:cubicBezTo>
                <a:close/>
              </a:path>
            </a:pathLst>
          </a:custGeom>
          <a:solidFill>
            <a:srgbClr val="141413">
              <a:alpha val="2196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31"/>
          <p:cNvSpPr/>
          <p:nvPr/>
        </p:nvSpPr>
        <p:spPr>
          <a:xfrm>
            <a:off x="4988560" y="2245993"/>
            <a:ext cx="6385560" cy="330200"/>
          </a:xfrm>
          <a:custGeom>
            <a:avLst/>
            <a:gdLst/>
            <a:ahLst/>
            <a:cxnLst/>
            <a:rect l="l" t="t" r="r" b="b"/>
            <a:pathLst>
              <a:path w="6385560" h="330200" extrusionOk="0">
                <a:moveTo>
                  <a:pt x="0" y="91440"/>
                </a:moveTo>
                <a:cubicBezTo>
                  <a:pt x="0" y="40939"/>
                  <a:pt x="40939" y="0"/>
                  <a:pt x="91440" y="0"/>
                </a:cubicBezTo>
                <a:lnTo>
                  <a:pt x="6289040" y="0"/>
                </a:lnTo>
                <a:cubicBezTo>
                  <a:pt x="6314639" y="0"/>
                  <a:pt x="6339189" y="10169"/>
                  <a:pt x="6357290" y="28270"/>
                </a:cubicBezTo>
                <a:cubicBezTo>
                  <a:pt x="6375391" y="46371"/>
                  <a:pt x="6385560" y="70921"/>
                  <a:pt x="6385560" y="96520"/>
                </a:cubicBezTo>
                <a:lnTo>
                  <a:pt x="6385560" y="330200"/>
                </a:lnTo>
                <a:lnTo>
                  <a:pt x="0" y="330200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728" name="Google Shape;728;p31"/>
          <p:cNvGraphicFramePr/>
          <p:nvPr/>
        </p:nvGraphicFramePr>
        <p:xfrm>
          <a:off x="4988560" y="2245993"/>
          <a:ext cx="6385550" cy="2395995"/>
        </p:xfrm>
        <a:graphic>
          <a:graphicData uri="http://schemas.openxmlformats.org/drawingml/2006/table">
            <a:tbl>
              <a:tblPr>
                <a:noFill/>
                <a:tableStyleId>{537F66EC-7DD4-4156-ACD3-CA23E1461CC9}</a:tableStyleId>
              </a:tblPr>
              <a:tblGrid>
                <a:gridCol w="204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673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5F667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Tool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673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5F667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Use it for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Canva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Graphics, brand kits, AI design help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CapCut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Short videos, captions, reels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Adobe Express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Quick branded graphics and videos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Figma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Web and app mockups with designers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Buffer / Metricool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Schedule posts, track engagement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Grammarly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Clean, on-tone captions and copy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29" name="Google Shape;729;p31"/>
          <p:cNvSpPr/>
          <p:nvPr/>
        </p:nvSpPr>
        <p:spPr>
          <a:xfrm>
            <a:off x="812800" y="4791075"/>
            <a:ext cx="10566400" cy="485140"/>
          </a:xfrm>
          <a:prstGeom prst="roundRect">
            <a:avLst>
              <a:gd name="adj" fmla="val 20942"/>
            </a:avLst>
          </a:prstGeom>
          <a:solidFill>
            <a:srgbClr val="E7EE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31"/>
          <p:cNvSpPr/>
          <p:nvPr/>
        </p:nvSpPr>
        <p:spPr>
          <a:xfrm>
            <a:off x="990600" y="4918075"/>
            <a:ext cx="10517124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3F8C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63F8C"/>
                </a:solidFill>
                <a:latin typeface="DM Sans"/>
                <a:ea typeface="DM Sans"/>
                <a:cs typeface="DM Sans"/>
                <a:sym typeface="DM Sans"/>
              </a:rPr>
              <a:t>Pro tip:</a:t>
            </a:r>
            <a:r>
              <a:rPr lang="en-US" sz="1300" b="0" i="0" u="none" strike="noStrike" cap="none">
                <a:solidFill>
                  <a:srgbClr val="163F8C"/>
                </a:solidFill>
                <a:latin typeface="DM Sans"/>
                <a:ea typeface="DM Sans"/>
                <a:cs typeface="DM Sans"/>
                <a:sym typeface="DM Sans"/>
              </a:rPr>
              <a:t> set up a brand kit first: logo, two fonts, three colors. Every design after that takes half the time.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1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838E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7C838E"/>
                </a:solidFill>
                <a:latin typeface="DM Sans"/>
                <a:ea typeface="DM Sans"/>
                <a:cs typeface="DM Sans"/>
                <a:sym typeface="DM Sans"/>
              </a:rPr>
              <a:t>Remote VA Toolkit · 13 Content and Design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2"/>
          <p:cNvSpPr/>
          <p:nvPr/>
        </p:nvSpPr>
        <p:spPr>
          <a:xfrm>
            <a:off x="812800" y="6604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13 / 16 · SAMPLE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2"/>
          <p:cNvSpPr/>
          <p:nvPr/>
        </p:nvSpPr>
        <p:spPr>
          <a:xfrm>
            <a:off x="812800" y="937258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One week of a content calendar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2"/>
          <p:cNvSpPr/>
          <p:nvPr/>
        </p:nvSpPr>
        <p:spPr>
          <a:xfrm>
            <a:off x="815975" y="1616075"/>
            <a:ext cx="7156450" cy="274193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5400000" algn="bl" rotWithShape="0">
              <a:srgbClr val="121417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32"/>
          <p:cNvSpPr/>
          <p:nvPr/>
        </p:nvSpPr>
        <p:spPr>
          <a:xfrm>
            <a:off x="1021080" y="1821185"/>
            <a:ext cx="6948627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Content calendar · Week of Oct 5 · Home services brand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41" name="Google Shape;741;p32"/>
          <p:cNvGraphicFramePr/>
          <p:nvPr/>
        </p:nvGraphicFramePr>
        <p:xfrm>
          <a:off x="1031240" y="2171702"/>
          <a:ext cx="6736100" cy="2053710"/>
        </p:xfrm>
        <a:graphic>
          <a:graphicData uri="http://schemas.openxmlformats.org/drawingml/2006/table">
            <a:tbl>
              <a:tblPr>
                <a:noFill/>
                <a:tableStyleId>{537F66EC-7DD4-4156-ACD3-CA23E1461CC9}</a:tableStyleId>
              </a:tblPr>
              <a:tblGrid>
                <a:gridCol w="80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7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Day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Channel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Format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Topic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Status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Mon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Facebook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Graphic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 warning signs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Scheduled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Tue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Instagram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Reel, 20s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Before and after repair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Scheduled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Wed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LinkedIn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Post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Meet the team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 review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Thu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Instagram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Carousel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Fall maintenance list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Designing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Fri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Facebook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Story post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Approved customer story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Drafting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42" name="Google Shape;742;p32"/>
          <p:cNvSpPr/>
          <p:nvPr/>
        </p:nvSpPr>
        <p:spPr>
          <a:xfrm>
            <a:off x="8331200" y="1612900"/>
            <a:ext cx="313944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WHY IT WORKS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2"/>
          <p:cNvSpPr/>
          <p:nvPr/>
        </p:nvSpPr>
        <p:spPr>
          <a:xfrm>
            <a:off x="8331200" y="1927858"/>
            <a:ext cx="3139440" cy="745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Mixed formats keep the feed fresh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Status shows what needs attention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Planned a week ahead, not daily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32"/>
          <p:cNvSpPr/>
          <p:nvPr/>
        </p:nvSpPr>
        <p:spPr>
          <a:xfrm>
            <a:off x="8331200" y="2881949"/>
            <a:ext cx="313944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 dirty="0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BUILT WITH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2"/>
          <p:cNvSpPr/>
          <p:nvPr/>
        </p:nvSpPr>
        <p:spPr>
          <a:xfrm>
            <a:off x="8331200" y="3220084"/>
            <a:ext cx="3139440" cy="718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DM Sans"/>
              <a:buNone/>
            </a:pPr>
            <a:r>
              <a:rPr lang="en-US" sz="1300" b="0" i="0" u="none" strike="noStrike" cap="none" dirty="0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Notion or Google Sheets for the plan, Canva and </a:t>
            </a:r>
            <a:r>
              <a:rPr lang="en-US" sz="1300" b="0" i="0" u="none" strike="noStrike" cap="none" dirty="0" err="1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CapCut</a:t>
            </a:r>
            <a:r>
              <a:rPr lang="en-US" sz="1300" b="0" i="0" u="none" strike="noStrike" cap="none" dirty="0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 to create, Buffer to schedule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838E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7C838E"/>
                </a:solidFill>
                <a:latin typeface="DM Sans"/>
                <a:ea typeface="DM Sans"/>
                <a:cs typeface="DM Sans"/>
                <a:sym typeface="DM Sans"/>
              </a:rPr>
              <a:t>Remote VA Toolkit · 13 Content and Design · Sample data is fictional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33"/>
          <p:cNvSpPr/>
          <p:nvPr/>
        </p:nvSpPr>
        <p:spPr>
          <a:xfrm>
            <a:off x="812800" y="6604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14 / 16 · RESPONSIBILITIES AND TOOLS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3"/>
          <p:cNvSpPr/>
          <p:nvPr/>
        </p:nvSpPr>
        <p:spPr>
          <a:xfrm>
            <a:off x="812800" y="937258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SEO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33"/>
          <p:cNvSpPr/>
          <p:nvPr/>
        </p:nvSpPr>
        <p:spPr>
          <a:xfrm>
            <a:off x="812800" y="1447800"/>
            <a:ext cx="10883392" cy="28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DM Sans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Helping the right customers find the business on Google and in AI answers.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3"/>
          <p:cNvSpPr/>
          <p:nvPr/>
        </p:nvSpPr>
        <p:spPr>
          <a:xfrm>
            <a:off x="812800" y="1933575"/>
            <a:ext cx="39243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WHAT YOU DO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3"/>
          <p:cNvSpPr/>
          <p:nvPr/>
        </p:nvSpPr>
        <p:spPr>
          <a:xfrm>
            <a:off x="812800" y="2235833"/>
            <a:ext cx="3924300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Research keywords customers search for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Update titles, meta descriptions, headings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Monitor Search Console for errors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Set up tracking and read Analytics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Keep the Google Business Profile current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3"/>
          <p:cNvSpPr/>
          <p:nvPr/>
        </p:nvSpPr>
        <p:spPr>
          <a:xfrm>
            <a:off x="4978400" y="1933575"/>
            <a:ext cx="65928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MODERN TOOLS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3"/>
          <p:cNvSpPr/>
          <p:nvPr/>
        </p:nvSpPr>
        <p:spPr>
          <a:xfrm>
            <a:off x="4978400" y="2235833"/>
            <a:ext cx="6400800" cy="2326640"/>
          </a:xfrm>
          <a:prstGeom prst="roundRect">
            <a:avLst>
              <a:gd name="adj" fmla="val 43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33"/>
          <p:cNvSpPr/>
          <p:nvPr/>
        </p:nvSpPr>
        <p:spPr>
          <a:xfrm>
            <a:off x="4978400" y="2235833"/>
            <a:ext cx="6400800" cy="2326640"/>
          </a:xfrm>
          <a:custGeom>
            <a:avLst/>
            <a:gdLst/>
            <a:ahLst/>
            <a:cxnLst/>
            <a:rect l="l" t="t" r="r" b="b"/>
            <a:pathLst>
              <a:path w="6400800" h="2326640" extrusionOk="0">
                <a:moveTo>
                  <a:pt x="6299200" y="0"/>
                </a:moveTo>
                <a:lnTo>
                  <a:pt x="6299200" y="0"/>
                </a:lnTo>
                <a:cubicBezTo>
                  <a:pt x="6326146" y="0"/>
                  <a:pt x="6351988" y="10704"/>
                  <a:pt x="6371042" y="29758"/>
                </a:cubicBezTo>
                <a:cubicBezTo>
                  <a:pt x="6390096" y="48812"/>
                  <a:pt x="6400800" y="74654"/>
                  <a:pt x="6400800" y="101600"/>
                </a:cubicBezTo>
                <a:lnTo>
                  <a:pt x="6400800" y="2225040"/>
                </a:lnTo>
                <a:cubicBezTo>
                  <a:pt x="6400800" y="2281152"/>
                  <a:pt x="6355312" y="2326640"/>
                  <a:pt x="6299200" y="2326640"/>
                </a:cubicBezTo>
                <a:lnTo>
                  <a:pt x="101600" y="2326640"/>
                </a:lnTo>
                <a:cubicBezTo>
                  <a:pt x="45488" y="2326640"/>
                  <a:pt x="0" y="2281152"/>
                  <a:pt x="0" y="2225040"/>
                </a:cubicBezTo>
                <a:lnTo>
                  <a:pt x="0" y="2225040"/>
                </a:lnTo>
                <a:cubicBezTo>
                  <a:pt x="0" y="2277645"/>
                  <a:pt x="45488" y="2320290"/>
                  <a:pt x="101600" y="2320290"/>
                </a:cubicBezTo>
                <a:lnTo>
                  <a:pt x="6299200" y="2320290"/>
                </a:lnTo>
                <a:cubicBezTo>
                  <a:pt x="6351805" y="2320290"/>
                  <a:pt x="6394450" y="2277645"/>
                  <a:pt x="6394450" y="2225040"/>
                </a:cubicBezTo>
                <a:lnTo>
                  <a:pt x="6394450" y="101600"/>
                </a:lnTo>
                <a:cubicBezTo>
                  <a:pt x="6394450" y="45488"/>
                  <a:pt x="6351805" y="0"/>
                  <a:pt x="6299200" y="0"/>
                </a:cubicBezTo>
                <a:close/>
              </a:path>
            </a:pathLst>
          </a:custGeom>
          <a:solidFill>
            <a:srgbClr val="DDE1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33"/>
          <p:cNvSpPr/>
          <p:nvPr/>
        </p:nvSpPr>
        <p:spPr>
          <a:xfrm>
            <a:off x="4978400" y="2235833"/>
            <a:ext cx="6400800" cy="2326640"/>
          </a:xfrm>
          <a:custGeom>
            <a:avLst/>
            <a:gdLst/>
            <a:ahLst/>
            <a:cxnLst/>
            <a:rect l="l" t="t" r="r" b="b"/>
            <a:pathLst>
              <a:path w="6400800" h="2326640" extrusionOk="0">
                <a:moveTo>
                  <a:pt x="101600" y="2326640"/>
                </a:moveTo>
                <a:lnTo>
                  <a:pt x="101600" y="2326640"/>
                </a:lnTo>
                <a:cubicBezTo>
                  <a:pt x="45488" y="2326640"/>
                  <a:pt x="0" y="2281152"/>
                  <a:pt x="0" y="2225040"/>
                </a:cubicBezTo>
                <a:lnTo>
                  <a:pt x="0" y="101600"/>
                </a:lnTo>
                <a:cubicBezTo>
                  <a:pt x="0" y="45488"/>
                  <a:pt x="45488" y="0"/>
                  <a:pt x="101600" y="0"/>
                </a:cubicBezTo>
                <a:lnTo>
                  <a:pt x="6299200" y="0"/>
                </a:lnTo>
                <a:cubicBezTo>
                  <a:pt x="6326146" y="0"/>
                  <a:pt x="6351988" y="10704"/>
                  <a:pt x="6371042" y="29758"/>
                </a:cubicBezTo>
                <a:cubicBezTo>
                  <a:pt x="6390096" y="48812"/>
                  <a:pt x="6400800" y="74654"/>
                  <a:pt x="6400800" y="101600"/>
                </a:cubicBezTo>
                <a:lnTo>
                  <a:pt x="6400800" y="101600"/>
                </a:lnTo>
                <a:cubicBezTo>
                  <a:pt x="6400800" y="51099"/>
                  <a:pt x="6355312" y="10160"/>
                  <a:pt x="6299200" y="10160"/>
                </a:cubicBezTo>
                <a:lnTo>
                  <a:pt x="101600" y="10160"/>
                </a:lnTo>
                <a:cubicBezTo>
                  <a:pt x="51099" y="10160"/>
                  <a:pt x="10160" y="51099"/>
                  <a:pt x="10160" y="101600"/>
                </a:cubicBezTo>
                <a:lnTo>
                  <a:pt x="10160" y="2225040"/>
                </a:lnTo>
                <a:cubicBezTo>
                  <a:pt x="10160" y="2281152"/>
                  <a:pt x="51099" y="2326640"/>
                  <a:pt x="101600" y="2326640"/>
                </a:cubicBezTo>
                <a:close/>
              </a:path>
            </a:pathLst>
          </a:custGeom>
          <a:solidFill>
            <a:srgbClr val="141413">
              <a:alpha val="2196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33"/>
          <p:cNvSpPr/>
          <p:nvPr/>
        </p:nvSpPr>
        <p:spPr>
          <a:xfrm>
            <a:off x="4988560" y="2245993"/>
            <a:ext cx="6385560" cy="330200"/>
          </a:xfrm>
          <a:custGeom>
            <a:avLst/>
            <a:gdLst/>
            <a:ahLst/>
            <a:cxnLst/>
            <a:rect l="l" t="t" r="r" b="b"/>
            <a:pathLst>
              <a:path w="6385560" h="330200" extrusionOk="0">
                <a:moveTo>
                  <a:pt x="0" y="91440"/>
                </a:moveTo>
                <a:cubicBezTo>
                  <a:pt x="0" y="40939"/>
                  <a:pt x="40939" y="0"/>
                  <a:pt x="91440" y="0"/>
                </a:cubicBezTo>
                <a:lnTo>
                  <a:pt x="6289040" y="0"/>
                </a:lnTo>
                <a:cubicBezTo>
                  <a:pt x="6314639" y="0"/>
                  <a:pt x="6339189" y="10169"/>
                  <a:pt x="6357290" y="28270"/>
                </a:cubicBezTo>
                <a:cubicBezTo>
                  <a:pt x="6375391" y="46371"/>
                  <a:pt x="6385560" y="70921"/>
                  <a:pt x="6385560" y="96520"/>
                </a:cubicBezTo>
                <a:lnTo>
                  <a:pt x="6385560" y="330200"/>
                </a:lnTo>
                <a:lnTo>
                  <a:pt x="0" y="330200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762" name="Google Shape;762;p33"/>
          <p:cNvGraphicFramePr/>
          <p:nvPr/>
        </p:nvGraphicFramePr>
        <p:xfrm>
          <a:off x="4988560" y="2245993"/>
          <a:ext cx="6385550" cy="2395995"/>
        </p:xfrm>
        <a:graphic>
          <a:graphicData uri="http://schemas.openxmlformats.org/drawingml/2006/table">
            <a:tbl>
              <a:tblPr>
                <a:noFill/>
                <a:tableStyleId>{537F66EC-7DD4-4156-ACD3-CA23E1461CC9}</a:tableStyleId>
              </a:tblPr>
              <a:tblGrid>
                <a:gridCol w="204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673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5F667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Tool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673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5F667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Use it for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Search Console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Clicks, indexing, sitemaps, site errors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Google Analytics 4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Visitors, sources, conversions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Tag Manager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Track clicks and forms without code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Semrush / Ahrefs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Keywords, competitors, AI visibility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Screaming Frog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Crawl a site for broken links, gaps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PageSpeed Insights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Page speed and Core Web Vitals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63" name="Google Shape;763;p33"/>
          <p:cNvSpPr/>
          <p:nvPr/>
        </p:nvSpPr>
        <p:spPr>
          <a:xfrm>
            <a:off x="812800" y="4791075"/>
            <a:ext cx="10566400" cy="485140"/>
          </a:xfrm>
          <a:prstGeom prst="roundRect">
            <a:avLst>
              <a:gd name="adj" fmla="val 20942"/>
            </a:avLst>
          </a:prstGeom>
          <a:solidFill>
            <a:srgbClr val="E7EE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33"/>
          <p:cNvSpPr/>
          <p:nvPr/>
        </p:nvSpPr>
        <p:spPr>
          <a:xfrm>
            <a:off x="990600" y="4918075"/>
            <a:ext cx="10517124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3F8C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63F8C"/>
                </a:solidFill>
                <a:latin typeface="DM Sans"/>
                <a:ea typeface="DM Sans"/>
                <a:cs typeface="DM Sans"/>
                <a:sym typeface="DM Sans"/>
              </a:rPr>
              <a:t>Pro tip:</a:t>
            </a:r>
            <a:r>
              <a:rPr lang="en-US" sz="1300" b="0" i="0" u="none" strike="noStrike" cap="none">
                <a:solidFill>
                  <a:srgbClr val="163F8C"/>
                </a:solidFill>
                <a:latin typeface="DM Sans"/>
                <a:ea typeface="DM Sans"/>
                <a:cs typeface="DM Sans"/>
                <a:sym typeface="DM Sans"/>
              </a:rPr>
              <a:t> write clear answers to real customer questions. It helps both Google rankings and AI search tools (GEO).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33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838E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7C838E"/>
                </a:solidFill>
                <a:latin typeface="DM Sans"/>
                <a:ea typeface="DM Sans"/>
                <a:cs typeface="DM Sans"/>
                <a:sym typeface="DM Sans"/>
              </a:rPr>
              <a:t>Remote VA Toolkit · 14 SEO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4"/>
          <p:cNvSpPr/>
          <p:nvPr/>
        </p:nvSpPr>
        <p:spPr>
          <a:xfrm>
            <a:off x="812800" y="6604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14 / 16 · SAMPLE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4"/>
          <p:cNvSpPr/>
          <p:nvPr/>
        </p:nvSpPr>
        <p:spPr>
          <a:xfrm>
            <a:off x="812800" y="937270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A monthly SEO snapshot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4"/>
          <p:cNvSpPr/>
          <p:nvPr/>
        </p:nvSpPr>
        <p:spPr>
          <a:xfrm>
            <a:off x="815975" y="1616075"/>
            <a:ext cx="10560050" cy="2813050"/>
          </a:xfrm>
          <a:prstGeom prst="roundRect">
            <a:avLst>
              <a:gd name="adj" fmla="val 4402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5400000" algn="bl" rotWithShape="0">
              <a:srgbClr val="121417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34"/>
          <p:cNvSpPr/>
          <p:nvPr/>
        </p:nvSpPr>
        <p:spPr>
          <a:xfrm>
            <a:off x="1021080" y="1821185"/>
            <a:ext cx="579218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400"/>
              <a:buFont typeface="DM Sans"/>
              <a:buNone/>
            </a:pPr>
            <a:r>
              <a:rPr lang="en-US" sz="14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SEO snapshot · September 2026 · Source: Google Search Console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4"/>
          <p:cNvSpPr/>
          <p:nvPr/>
        </p:nvSpPr>
        <p:spPr>
          <a:xfrm>
            <a:off x="10485358" y="1846585"/>
            <a:ext cx="73636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vs August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4"/>
          <p:cNvSpPr/>
          <p:nvPr/>
        </p:nvSpPr>
        <p:spPr>
          <a:xfrm>
            <a:off x="1021080" y="2222500"/>
            <a:ext cx="2461260" cy="1122680"/>
          </a:xfrm>
          <a:prstGeom prst="roundRect">
            <a:avLst>
              <a:gd name="adj" fmla="val 7919"/>
            </a:avLst>
          </a:prstGeom>
          <a:solidFill>
            <a:srgbClr val="F5F6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34"/>
          <p:cNvSpPr/>
          <p:nvPr/>
        </p:nvSpPr>
        <p:spPr>
          <a:xfrm>
            <a:off x="1173480" y="2349500"/>
            <a:ext cx="222115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Clicks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4"/>
          <p:cNvSpPr/>
          <p:nvPr/>
        </p:nvSpPr>
        <p:spPr>
          <a:xfrm>
            <a:off x="1173480" y="2588270"/>
            <a:ext cx="2221154" cy="416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2200"/>
              <a:buFont typeface="DM Sans"/>
              <a:buNone/>
            </a:pPr>
            <a:r>
              <a:rPr lang="en-US" sz="2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2,860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4"/>
          <p:cNvSpPr/>
          <p:nvPr/>
        </p:nvSpPr>
        <p:spPr>
          <a:xfrm>
            <a:off x="1173480" y="3004815"/>
            <a:ext cx="222115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Up 12%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34"/>
          <p:cNvSpPr/>
          <p:nvPr/>
        </p:nvSpPr>
        <p:spPr>
          <a:xfrm>
            <a:off x="3583940" y="2222500"/>
            <a:ext cx="2461260" cy="1122680"/>
          </a:xfrm>
          <a:prstGeom prst="roundRect">
            <a:avLst>
              <a:gd name="adj" fmla="val 7919"/>
            </a:avLst>
          </a:prstGeom>
          <a:solidFill>
            <a:srgbClr val="F5F6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34"/>
          <p:cNvSpPr/>
          <p:nvPr/>
        </p:nvSpPr>
        <p:spPr>
          <a:xfrm>
            <a:off x="3736340" y="2349500"/>
            <a:ext cx="222115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Impressions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4"/>
          <p:cNvSpPr/>
          <p:nvPr/>
        </p:nvSpPr>
        <p:spPr>
          <a:xfrm>
            <a:off x="3736340" y="2588270"/>
            <a:ext cx="2221154" cy="416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2200"/>
              <a:buFont typeface="DM Sans"/>
              <a:buNone/>
            </a:pPr>
            <a:r>
              <a:rPr lang="en-US" sz="2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74,300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4"/>
          <p:cNvSpPr/>
          <p:nvPr/>
        </p:nvSpPr>
        <p:spPr>
          <a:xfrm>
            <a:off x="3736340" y="3004815"/>
            <a:ext cx="222115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Up 18%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34"/>
          <p:cNvSpPr/>
          <p:nvPr/>
        </p:nvSpPr>
        <p:spPr>
          <a:xfrm>
            <a:off x="6146800" y="2222500"/>
            <a:ext cx="2461260" cy="1122680"/>
          </a:xfrm>
          <a:prstGeom prst="roundRect">
            <a:avLst>
              <a:gd name="adj" fmla="val 7919"/>
            </a:avLst>
          </a:prstGeom>
          <a:solidFill>
            <a:srgbClr val="F5F6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34"/>
          <p:cNvSpPr/>
          <p:nvPr/>
        </p:nvSpPr>
        <p:spPr>
          <a:xfrm>
            <a:off x="6299200" y="2349500"/>
            <a:ext cx="222115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Click-through rate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4"/>
          <p:cNvSpPr/>
          <p:nvPr/>
        </p:nvSpPr>
        <p:spPr>
          <a:xfrm>
            <a:off x="6299200" y="2588270"/>
            <a:ext cx="2221154" cy="416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2200"/>
              <a:buFont typeface="DM Sans"/>
              <a:buNone/>
            </a:pPr>
            <a:r>
              <a:rPr lang="en-US" sz="2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3.8%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4"/>
          <p:cNvSpPr/>
          <p:nvPr/>
        </p:nvSpPr>
        <p:spPr>
          <a:xfrm>
            <a:off x="6299200" y="3004815"/>
            <a:ext cx="222115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Down 0.2 pts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4"/>
          <p:cNvSpPr/>
          <p:nvPr/>
        </p:nvSpPr>
        <p:spPr>
          <a:xfrm>
            <a:off x="8709660" y="2222500"/>
            <a:ext cx="2461260" cy="1122680"/>
          </a:xfrm>
          <a:prstGeom prst="roundRect">
            <a:avLst>
              <a:gd name="adj" fmla="val 7919"/>
            </a:avLst>
          </a:prstGeom>
          <a:solidFill>
            <a:srgbClr val="F5F6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34"/>
          <p:cNvSpPr/>
          <p:nvPr/>
        </p:nvSpPr>
        <p:spPr>
          <a:xfrm>
            <a:off x="8862060" y="2349500"/>
            <a:ext cx="222115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Avg. position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4"/>
          <p:cNvSpPr/>
          <p:nvPr/>
        </p:nvSpPr>
        <p:spPr>
          <a:xfrm>
            <a:off x="8862060" y="2588270"/>
            <a:ext cx="2221154" cy="416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2200"/>
              <a:buFont typeface="DM Sans"/>
              <a:buNone/>
            </a:pPr>
            <a:r>
              <a:rPr lang="en-US" sz="2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14.2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4"/>
          <p:cNvSpPr/>
          <p:nvPr/>
        </p:nvSpPr>
        <p:spPr>
          <a:xfrm>
            <a:off x="8862060" y="3004815"/>
            <a:ext cx="222115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Up from 16.9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4"/>
          <p:cNvSpPr/>
          <p:nvPr/>
        </p:nvSpPr>
        <p:spPr>
          <a:xfrm>
            <a:off x="1021080" y="3497585"/>
            <a:ext cx="512252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400"/>
              <a:buFont typeface="DM Sans"/>
              <a:buNone/>
            </a:pPr>
            <a:r>
              <a:rPr lang="en-US" sz="14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Done this month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4"/>
          <p:cNvSpPr/>
          <p:nvPr/>
        </p:nvSpPr>
        <p:spPr>
          <a:xfrm>
            <a:off x="1021080" y="3761755"/>
            <a:ext cx="512252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Rewrote 8 page titles and meta descriptions, fixed 3 broken links, resubmitted the sitemap.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4"/>
          <p:cNvSpPr/>
          <p:nvPr/>
        </p:nvSpPr>
        <p:spPr>
          <a:xfrm>
            <a:off x="6197600" y="3497585"/>
            <a:ext cx="512252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400"/>
              <a:buFont typeface="DM Sans"/>
              <a:buNone/>
            </a:pPr>
            <a:r>
              <a:rPr lang="en-US" sz="14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Next month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4"/>
          <p:cNvSpPr/>
          <p:nvPr/>
        </p:nvSpPr>
        <p:spPr>
          <a:xfrm>
            <a:off x="6197600" y="3761755"/>
            <a:ext cx="512252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Add FAQs to the top 3 service pages and improve mobile page speed.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4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838E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7C838E"/>
                </a:solidFill>
                <a:latin typeface="DM Sans"/>
                <a:ea typeface="DM Sans"/>
                <a:cs typeface="DM Sans"/>
                <a:sym typeface="DM Sans"/>
              </a:rPr>
              <a:t>Remote VA Toolkit · 14 SEO · Fictional data · Search Console + Looker Studio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5"/>
          <p:cNvSpPr/>
          <p:nvPr/>
        </p:nvSpPr>
        <p:spPr>
          <a:xfrm>
            <a:off x="812800" y="6604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15 / 16 · RESPONSIBILITIES AND TOOLS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5"/>
          <p:cNvSpPr/>
          <p:nvPr/>
        </p:nvSpPr>
        <p:spPr>
          <a:xfrm>
            <a:off x="812800" y="937270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Research and Information Gathering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5"/>
          <p:cNvSpPr/>
          <p:nvPr/>
        </p:nvSpPr>
        <p:spPr>
          <a:xfrm>
            <a:off x="812800" y="1447800"/>
            <a:ext cx="10883392" cy="28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DM Sans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Finding reliable answers fast, and showing where they came from.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5"/>
          <p:cNvSpPr/>
          <p:nvPr/>
        </p:nvSpPr>
        <p:spPr>
          <a:xfrm>
            <a:off x="812800" y="1933575"/>
            <a:ext cx="39243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WHAT YOU DO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5"/>
          <p:cNvSpPr/>
          <p:nvPr/>
        </p:nvSpPr>
        <p:spPr>
          <a:xfrm>
            <a:off x="812800" y="2235845"/>
            <a:ext cx="3924300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Compare vendors, products and prices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Research competitors and markets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Build lead and contact lists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Fact-check claims against sources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Summarize findings in a short brief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5"/>
          <p:cNvSpPr/>
          <p:nvPr/>
        </p:nvSpPr>
        <p:spPr>
          <a:xfrm>
            <a:off x="4978400" y="1933575"/>
            <a:ext cx="65928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MODERN TOOLS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5"/>
          <p:cNvSpPr/>
          <p:nvPr/>
        </p:nvSpPr>
        <p:spPr>
          <a:xfrm>
            <a:off x="4978400" y="2235845"/>
            <a:ext cx="6400800" cy="2326640"/>
          </a:xfrm>
          <a:prstGeom prst="roundRect">
            <a:avLst>
              <a:gd name="adj" fmla="val 43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35"/>
          <p:cNvSpPr/>
          <p:nvPr/>
        </p:nvSpPr>
        <p:spPr>
          <a:xfrm>
            <a:off x="4978400" y="2235845"/>
            <a:ext cx="6400800" cy="2326640"/>
          </a:xfrm>
          <a:custGeom>
            <a:avLst/>
            <a:gdLst/>
            <a:ahLst/>
            <a:cxnLst/>
            <a:rect l="l" t="t" r="r" b="b"/>
            <a:pathLst>
              <a:path w="6400800" h="2326640" extrusionOk="0">
                <a:moveTo>
                  <a:pt x="6299200" y="0"/>
                </a:moveTo>
                <a:lnTo>
                  <a:pt x="6299200" y="0"/>
                </a:lnTo>
                <a:cubicBezTo>
                  <a:pt x="6326146" y="0"/>
                  <a:pt x="6351988" y="10704"/>
                  <a:pt x="6371042" y="29758"/>
                </a:cubicBezTo>
                <a:cubicBezTo>
                  <a:pt x="6390096" y="48812"/>
                  <a:pt x="6400800" y="74654"/>
                  <a:pt x="6400800" y="101600"/>
                </a:cubicBezTo>
                <a:lnTo>
                  <a:pt x="6400800" y="2225040"/>
                </a:lnTo>
                <a:cubicBezTo>
                  <a:pt x="6400800" y="2281152"/>
                  <a:pt x="6355312" y="2326640"/>
                  <a:pt x="6299200" y="2326640"/>
                </a:cubicBezTo>
                <a:lnTo>
                  <a:pt x="101600" y="2326640"/>
                </a:lnTo>
                <a:cubicBezTo>
                  <a:pt x="45488" y="2326640"/>
                  <a:pt x="0" y="2281152"/>
                  <a:pt x="0" y="2225040"/>
                </a:cubicBezTo>
                <a:lnTo>
                  <a:pt x="0" y="2225040"/>
                </a:lnTo>
                <a:cubicBezTo>
                  <a:pt x="0" y="2277645"/>
                  <a:pt x="45488" y="2320290"/>
                  <a:pt x="101600" y="2320290"/>
                </a:cubicBezTo>
                <a:lnTo>
                  <a:pt x="6299200" y="2320290"/>
                </a:lnTo>
                <a:cubicBezTo>
                  <a:pt x="6351805" y="2320290"/>
                  <a:pt x="6394450" y="2277645"/>
                  <a:pt x="6394450" y="2225040"/>
                </a:cubicBezTo>
                <a:lnTo>
                  <a:pt x="6394450" y="101600"/>
                </a:lnTo>
                <a:cubicBezTo>
                  <a:pt x="6394450" y="45488"/>
                  <a:pt x="6351805" y="0"/>
                  <a:pt x="6299200" y="0"/>
                </a:cubicBezTo>
                <a:close/>
              </a:path>
            </a:pathLst>
          </a:custGeom>
          <a:solidFill>
            <a:srgbClr val="DDE1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35"/>
          <p:cNvSpPr/>
          <p:nvPr/>
        </p:nvSpPr>
        <p:spPr>
          <a:xfrm>
            <a:off x="4978400" y="2235845"/>
            <a:ext cx="6400800" cy="2326640"/>
          </a:xfrm>
          <a:custGeom>
            <a:avLst/>
            <a:gdLst/>
            <a:ahLst/>
            <a:cxnLst/>
            <a:rect l="l" t="t" r="r" b="b"/>
            <a:pathLst>
              <a:path w="6400800" h="2326640" extrusionOk="0">
                <a:moveTo>
                  <a:pt x="101600" y="2326640"/>
                </a:moveTo>
                <a:lnTo>
                  <a:pt x="101600" y="2326640"/>
                </a:lnTo>
                <a:cubicBezTo>
                  <a:pt x="45488" y="2326640"/>
                  <a:pt x="0" y="2281152"/>
                  <a:pt x="0" y="2225040"/>
                </a:cubicBezTo>
                <a:lnTo>
                  <a:pt x="0" y="101600"/>
                </a:lnTo>
                <a:cubicBezTo>
                  <a:pt x="0" y="45488"/>
                  <a:pt x="45488" y="0"/>
                  <a:pt x="101600" y="0"/>
                </a:cubicBezTo>
                <a:lnTo>
                  <a:pt x="6299200" y="0"/>
                </a:lnTo>
                <a:cubicBezTo>
                  <a:pt x="6326146" y="0"/>
                  <a:pt x="6351988" y="10704"/>
                  <a:pt x="6371042" y="29758"/>
                </a:cubicBezTo>
                <a:cubicBezTo>
                  <a:pt x="6390096" y="48812"/>
                  <a:pt x="6400800" y="74654"/>
                  <a:pt x="6400800" y="101600"/>
                </a:cubicBezTo>
                <a:lnTo>
                  <a:pt x="6400800" y="101600"/>
                </a:lnTo>
                <a:cubicBezTo>
                  <a:pt x="6400800" y="51099"/>
                  <a:pt x="6355312" y="10160"/>
                  <a:pt x="6299200" y="10160"/>
                </a:cubicBezTo>
                <a:lnTo>
                  <a:pt x="101600" y="10160"/>
                </a:lnTo>
                <a:cubicBezTo>
                  <a:pt x="51099" y="10160"/>
                  <a:pt x="10160" y="51099"/>
                  <a:pt x="10160" y="101600"/>
                </a:cubicBezTo>
                <a:lnTo>
                  <a:pt x="10160" y="2225040"/>
                </a:lnTo>
                <a:cubicBezTo>
                  <a:pt x="10160" y="2281152"/>
                  <a:pt x="51099" y="2326640"/>
                  <a:pt x="101600" y="2326640"/>
                </a:cubicBezTo>
                <a:close/>
              </a:path>
            </a:pathLst>
          </a:custGeom>
          <a:solidFill>
            <a:srgbClr val="141413">
              <a:alpha val="2196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35"/>
          <p:cNvSpPr/>
          <p:nvPr/>
        </p:nvSpPr>
        <p:spPr>
          <a:xfrm>
            <a:off x="4988560" y="2246005"/>
            <a:ext cx="6385560" cy="330200"/>
          </a:xfrm>
          <a:custGeom>
            <a:avLst/>
            <a:gdLst/>
            <a:ahLst/>
            <a:cxnLst/>
            <a:rect l="l" t="t" r="r" b="b"/>
            <a:pathLst>
              <a:path w="6385560" h="330200" extrusionOk="0">
                <a:moveTo>
                  <a:pt x="0" y="91440"/>
                </a:moveTo>
                <a:cubicBezTo>
                  <a:pt x="0" y="40939"/>
                  <a:pt x="40939" y="0"/>
                  <a:pt x="91440" y="0"/>
                </a:cubicBezTo>
                <a:lnTo>
                  <a:pt x="6289040" y="0"/>
                </a:lnTo>
                <a:cubicBezTo>
                  <a:pt x="6314639" y="0"/>
                  <a:pt x="6339189" y="10169"/>
                  <a:pt x="6357290" y="28270"/>
                </a:cubicBezTo>
                <a:cubicBezTo>
                  <a:pt x="6375391" y="46371"/>
                  <a:pt x="6385560" y="70921"/>
                  <a:pt x="6385560" y="96520"/>
                </a:cubicBezTo>
                <a:lnTo>
                  <a:pt x="6385560" y="330200"/>
                </a:lnTo>
                <a:lnTo>
                  <a:pt x="0" y="330200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812" name="Google Shape;812;p35"/>
          <p:cNvGraphicFramePr/>
          <p:nvPr/>
        </p:nvGraphicFramePr>
        <p:xfrm>
          <a:off x="4988560" y="2246005"/>
          <a:ext cx="6385550" cy="2395995"/>
        </p:xfrm>
        <a:graphic>
          <a:graphicData uri="http://schemas.openxmlformats.org/drawingml/2006/table">
            <a:tbl>
              <a:tblPr>
                <a:noFill/>
                <a:tableStyleId>{537F66EC-7DD4-4156-ACD3-CA23E1461CC9}</a:tableStyleId>
              </a:tblPr>
              <a:tblGrid>
                <a:gridCol w="204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673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5F667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Tool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673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5F667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Use it for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Perplexity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Fast answers with linked sources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Deep research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Long reports in ChatGPT, Gemini, Claude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NotebookLM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Summarize and question your own files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Google Search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Operators like site: and filetype: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Sales Navigator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LinkedIn lead and company research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Google Scholar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Studies and reliable data sources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13" name="Google Shape;813;p35"/>
          <p:cNvSpPr/>
          <p:nvPr/>
        </p:nvSpPr>
        <p:spPr>
          <a:xfrm>
            <a:off x="812800" y="4791075"/>
            <a:ext cx="10566400" cy="485140"/>
          </a:xfrm>
          <a:prstGeom prst="roundRect">
            <a:avLst>
              <a:gd name="adj" fmla="val 20942"/>
            </a:avLst>
          </a:prstGeom>
          <a:solidFill>
            <a:srgbClr val="E7EE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" name="Google Shape;814;p35"/>
          <p:cNvSpPr/>
          <p:nvPr/>
        </p:nvSpPr>
        <p:spPr>
          <a:xfrm>
            <a:off x="990600" y="4918075"/>
            <a:ext cx="10517124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3F8C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63F8C"/>
                </a:solidFill>
                <a:latin typeface="DM Sans"/>
                <a:ea typeface="DM Sans"/>
                <a:cs typeface="DM Sans"/>
                <a:sym typeface="DM Sans"/>
              </a:rPr>
              <a:t>Pro tip:</a:t>
            </a:r>
            <a:r>
              <a:rPr lang="en-US" sz="1300" b="0" i="0" u="none" strike="noStrike" cap="none">
                <a:solidFill>
                  <a:srgbClr val="163F8C"/>
                </a:solidFill>
                <a:latin typeface="DM Sans"/>
                <a:ea typeface="DM Sans"/>
                <a:cs typeface="DM Sans"/>
                <a:sym typeface="DM Sans"/>
              </a:rPr>
              <a:t> open and read every source an AI tool cites. AI can summarize a page wrong or link to one that does not say it.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5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838E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7C838E"/>
                </a:solidFill>
                <a:latin typeface="DM Sans"/>
                <a:ea typeface="DM Sans"/>
                <a:cs typeface="DM Sans"/>
                <a:sym typeface="DM Sans"/>
              </a:rPr>
              <a:t>Remote VA Toolkit · 15 Research and Information Gathering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36"/>
          <p:cNvSpPr/>
          <p:nvPr/>
        </p:nvSpPr>
        <p:spPr>
          <a:xfrm>
            <a:off x="812800" y="6604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15 / 16 · SAMPLE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6"/>
          <p:cNvSpPr/>
          <p:nvPr/>
        </p:nvSpPr>
        <p:spPr>
          <a:xfrm>
            <a:off x="812800" y="937270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A vendor comparison brief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36"/>
          <p:cNvSpPr/>
          <p:nvPr/>
        </p:nvSpPr>
        <p:spPr>
          <a:xfrm>
            <a:off x="815975" y="1616075"/>
            <a:ext cx="7156450" cy="3082290"/>
          </a:xfrm>
          <a:prstGeom prst="roundRect">
            <a:avLst>
              <a:gd name="adj" fmla="val 4017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5400000" algn="bl" rotWithShape="0">
              <a:srgbClr val="121417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36"/>
          <p:cNvSpPr/>
          <p:nvPr/>
        </p:nvSpPr>
        <p:spPr>
          <a:xfrm>
            <a:off x="1021080" y="1821185"/>
            <a:ext cx="6948627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Question: which payroll service fits a 12-person team?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25" name="Google Shape;825;p36"/>
          <p:cNvGraphicFramePr/>
          <p:nvPr/>
        </p:nvGraphicFramePr>
        <p:xfrm>
          <a:off x="1031240" y="2171715"/>
          <a:ext cx="6736050" cy="2053710"/>
        </p:xfrm>
        <a:graphic>
          <a:graphicData uri="http://schemas.openxmlformats.org/drawingml/2006/table">
            <a:tbl>
              <a:tblPr>
                <a:noFill/>
                <a:tableStyleId>{537F66EC-7DD4-4156-ACD3-CA23E1461CC9}</a:tableStyleId>
              </a:tblPr>
              <a:tblGrid>
                <a:gridCol w="188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6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6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6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Criteria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Vendor A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Vendor B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Vendor C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Monthly cost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[Price]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[Price]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[Price]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0C1C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Local tax filing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Yes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Yes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Payslip app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Yes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Yes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Setup time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 week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 weeks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 days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Fit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Best fit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Good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E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Missing tax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9BEC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26" name="Google Shape;826;p36"/>
          <p:cNvSpPr/>
          <p:nvPr/>
        </p:nvSpPr>
        <p:spPr>
          <a:xfrm>
            <a:off x="1021080" y="4279900"/>
            <a:ext cx="6948627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Sources: each vendor’s pricing page and 2 review sites, checked Sep 28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6"/>
          <p:cNvSpPr/>
          <p:nvPr/>
        </p:nvSpPr>
        <p:spPr>
          <a:xfrm>
            <a:off x="8331200" y="1612900"/>
            <a:ext cx="313944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WHY IT WORKS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6"/>
          <p:cNvSpPr/>
          <p:nvPr/>
        </p:nvSpPr>
        <p:spPr>
          <a:xfrm>
            <a:off x="8331200" y="1927870"/>
            <a:ext cx="3139440" cy="98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Starts with the exact question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Same criteria for every option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Ends with a clear recommendation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Sources and date are listed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36"/>
          <p:cNvSpPr/>
          <p:nvPr/>
        </p:nvSpPr>
        <p:spPr>
          <a:xfrm>
            <a:off x="8331200" y="3101355"/>
            <a:ext cx="313944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 dirty="0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BUILT WITH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6"/>
          <p:cNvSpPr/>
          <p:nvPr/>
        </p:nvSpPr>
        <p:spPr>
          <a:xfrm>
            <a:off x="8331200" y="3429000"/>
            <a:ext cx="313944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DM Sans"/>
              <a:buNone/>
            </a:pPr>
            <a:r>
              <a:rPr lang="en-US" sz="1300" b="0" i="0" u="none" strike="noStrike" cap="none" dirty="0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Perplexity to find sources, Google Sheets for the table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6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838E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7C838E"/>
                </a:solidFill>
                <a:latin typeface="DM Sans"/>
                <a:ea typeface="DM Sans"/>
                <a:cs typeface="DM Sans"/>
                <a:sym typeface="DM Sans"/>
              </a:rPr>
              <a:t>Remote VA Toolkit · 15 Research · Vendors and values are placeholders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37"/>
          <p:cNvSpPr/>
          <p:nvPr/>
        </p:nvSpPr>
        <p:spPr>
          <a:xfrm>
            <a:off x="812800" y="6604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16 / 16 · RESPONSIBILITIES AND TOOLS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7"/>
          <p:cNvSpPr/>
          <p:nvPr/>
        </p:nvSpPr>
        <p:spPr>
          <a:xfrm>
            <a:off x="812800" y="937270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Remote Team Communication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7"/>
          <p:cNvSpPr/>
          <p:nvPr/>
        </p:nvSpPr>
        <p:spPr>
          <a:xfrm>
            <a:off x="812800" y="1447800"/>
            <a:ext cx="10883392" cy="28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DM Sans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Keeping a team in different places and time zones in sync.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37"/>
          <p:cNvSpPr/>
          <p:nvPr/>
        </p:nvSpPr>
        <p:spPr>
          <a:xfrm>
            <a:off x="812800" y="1933575"/>
            <a:ext cx="392430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WHAT YOU DO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37"/>
          <p:cNvSpPr/>
          <p:nvPr/>
        </p:nvSpPr>
        <p:spPr>
          <a:xfrm>
            <a:off x="812800" y="2235845"/>
            <a:ext cx="3924300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Post daily updates and end-of-day reports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Set up meetings, agendas and notes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Share quick video walkthroughs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Coordinate hand-offs across time zones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Log hours and keep channels tidy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7"/>
          <p:cNvSpPr/>
          <p:nvPr/>
        </p:nvSpPr>
        <p:spPr>
          <a:xfrm>
            <a:off x="4978400" y="1933575"/>
            <a:ext cx="6592824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MODERN TOOLS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37"/>
          <p:cNvSpPr/>
          <p:nvPr/>
        </p:nvSpPr>
        <p:spPr>
          <a:xfrm>
            <a:off x="4978400" y="2235845"/>
            <a:ext cx="6400800" cy="2326640"/>
          </a:xfrm>
          <a:prstGeom prst="roundRect">
            <a:avLst>
              <a:gd name="adj" fmla="val 43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4" name="Google Shape;844;p37"/>
          <p:cNvSpPr/>
          <p:nvPr/>
        </p:nvSpPr>
        <p:spPr>
          <a:xfrm>
            <a:off x="4978400" y="2235845"/>
            <a:ext cx="6400800" cy="2326640"/>
          </a:xfrm>
          <a:custGeom>
            <a:avLst/>
            <a:gdLst/>
            <a:ahLst/>
            <a:cxnLst/>
            <a:rect l="l" t="t" r="r" b="b"/>
            <a:pathLst>
              <a:path w="6400800" h="2326640" extrusionOk="0">
                <a:moveTo>
                  <a:pt x="6299200" y="0"/>
                </a:moveTo>
                <a:lnTo>
                  <a:pt x="6299200" y="0"/>
                </a:lnTo>
                <a:cubicBezTo>
                  <a:pt x="6326146" y="0"/>
                  <a:pt x="6351988" y="10704"/>
                  <a:pt x="6371042" y="29758"/>
                </a:cubicBezTo>
                <a:cubicBezTo>
                  <a:pt x="6390096" y="48812"/>
                  <a:pt x="6400800" y="74654"/>
                  <a:pt x="6400800" y="101600"/>
                </a:cubicBezTo>
                <a:lnTo>
                  <a:pt x="6400800" y="2225040"/>
                </a:lnTo>
                <a:cubicBezTo>
                  <a:pt x="6400800" y="2281152"/>
                  <a:pt x="6355312" y="2326640"/>
                  <a:pt x="6299200" y="2326640"/>
                </a:cubicBezTo>
                <a:lnTo>
                  <a:pt x="101600" y="2326640"/>
                </a:lnTo>
                <a:cubicBezTo>
                  <a:pt x="45488" y="2326640"/>
                  <a:pt x="0" y="2281152"/>
                  <a:pt x="0" y="2225040"/>
                </a:cubicBezTo>
                <a:lnTo>
                  <a:pt x="0" y="2225040"/>
                </a:lnTo>
                <a:cubicBezTo>
                  <a:pt x="0" y="2277645"/>
                  <a:pt x="45488" y="2320290"/>
                  <a:pt x="101600" y="2320290"/>
                </a:cubicBezTo>
                <a:lnTo>
                  <a:pt x="6299200" y="2320290"/>
                </a:lnTo>
                <a:cubicBezTo>
                  <a:pt x="6351805" y="2320290"/>
                  <a:pt x="6394450" y="2277645"/>
                  <a:pt x="6394450" y="2225040"/>
                </a:cubicBezTo>
                <a:lnTo>
                  <a:pt x="6394450" y="101600"/>
                </a:lnTo>
                <a:cubicBezTo>
                  <a:pt x="6394450" y="45488"/>
                  <a:pt x="6351805" y="0"/>
                  <a:pt x="6299200" y="0"/>
                </a:cubicBezTo>
                <a:close/>
              </a:path>
            </a:pathLst>
          </a:custGeom>
          <a:solidFill>
            <a:srgbClr val="DDE1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p37"/>
          <p:cNvSpPr/>
          <p:nvPr/>
        </p:nvSpPr>
        <p:spPr>
          <a:xfrm>
            <a:off x="4978400" y="2235845"/>
            <a:ext cx="6400800" cy="2326640"/>
          </a:xfrm>
          <a:custGeom>
            <a:avLst/>
            <a:gdLst/>
            <a:ahLst/>
            <a:cxnLst/>
            <a:rect l="l" t="t" r="r" b="b"/>
            <a:pathLst>
              <a:path w="6400800" h="2326640" extrusionOk="0">
                <a:moveTo>
                  <a:pt x="101600" y="2326640"/>
                </a:moveTo>
                <a:lnTo>
                  <a:pt x="101600" y="2326640"/>
                </a:lnTo>
                <a:cubicBezTo>
                  <a:pt x="45488" y="2326640"/>
                  <a:pt x="0" y="2281152"/>
                  <a:pt x="0" y="2225040"/>
                </a:cubicBezTo>
                <a:lnTo>
                  <a:pt x="0" y="101600"/>
                </a:lnTo>
                <a:cubicBezTo>
                  <a:pt x="0" y="45488"/>
                  <a:pt x="45488" y="0"/>
                  <a:pt x="101600" y="0"/>
                </a:cubicBezTo>
                <a:lnTo>
                  <a:pt x="6299200" y="0"/>
                </a:lnTo>
                <a:cubicBezTo>
                  <a:pt x="6326146" y="0"/>
                  <a:pt x="6351988" y="10704"/>
                  <a:pt x="6371042" y="29758"/>
                </a:cubicBezTo>
                <a:cubicBezTo>
                  <a:pt x="6390096" y="48812"/>
                  <a:pt x="6400800" y="74654"/>
                  <a:pt x="6400800" y="101600"/>
                </a:cubicBezTo>
                <a:lnTo>
                  <a:pt x="6400800" y="101600"/>
                </a:lnTo>
                <a:cubicBezTo>
                  <a:pt x="6400800" y="51099"/>
                  <a:pt x="6355312" y="10160"/>
                  <a:pt x="6299200" y="10160"/>
                </a:cubicBezTo>
                <a:lnTo>
                  <a:pt x="101600" y="10160"/>
                </a:lnTo>
                <a:cubicBezTo>
                  <a:pt x="51099" y="10160"/>
                  <a:pt x="10160" y="51099"/>
                  <a:pt x="10160" y="101600"/>
                </a:cubicBezTo>
                <a:lnTo>
                  <a:pt x="10160" y="2225040"/>
                </a:lnTo>
                <a:cubicBezTo>
                  <a:pt x="10160" y="2281152"/>
                  <a:pt x="51099" y="2326640"/>
                  <a:pt x="101600" y="2326640"/>
                </a:cubicBezTo>
                <a:close/>
              </a:path>
            </a:pathLst>
          </a:custGeom>
          <a:solidFill>
            <a:srgbClr val="141413">
              <a:alpha val="2196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37"/>
          <p:cNvSpPr/>
          <p:nvPr/>
        </p:nvSpPr>
        <p:spPr>
          <a:xfrm>
            <a:off x="4988560" y="2246005"/>
            <a:ext cx="6385560" cy="330200"/>
          </a:xfrm>
          <a:custGeom>
            <a:avLst/>
            <a:gdLst/>
            <a:ahLst/>
            <a:cxnLst/>
            <a:rect l="l" t="t" r="r" b="b"/>
            <a:pathLst>
              <a:path w="6385560" h="330200" extrusionOk="0">
                <a:moveTo>
                  <a:pt x="0" y="91440"/>
                </a:moveTo>
                <a:cubicBezTo>
                  <a:pt x="0" y="40939"/>
                  <a:pt x="40939" y="0"/>
                  <a:pt x="91440" y="0"/>
                </a:cubicBezTo>
                <a:lnTo>
                  <a:pt x="6289040" y="0"/>
                </a:lnTo>
                <a:cubicBezTo>
                  <a:pt x="6314639" y="0"/>
                  <a:pt x="6339189" y="10169"/>
                  <a:pt x="6357290" y="28270"/>
                </a:cubicBezTo>
                <a:cubicBezTo>
                  <a:pt x="6375391" y="46371"/>
                  <a:pt x="6385560" y="70921"/>
                  <a:pt x="6385560" y="96520"/>
                </a:cubicBezTo>
                <a:lnTo>
                  <a:pt x="6385560" y="330200"/>
                </a:lnTo>
                <a:lnTo>
                  <a:pt x="0" y="330200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847" name="Google Shape;847;p37"/>
          <p:cNvGraphicFramePr/>
          <p:nvPr/>
        </p:nvGraphicFramePr>
        <p:xfrm>
          <a:off x="4988560" y="2246005"/>
          <a:ext cx="6385550" cy="2395995"/>
        </p:xfrm>
        <a:graphic>
          <a:graphicData uri="http://schemas.openxmlformats.org/drawingml/2006/table">
            <a:tbl>
              <a:tblPr>
                <a:noFill/>
                <a:tableStyleId>{537F66EC-7DD4-4156-ACD3-CA23E1461CC9}</a:tableStyleId>
              </a:tblPr>
              <a:tblGrid>
                <a:gridCol w="204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673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5F667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Tool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6673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5F667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Use it for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Slack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Team channels, threads, huddles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Microsoft Teams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Chat and calls for Microsoft 365 teams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Zoom / Google Meet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Video meetings and screen sharing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Loom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Short recorded video updates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Fathom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meeting notes and summaries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Time Doctor / Toggl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21417"/>
                        </a:buClr>
                        <a:buSzPts val="1200"/>
                        <a:buFont typeface="DM Sans"/>
                        <a:buNone/>
                      </a:pPr>
                      <a:r>
                        <a:rPr lang="en-US" sz="1200" u="none" strike="noStrike" cap="none">
                          <a:solidFill>
                            <a:srgbClr val="1214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Time tracking and timesheets</a:t>
                      </a:r>
                      <a:endParaRPr sz="1200" u="none" strike="noStrike" cap="non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53350" marR="53350" marT="53350" marB="53350">
                    <a:lnL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BCBC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48" name="Google Shape;848;p37"/>
          <p:cNvSpPr/>
          <p:nvPr/>
        </p:nvSpPr>
        <p:spPr>
          <a:xfrm>
            <a:off x="812800" y="4791075"/>
            <a:ext cx="10566400" cy="485140"/>
          </a:xfrm>
          <a:prstGeom prst="roundRect">
            <a:avLst>
              <a:gd name="adj" fmla="val 20942"/>
            </a:avLst>
          </a:prstGeom>
          <a:solidFill>
            <a:srgbClr val="E7EE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9" name="Google Shape;849;p37"/>
          <p:cNvSpPr/>
          <p:nvPr/>
        </p:nvSpPr>
        <p:spPr>
          <a:xfrm>
            <a:off x="990600" y="4918075"/>
            <a:ext cx="10517124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63F8C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63F8C"/>
                </a:solidFill>
                <a:latin typeface="DM Sans"/>
                <a:ea typeface="DM Sans"/>
                <a:cs typeface="DM Sans"/>
                <a:sym typeface="DM Sans"/>
              </a:rPr>
              <a:t>Pro tip:</a:t>
            </a:r>
            <a:r>
              <a:rPr lang="en-US" sz="1300" b="0" i="0" u="none" strike="noStrike" cap="none">
                <a:solidFill>
                  <a:srgbClr val="163F8C"/>
                </a:solidFill>
                <a:latin typeface="DM Sans"/>
                <a:ea typeface="DM Sans"/>
                <a:cs typeface="DM Sans"/>
                <a:sym typeface="DM Sans"/>
              </a:rPr>
              <a:t> write updates so they make sense without a call. Async-first saves everyone’s time across time zones.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37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838E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7C838E"/>
                </a:solidFill>
                <a:latin typeface="DM Sans"/>
                <a:ea typeface="DM Sans"/>
                <a:cs typeface="DM Sans"/>
                <a:sym typeface="DM Sans"/>
              </a:rPr>
              <a:t>Remote VA Toolkit · 16 Remote Team Communication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C"/>
        </a:solidFill>
        <a:effectLst/>
      </p:bgPr>
    </p:bg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38"/>
          <p:cNvSpPr/>
          <p:nvPr/>
        </p:nvSpPr>
        <p:spPr>
          <a:xfrm>
            <a:off x="812800" y="6604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16 / 16 · SAMPLE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38"/>
          <p:cNvSpPr/>
          <p:nvPr/>
        </p:nvSpPr>
        <p:spPr>
          <a:xfrm>
            <a:off x="812800" y="937270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An end-of-day report in Slack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8"/>
          <p:cNvSpPr/>
          <p:nvPr/>
        </p:nvSpPr>
        <p:spPr>
          <a:xfrm>
            <a:off x="815975" y="1616075"/>
            <a:ext cx="7156450" cy="237363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5400000" algn="bl" rotWithShape="0">
              <a:srgbClr val="121417">
                <a:alpha val="588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9" name="Google Shape;859;p38"/>
          <p:cNvSpPr/>
          <p:nvPr/>
        </p:nvSpPr>
        <p:spPr>
          <a:xfrm>
            <a:off x="1021080" y="1821185"/>
            <a:ext cx="330200" cy="330200"/>
          </a:xfrm>
          <a:prstGeom prst="roundRect">
            <a:avLst>
              <a:gd name="adj" fmla="val 23077"/>
            </a:avLst>
          </a:prstGeom>
          <a:solidFill>
            <a:srgbClr val="1D5FD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p38"/>
          <p:cNvSpPr/>
          <p:nvPr/>
        </p:nvSpPr>
        <p:spPr>
          <a:xfrm>
            <a:off x="1452880" y="1870720"/>
            <a:ext cx="1100376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Alex, your VA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8"/>
          <p:cNvSpPr/>
          <p:nvPr/>
        </p:nvSpPr>
        <p:spPr>
          <a:xfrm>
            <a:off x="2604056" y="1879600"/>
            <a:ext cx="1781551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#ops-updates · 5:02 PM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38"/>
          <p:cNvSpPr/>
          <p:nvPr/>
        </p:nvSpPr>
        <p:spPr>
          <a:xfrm>
            <a:off x="1021080" y="2240285"/>
            <a:ext cx="6948627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EOD report, Thursday Oct 8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38"/>
          <p:cNvSpPr/>
          <p:nvPr/>
        </p:nvSpPr>
        <p:spPr>
          <a:xfrm>
            <a:off x="1021080" y="2560315"/>
            <a:ext cx="6948627" cy="264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Done:</a:t>
            </a:r>
            <a:r>
              <a:rPr lang="en-US" sz="13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 September report sent, 14 invoices logged, Singapore hotel booked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38"/>
          <p:cNvSpPr/>
          <p:nvPr/>
        </p:nvSpPr>
        <p:spPr>
          <a:xfrm>
            <a:off x="1021080" y="2888630"/>
            <a:ext cx="6948627" cy="264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In progress:</a:t>
            </a:r>
            <a:r>
              <a:rPr lang="en-US" sz="13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 client list cleanup, 60% done, finish Friday noon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38"/>
          <p:cNvSpPr/>
          <p:nvPr/>
        </p:nvSpPr>
        <p:spPr>
          <a:xfrm>
            <a:off x="1021080" y="3216920"/>
            <a:ext cx="6948627" cy="264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Blocked:</a:t>
            </a:r>
            <a:r>
              <a:rPr lang="en-US" sz="13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 contract still unsigned, reminder sent, may need a call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38"/>
          <p:cNvSpPr/>
          <p:nvPr/>
        </p:nvSpPr>
        <p:spPr>
          <a:xfrm>
            <a:off x="1021080" y="3545210"/>
            <a:ext cx="6948627" cy="264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Tomorrow:</a:t>
            </a:r>
            <a:r>
              <a:rPr lang="en-US" sz="130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 newsletter draft, supplier call at 10:00 AM EST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8"/>
          <p:cNvSpPr/>
          <p:nvPr/>
        </p:nvSpPr>
        <p:spPr>
          <a:xfrm>
            <a:off x="8331200" y="1612900"/>
            <a:ext cx="313944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WHY IT WORKS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8"/>
          <p:cNvSpPr/>
          <p:nvPr/>
        </p:nvSpPr>
        <p:spPr>
          <a:xfrm>
            <a:off x="8331200" y="1927870"/>
            <a:ext cx="3139440" cy="98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Same four headings every day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Numbers show real progress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Blockers are raised early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" marR="0" lvl="0" indent="-169037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350"/>
              <a:buFont typeface="DM Sans"/>
              <a:buChar char="•"/>
            </a:pPr>
            <a:r>
              <a:rPr lang="en-US" sz="1350" b="0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Readable in 20 seconds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8"/>
          <p:cNvSpPr/>
          <p:nvPr/>
        </p:nvSpPr>
        <p:spPr>
          <a:xfrm>
            <a:off x="8331200" y="3120671"/>
            <a:ext cx="3139440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F6673"/>
              </a:buClr>
              <a:buSzPts val="1200"/>
              <a:buFont typeface="DM Sans"/>
              <a:buNone/>
            </a:pPr>
            <a:r>
              <a:rPr lang="en-US" sz="1200" b="1" i="0" u="none" strike="noStrike" cap="none" dirty="0">
                <a:solidFill>
                  <a:srgbClr val="5F6673"/>
                </a:solidFill>
                <a:latin typeface="DM Sans"/>
                <a:ea typeface="DM Sans"/>
                <a:cs typeface="DM Sans"/>
                <a:sym typeface="DM Sans"/>
              </a:rPr>
              <a:t>BUILT WITH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38"/>
          <p:cNvSpPr/>
          <p:nvPr/>
        </p:nvSpPr>
        <p:spPr>
          <a:xfrm>
            <a:off x="8331200" y="3433767"/>
            <a:ext cx="313944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DM Sans"/>
              <a:buNone/>
            </a:pPr>
            <a:r>
              <a:rPr lang="en-US" sz="1300" b="0" i="0" u="none" strike="noStrike" cap="none" dirty="0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Slack or Teams, with a saved message template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8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838E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7C838E"/>
                </a:solidFill>
                <a:latin typeface="DM Sans"/>
                <a:ea typeface="DM Sans"/>
                <a:cs typeface="DM Sans"/>
                <a:sym typeface="DM Sans"/>
              </a:rPr>
              <a:t>Remote VA Toolkit · 16 Remote Team Communication · Sample data is fictional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39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CHOOSING TOOLS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9"/>
          <p:cNvSpPr/>
          <p:nvPr/>
        </p:nvSpPr>
        <p:spPr>
          <a:xfrm>
            <a:off x="812800" y="1000770"/>
            <a:ext cx="10883392" cy="47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Four rules for picking the right tool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9"/>
          <p:cNvSpPr/>
          <p:nvPr/>
        </p:nvSpPr>
        <p:spPr>
          <a:xfrm>
            <a:off x="815975" y="1755775"/>
            <a:ext cx="5200650" cy="1014730"/>
          </a:xfrm>
          <a:prstGeom prst="roundRect">
            <a:avLst>
              <a:gd name="adj" fmla="val 12203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0" name="Google Shape;880;p39"/>
          <p:cNvSpPr/>
          <p:nvPr/>
        </p:nvSpPr>
        <p:spPr>
          <a:xfrm>
            <a:off x="1046480" y="1986285"/>
            <a:ext cx="180261" cy="57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2800"/>
              <a:buFont typeface="DM Sans"/>
              <a:buNone/>
            </a:pPr>
            <a:r>
              <a:rPr lang="en-US" sz="28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39"/>
          <p:cNvSpPr/>
          <p:nvPr/>
        </p:nvSpPr>
        <p:spPr>
          <a:xfrm>
            <a:off x="1353741" y="1986285"/>
            <a:ext cx="4368155" cy="28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700"/>
              <a:buFont typeface="DM Sans"/>
              <a:buNone/>
            </a:pPr>
            <a:r>
              <a:rPr lang="en-US" sz="17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Use what the client uses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39"/>
          <p:cNvSpPr/>
          <p:nvPr/>
        </p:nvSpPr>
        <p:spPr>
          <a:xfrm>
            <a:off x="1353741" y="2308870"/>
            <a:ext cx="4368155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Match their workspace before suggesting anything new.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9"/>
          <p:cNvSpPr/>
          <p:nvPr/>
        </p:nvSpPr>
        <p:spPr>
          <a:xfrm>
            <a:off x="6175375" y="1755775"/>
            <a:ext cx="5200650" cy="1014730"/>
          </a:xfrm>
          <a:prstGeom prst="roundRect">
            <a:avLst>
              <a:gd name="adj" fmla="val 12203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4" name="Google Shape;884;p39"/>
          <p:cNvSpPr/>
          <p:nvPr/>
        </p:nvSpPr>
        <p:spPr>
          <a:xfrm>
            <a:off x="6405880" y="1986285"/>
            <a:ext cx="255984" cy="57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2800"/>
              <a:buFont typeface="DM Sans"/>
              <a:buNone/>
            </a:pPr>
            <a:r>
              <a:rPr lang="en-US" sz="28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39"/>
          <p:cNvSpPr/>
          <p:nvPr/>
        </p:nvSpPr>
        <p:spPr>
          <a:xfrm>
            <a:off x="6788865" y="1986285"/>
            <a:ext cx="4177744" cy="28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700"/>
              <a:buFont typeface="DM Sans"/>
              <a:buNone/>
            </a:pPr>
            <a:r>
              <a:rPr lang="en-US" sz="17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Go deep on one per category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39"/>
          <p:cNvSpPr/>
          <p:nvPr/>
        </p:nvSpPr>
        <p:spPr>
          <a:xfrm>
            <a:off x="6788865" y="2308870"/>
            <a:ext cx="4177744" cy="25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Mastering Asana beats knowing five task apps a little.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39"/>
          <p:cNvSpPr/>
          <p:nvPr/>
        </p:nvSpPr>
        <p:spPr>
          <a:xfrm>
            <a:off x="815975" y="2929260"/>
            <a:ext cx="5200650" cy="1245870"/>
          </a:xfrm>
          <a:prstGeom prst="roundRect">
            <a:avLst>
              <a:gd name="adj" fmla="val 9939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8" name="Google Shape;888;p39"/>
          <p:cNvSpPr/>
          <p:nvPr/>
        </p:nvSpPr>
        <p:spPr>
          <a:xfrm>
            <a:off x="1046480" y="3159770"/>
            <a:ext cx="222329" cy="810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2800"/>
              <a:buFont typeface="DM Sans"/>
              <a:buNone/>
            </a:pPr>
            <a:r>
              <a:rPr lang="en-US" sz="28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39"/>
          <p:cNvSpPr/>
          <p:nvPr/>
        </p:nvSpPr>
        <p:spPr>
          <a:xfrm>
            <a:off x="1395809" y="3159770"/>
            <a:ext cx="4522020" cy="28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700"/>
              <a:buFont typeface="DM Sans"/>
              <a:buNone/>
            </a:pPr>
            <a:r>
              <a:rPr lang="en-US" sz="17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Start on the free plan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39"/>
          <p:cNvSpPr/>
          <p:nvPr/>
        </p:nvSpPr>
        <p:spPr>
          <a:xfrm>
            <a:off x="1395809" y="3482355"/>
            <a:ext cx="452202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Most tools here have a free tier or trial. Upgrade when the work needs it.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9"/>
          <p:cNvSpPr/>
          <p:nvPr/>
        </p:nvSpPr>
        <p:spPr>
          <a:xfrm>
            <a:off x="6175375" y="2929260"/>
            <a:ext cx="5200650" cy="1245870"/>
          </a:xfrm>
          <a:prstGeom prst="roundRect">
            <a:avLst>
              <a:gd name="adj" fmla="val 9939"/>
            </a:avLst>
          </a:prstGeom>
          <a:solidFill>
            <a:srgbClr val="FFFFFF"/>
          </a:solidFill>
          <a:ln w="9525" cap="flat" cmpd="sng">
            <a:solidFill>
              <a:srgbClr val="DDE1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2" name="Google Shape;892;p39"/>
          <p:cNvSpPr/>
          <p:nvPr/>
        </p:nvSpPr>
        <p:spPr>
          <a:xfrm>
            <a:off x="6405880" y="3159770"/>
            <a:ext cx="210502" cy="810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5FD1"/>
              </a:buClr>
              <a:buSzPts val="2800"/>
              <a:buFont typeface="DM Sans"/>
              <a:buNone/>
            </a:pPr>
            <a:r>
              <a:rPr lang="en-US" sz="2800" b="1" i="0" u="none" strike="noStrike" cap="none">
                <a:solidFill>
                  <a:srgbClr val="1D5FD1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39"/>
          <p:cNvSpPr/>
          <p:nvPr/>
        </p:nvSpPr>
        <p:spPr>
          <a:xfrm>
            <a:off x="6743383" y="3159770"/>
            <a:ext cx="4534202" cy="28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700"/>
              <a:buFont typeface="DM Sans"/>
              <a:buNone/>
            </a:pPr>
            <a:r>
              <a:rPr lang="en-US" sz="1700" b="1" i="0" u="none" strike="noStrike" cap="none">
                <a:solidFill>
                  <a:srgbClr val="121417"/>
                </a:solidFill>
                <a:latin typeface="DM Sans"/>
                <a:ea typeface="DM Sans"/>
                <a:cs typeface="DM Sans"/>
                <a:sym typeface="DM Sans"/>
              </a:rPr>
              <a:t>Security comes first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39"/>
          <p:cNvSpPr/>
          <p:nvPr/>
        </p:nvSpPr>
        <p:spPr>
          <a:xfrm>
            <a:off x="6743383" y="3482355"/>
            <a:ext cx="4534202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Password manager, two-step verification, and only approved AI tools for client data.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39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838E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7C838E"/>
                </a:solidFill>
                <a:latin typeface="DM Sans"/>
                <a:ea typeface="DM Sans"/>
                <a:cs typeface="DM Sans"/>
                <a:sym typeface="DM Sans"/>
              </a:rPr>
              <a:t>Remote VA Toolkit · Tools reviewed September 2026. Features and prices change, so check each tool’s site.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5FD1"/>
        </a:solidFill>
        <a:effectLst/>
      </p:bgPr>
    </p:bg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40"/>
          <p:cNvSpPr/>
          <p:nvPr/>
        </p:nvSpPr>
        <p:spPr>
          <a:xfrm>
            <a:off x="812800" y="1743001"/>
            <a:ext cx="108833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7FB"/>
              </a:buClr>
              <a:buSzPts val="1400"/>
              <a:buFont typeface="DM Sans"/>
              <a:buNone/>
            </a:pPr>
            <a:r>
              <a:rPr lang="en-US" sz="1400" b="1" i="0" u="none" strike="noStrike" cap="none">
                <a:solidFill>
                  <a:srgbClr val="DCE7FB"/>
                </a:solidFill>
                <a:latin typeface="DM Sans"/>
                <a:ea typeface="DM Sans"/>
                <a:cs typeface="DM Sans"/>
                <a:sym typeface="DM Sans"/>
              </a:rPr>
              <a:t>WHERE TO START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40"/>
          <p:cNvSpPr/>
          <p:nvPr/>
        </p:nvSpPr>
        <p:spPr>
          <a:xfrm>
            <a:off x="812800" y="2245916"/>
            <a:ext cx="9810750" cy="2000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DM Sans"/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Master email, calendar and tasks first. The other 13 build on them.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40"/>
          <p:cNvSpPr/>
          <p:nvPr/>
        </p:nvSpPr>
        <p:spPr>
          <a:xfrm>
            <a:off x="812800" y="4474939"/>
            <a:ext cx="9156700" cy="66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7FB"/>
              </a:buClr>
              <a:buSzPts val="1800"/>
              <a:buFont typeface="DM Sans"/>
              <a:buNone/>
            </a:pPr>
            <a:r>
              <a:rPr lang="en-US" sz="1800" b="0" i="0" u="none" strike="noStrike" cap="none">
                <a:solidFill>
                  <a:srgbClr val="DCE7FB"/>
                </a:solidFill>
                <a:latin typeface="DM Sans"/>
                <a:ea typeface="DM Sans"/>
                <a:cs typeface="DM Sans"/>
                <a:sym typeface="DM Sans"/>
              </a:rPr>
              <a:t>Pick one tool per area, practice with the samples in this deck, and add a new skill each month.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5838</Words>
  <Application>Microsoft Office PowerPoint</Application>
  <PresentationFormat>Widescreen</PresentationFormat>
  <Paragraphs>1026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Calibri</vt:lpstr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Rosy Love</cp:lastModifiedBy>
  <cp:revision>16</cp:revision>
  <dcterms:modified xsi:type="dcterms:W3CDTF">2026-09-30T01:56:21Z</dcterms:modified>
</cp:coreProperties>
</file>